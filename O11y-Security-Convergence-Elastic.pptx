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opening the presentation on O11y + Security convergence.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overview of the 7 major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Three-solution architecture overview showing the shared platform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story — from search engine to unified O11y + Security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 Agent collects all telemetry types — O11y and Security from one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 centralised management enables unified O11y + Security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ECS is the glue that makes O11y + Security convergence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Streams AI-powered log management serves both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pipeline from source to consumption across both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pillars showing dual use for O11y and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Observability-driven security pattern with numbered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Security-informed operations — four concrete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 all 10 use cases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1: cryptomining attack detection with O11y + Security convergence.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2: slow data exfiltration caught by unified O11y +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3: supply chain attack with compromised npm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4: ransomware detected in recon phase, before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5: insider threat — legitimate access used maliciously.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6: cloud misconfiguration leading to data exposure, caught and remediated.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7: DDoS detection and auto-mitigation with network O11y + Security 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8: credential stuffing detected at the auth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9: Kubernetes container escape detected by Falco/CWP + O11y.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10: lateral movement traced across the full attack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Assistant and documentation ecosystem spanning both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analytics — ML, detection rules, and dashboards work across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takeaways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64DD"/>
          </a:solidFill>
          <a:ln/>
        </p:spPr>
      </p:sp>
      <p:sp>
        <p:nvSpPr>
          <p:cNvPr id="3" name="Text 1"/>
          <p:cNvSpPr/>
          <p:nvPr/>
        </p:nvSpPr>
        <p:spPr>
          <a:xfrm>
            <a:off x="731520" y="1645920"/>
            <a:ext cx="10698480" cy="1280160"/>
          </a:xfrm>
          <a:prstGeom prst="rect">
            <a:avLst/>
          </a:prstGeom>
          <a:noFill/>
          <a:ln/>
        </p:spPr>
        <p:txBody>
          <a:bodyPr wrap="square" rtlCol="0" anchor="ctr"/>
          <a:lstStyle/>
          <a:p>
            <a:pPr algn="l" indent="0" marL="0">
              <a:buNone/>
            </a:pPr>
            <a:r>
              <a:rPr lang="en-US" sz="4800" b="1" dirty="0">
                <a:solidFill>
                  <a:srgbClr val="FFFFFF"/>
                </a:solidFill>
                <a:latin typeface="Inter" pitchFamily="34" charset="0"/>
                <a:ea typeface="Inter" pitchFamily="34" charset="-122"/>
                <a:cs typeface="Inter" pitchFamily="34" charset="-120"/>
              </a:rPr>
              <a:t>Observability &amp; Security</a:t>
            </a:r>
            <a:endParaRPr lang="en-US" sz="4800" dirty="0"/>
          </a:p>
        </p:txBody>
      </p:sp>
      <p:sp>
        <p:nvSpPr>
          <p:cNvPr id="4" name="Text 2"/>
          <p:cNvSpPr/>
          <p:nvPr/>
        </p:nvSpPr>
        <p:spPr>
          <a:xfrm>
            <a:off x="731520" y="2926080"/>
            <a:ext cx="10698480" cy="731520"/>
          </a:xfrm>
          <a:prstGeom prst="rect">
            <a:avLst/>
          </a:prstGeom>
          <a:noFill/>
          <a:ln/>
        </p:spPr>
        <p:txBody>
          <a:bodyPr wrap="square" rtlCol="0" anchor="ctr"/>
          <a:lstStyle/>
          <a:p>
            <a:pPr algn="l" indent="0" marL="0">
              <a:buNone/>
            </a:pPr>
            <a:r>
              <a:rPr lang="en-US" sz="2600" dirty="0">
                <a:solidFill>
                  <a:srgbClr val="48EFCF"/>
                </a:solidFill>
                <a:latin typeface="Inter" pitchFamily="34" charset="0"/>
                <a:ea typeface="Inter" pitchFamily="34" charset="-122"/>
                <a:cs typeface="Inter" pitchFamily="34" charset="-120"/>
              </a:rPr>
              <a:t>Unified on the Elastic Platform</a:t>
            </a:r>
            <a:endParaRPr lang="en-US" sz="2600" dirty="0"/>
          </a:p>
        </p:txBody>
      </p:sp>
      <p:sp>
        <p:nvSpPr>
          <p:cNvPr id="5" name="Shape 3"/>
          <p:cNvSpPr/>
          <p:nvPr/>
        </p:nvSpPr>
        <p:spPr>
          <a:xfrm>
            <a:off x="731520" y="3794760"/>
            <a:ext cx="2286000" cy="36576"/>
          </a:xfrm>
          <a:prstGeom prst="rect">
            <a:avLst/>
          </a:prstGeom>
          <a:solidFill>
            <a:srgbClr val="48EFCF"/>
          </a:solidFill>
          <a:ln/>
        </p:spPr>
      </p:sp>
      <p:sp>
        <p:nvSpPr>
          <p:cNvPr id="6" name="Text 4"/>
          <p:cNvSpPr/>
          <p:nvPr/>
        </p:nvSpPr>
        <p:spPr>
          <a:xfrm>
            <a:off x="731520" y="4114800"/>
            <a:ext cx="8229600" cy="548640"/>
          </a:xfrm>
          <a:prstGeom prst="rect">
            <a:avLst/>
          </a:prstGeom>
          <a:noFill/>
          <a:ln/>
        </p:spPr>
        <p:txBody>
          <a:bodyPr wrap="square" rtlCol="0" anchor="ctr"/>
          <a:lstStyle/>
          <a:p>
            <a:pPr algn="l" indent="0" marL="0">
              <a:buNone/>
            </a:pPr>
            <a:r>
              <a:rPr lang="en-US" sz="1600" dirty="0">
                <a:solidFill>
                  <a:srgbClr val="FFFFFF"/>
                </a:solidFill>
                <a:latin typeface="Inter" pitchFamily="34" charset="0"/>
                <a:ea typeface="Inter" pitchFamily="34" charset="-122"/>
                <a:cs typeface="Inter" pitchFamily="34" charset="-120"/>
              </a:rPr>
              <a:t>How Observability and Security data converge with document and knowledge support</a:t>
            </a:r>
            <a:endParaRPr lang="en-US" sz="1600" dirty="0"/>
          </a:p>
        </p:txBody>
      </p:sp>
      <p:sp>
        <p:nvSpPr>
          <p:cNvPr id="7" name="Text 5"/>
          <p:cNvSpPr/>
          <p:nvPr/>
        </p:nvSpPr>
        <p:spPr>
          <a:xfrm>
            <a:off x="731520" y="5120640"/>
            <a:ext cx="4572000" cy="457200"/>
          </a:xfrm>
          <a:prstGeom prst="rect">
            <a:avLst/>
          </a:prstGeom>
          <a:noFill/>
          <a:ln/>
        </p:spPr>
        <p:txBody>
          <a:bodyPr wrap="square" rtlCol="0" anchor="ctr"/>
          <a:lstStyle/>
          <a:p>
            <a:pPr algn="l" indent="0" marL="0">
              <a:buNone/>
            </a:pPr>
            <a:r>
              <a:rPr lang="en-US" sz="1400" dirty="0">
                <a:solidFill>
                  <a:srgbClr val="DCE2EA"/>
                </a:solidFill>
                <a:latin typeface="Inter" pitchFamily="34" charset="0"/>
                <a:ea typeface="Inter" pitchFamily="34" charset="-122"/>
                <a:cs typeface="Inter"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600" b="1" dirty="0">
                <a:solidFill>
                  <a:srgbClr val="1C1E23"/>
                </a:solidFill>
                <a:latin typeface="Inter" pitchFamily="34" charset="0"/>
                <a:ea typeface="Inter" pitchFamily="34" charset="-122"/>
                <a:cs typeface="Inter" pitchFamily="34" charset="-120"/>
              </a:rPr>
              <a:t>Agenda</a:t>
            </a:r>
            <a:endParaRPr lang="en-US" sz="36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1.  The Platform Foundation — Single stack, multiple solutions</a:t>
            </a:r>
            <a:endParaRPr lang="en-US" sz="1600" dirty="0"/>
          </a:p>
        </p:txBody>
      </p:sp>
      <p:sp>
        <p:nvSpPr>
          <p:cNvPr id="5" name="Text 3"/>
          <p:cNvSpPr/>
          <p:nvPr/>
        </p:nvSpPr>
        <p:spPr>
          <a:xfrm>
            <a:off x="731520" y="210312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2.  Unified Data Collection — Elastic Agent and Fleet</a:t>
            </a:r>
            <a:endParaRPr lang="en-US" sz="1600" dirty="0"/>
          </a:p>
        </p:txBody>
      </p:sp>
      <p:sp>
        <p:nvSpPr>
          <p:cNvPr id="6" name="Text 4"/>
          <p:cNvSpPr/>
          <p:nvPr/>
        </p:nvSpPr>
        <p:spPr>
          <a:xfrm>
            <a:off x="731520" y="265176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3.  ECS: The Common Data Language — Normalising across domains</a:t>
            </a:r>
            <a:endParaRPr lang="en-US" sz="1600" dirty="0"/>
          </a:p>
        </p:txBody>
      </p:sp>
      <p:sp>
        <p:nvSpPr>
          <p:cNvPr id="7" name="Text 5"/>
          <p:cNvSpPr/>
          <p:nvPr/>
        </p:nvSpPr>
        <p:spPr>
          <a:xfrm>
            <a:off x="731520" y="320040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4.  Streams: AI-Powered Log Management — Serving both O11y and Security</a:t>
            </a:r>
            <a:endParaRPr lang="en-US" sz="1600" dirty="0"/>
          </a:p>
        </p:txBody>
      </p:sp>
      <p:sp>
        <p:nvSpPr>
          <p:cNvPr id="8" name="Text 6"/>
          <p:cNvSpPr/>
          <p:nvPr/>
        </p:nvSpPr>
        <p:spPr>
          <a:xfrm>
            <a:off x="731520" y="374904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5.  Cross-Domain Data Flow — OpenTelemetry and ECS convergence</a:t>
            </a:r>
            <a:endParaRPr lang="en-US" sz="1600" dirty="0"/>
          </a:p>
        </p:txBody>
      </p:sp>
      <p:sp>
        <p:nvSpPr>
          <p:cNvPr id="9" name="Text 7"/>
          <p:cNvSpPr/>
          <p:nvPr/>
        </p:nvSpPr>
        <p:spPr>
          <a:xfrm>
            <a:off x="731520" y="429768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6.  Real-World Patterns — Observability-driven security and security-informed operations</a:t>
            </a:r>
            <a:endParaRPr lang="en-US" sz="1600" dirty="0"/>
          </a:p>
        </p:txBody>
      </p:sp>
      <p:sp>
        <p:nvSpPr>
          <p:cNvPr id="10" name="Text 8"/>
          <p:cNvSpPr/>
          <p:nvPr/>
        </p:nvSpPr>
        <p:spPr>
          <a:xfrm>
            <a:off x="731520" y="4846320"/>
            <a:ext cx="10058400" cy="457200"/>
          </a:xfrm>
          <a:prstGeom prst="rect">
            <a:avLst/>
          </a:prstGeom>
          <a:noFill/>
          <a:ln/>
        </p:spPr>
        <p:txBody>
          <a:bodyPr wrap="square" rtlCol="0" anchor="ctr"/>
          <a:lstStyle/>
          <a:p>
            <a:pPr algn="l" indent="0" marL="0">
              <a:buNone/>
            </a:pPr>
            <a:r>
              <a:rPr lang="en-US" sz="1600" dirty="0">
                <a:solidFill>
                  <a:srgbClr val="1C1E23"/>
                </a:solidFill>
                <a:latin typeface="Inter" pitchFamily="34" charset="0"/>
                <a:ea typeface="Inter" pitchFamily="34" charset="-122"/>
                <a:cs typeface="Inter" pitchFamily="34" charset="-120"/>
              </a:rPr>
              <a:t>7.  Knowledge &amp; AI — AI Assistant, documentation, and shared analytics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The Platform Foundation</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One platform. Three solutions. Infinite possibilities.</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Elastic Platform Architecture</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Single Elasticsearch backend powers all three solutions — data ingested once, available everywhere</a:t>
            </a:r>
            <a:endParaRPr lang="en-US" sz="1400" dirty="0"/>
          </a:p>
        </p:txBody>
      </p:sp>
      <p:sp>
        <p:nvSpPr>
          <p:cNvPr id="5" name="Shape 3"/>
          <p:cNvSpPr/>
          <p:nvPr/>
        </p:nvSpPr>
        <p:spPr>
          <a:xfrm>
            <a:off x="457200" y="2377440"/>
            <a:ext cx="3474720" cy="3840480"/>
          </a:xfrm>
          <a:prstGeom prst="roundRect">
            <a:avLst>
              <a:gd name="adj" fmla="val 3158"/>
            </a:avLst>
          </a:prstGeom>
          <a:solidFill>
            <a:srgbClr val="F5F7FA"/>
          </a:solidFill>
          <a:ln w="19050">
            <a:solidFill>
              <a:srgbClr val="101C3F"/>
            </a:solidFill>
            <a:prstDash val="solid"/>
          </a:ln>
        </p:spPr>
      </p:sp>
      <p:sp>
        <p:nvSpPr>
          <p:cNvPr id="6" name="Text 4"/>
          <p:cNvSpPr/>
          <p:nvPr/>
        </p:nvSpPr>
        <p:spPr>
          <a:xfrm>
            <a:off x="640080" y="2560320"/>
            <a:ext cx="3108960" cy="457200"/>
          </a:xfrm>
          <a:prstGeom prst="rect">
            <a:avLst/>
          </a:prstGeom>
          <a:noFill/>
          <a:ln/>
        </p:spPr>
        <p:txBody>
          <a:bodyPr wrap="square" rtlCol="0" anchor="ctr"/>
          <a:lstStyle/>
          <a:p>
            <a:pPr algn="l" indent="0" marL="0">
              <a:buNone/>
            </a:pPr>
            <a:r>
              <a:rPr lang="en-US" sz="1800" b="1" dirty="0">
                <a:solidFill>
                  <a:srgbClr val="F04E98"/>
                </a:solidFill>
                <a:latin typeface="Inter" pitchFamily="34" charset="0"/>
                <a:ea typeface="Inter" pitchFamily="34" charset="-122"/>
                <a:cs typeface="Inter" pitchFamily="34" charset="-120"/>
              </a:rPr>
              <a:t>Observability</a:t>
            </a:r>
            <a:endParaRPr lang="en-US" sz="1800" dirty="0"/>
          </a:p>
        </p:txBody>
      </p:sp>
      <p:sp>
        <p:nvSpPr>
          <p:cNvPr id="7" name="Shape 5"/>
          <p:cNvSpPr/>
          <p:nvPr/>
        </p:nvSpPr>
        <p:spPr>
          <a:xfrm>
            <a:off x="640080" y="3063240"/>
            <a:ext cx="914400" cy="27432"/>
          </a:xfrm>
          <a:prstGeom prst="rect">
            <a:avLst/>
          </a:prstGeom>
          <a:solidFill>
            <a:srgbClr val="48EFCF"/>
          </a:solidFill>
          <a:ln/>
        </p:spPr>
      </p:sp>
      <p:sp>
        <p:nvSpPr>
          <p:cNvPr id="8" name="Text 6"/>
          <p:cNvSpPr/>
          <p:nvPr/>
        </p:nvSpPr>
        <p:spPr>
          <a:xfrm>
            <a:off x="640080" y="3291840"/>
            <a:ext cx="3108960" cy="256032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Log analytics, APM, Infrastructure, RUM, Synthetics, AIOps, LLM observability, Universal Profiling</a:t>
            </a:r>
            <a:endParaRPr lang="en-US" sz="1200" dirty="0"/>
          </a:p>
        </p:txBody>
      </p:sp>
      <p:sp>
        <p:nvSpPr>
          <p:cNvPr id="9" name="Shape 7"/>
          <p:cNvSpPr/>
          <p:nvPr/>
        </p:nvSpPr>
        <p:spPr>
          <a:xfrm>
            <a:off x="4297680" y="2377440"/>
            <a:ext cx="3474720" cy="3840480"/>
          </a:xfrm>
          <a:prstGeom prst="roundRect">
            <a:avLst>
              <a:gd name="adj" fmla="val 3158"/>
            </a:avLst>
          </a:prstGeom>
          <a:solidFill>
            <a:srgbClr val="F5F7FA"/>
          </a:solidFill>
          <a:ln w="19050">
            <a:solidFill>
              <a:srgbClr val="101C3F"/>
            </a:solidFill>
            <a:prstDash val="solid"/>
          </a:ln>
        </p:spPr>
      </p:sp>
      <p:sp>
        <p:nvSpPr>
          <p:cNvPr id="10" name="Text 8"/>
          <p:cNvSpPr/>
          <p:nvPr/>
        </p:nvSpPr>
        <p:spPr>
          <a:xfrm>
            <a:off x="4480560" y="2560320"/>
            <a:ext cx="3108960" cy="457200"/>
          </a:xfrm>
          <a:prstGeom prst="rect">
            <a:avLst/>
          </a:prstGeom>
          <a:noFill/>
          <a:ln/>
        </p:spPr>
        <p:txBody>
          <a:bodyPr wrap="square" rtlCol="0" anchor="ctr"/>
          <a:lstStyle/>
          <a:p>
            <a:pPr algn="l" indent="0" marL="0">
              <a:buNone/>
            </a:pPr>
            <a:r>
              <a:rPr lang="en-US" sz="1800" b="1" dirty="0">
                <a:solidFill>
                  <a:srgbClr val="FA744E"/>
                </a:solidFill>
                <a:latin typeface="Inter" pitchFamily="34" charset="0"/>
                <a:ea typeface="Inter" pitchFamily="34" charset="-122"/>
                <a:cs typeface="Inter" pitchFamily="34" charset="-120"/>
              </a:rPr>
              <a:t>Security</a:t>
            </a:r>
            <a:endParaRPr lang="en-US" sz="1800" dirty="0"/>
          </a:p>
        </p:txBody>
      </p:sp>
      <p:sp>
        <p:nvSpPr>
          <p:cNvPr id="11" name="Shape 9"/>
          <p:cNvSpPr/>
          <p:nvPr/>
        </p:nvSpPr>
        <p:spPr>
          <a:xfrm>
            <a:off x="4480560" y="3063240"/>
            <a:ext cx="914400" cy="27432"/>
          </a:xfrm>
          <a:prstGeom prst="rect">
            <a:avLst/>
          </a:prstGeom>
          <a:solidFill>
            <a:srgbClr val="48EFCF"/>
          </a:solidFill>
          <a:ln/>
        </p:spPr>
      </p:sp>
      <p:sp>
        <p:nvSpPr>
          <p:cNvPr id="12" name="Text 10"/>
          <p:cNvSpPr/>
          <p:nvPr/>
        </p:nvSpPr>
        <p:spPr>
          <a:xfrm>
            <a:off x="4480560" y="3291840"/>
            <a:ext cx="3108960" cy="256032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SIEM, Endpoint security, XDR, Cloud security (CSPM/KSPM), Threat intelligence, Detection rules</a:t>
            </a:r>
            <a:endParaRPr lang="en-US" sz="1200" dirty="0"/>
          </a:p>
        </p:txBody>
      </p:sp>
      <p:sp>
        <p:nvSpPr>
          <p:cNvPr id="13" name="Shape 11"/>
          <p:cNvSpPr/>
          <p:nvPr/>
        </p:nvSpPr>
        <p:spPr>
          <a:xfrm>
            <a:off x="8138160" y="2377440"/>
            <a:ext cx="3474720" cy="3840480"/>
          </a:xfrm>
          <a:prstGeom prst="roundRect">
            <a:avLst>
              <a:gd name="adj" fmla="val 3158"/>
            </a:avLst>
          </a:prstGeom>
          <a:solidFill>
            <a:srgbClr val="F5F7FA"/>
          </a:solidFill>
          <a:ln w="19050">
            <a:solidFill>
              <a:srgbClr val="101C3F"/>
            </a:solidFill>
            <a:prstDash val="solid"/>
          </a:ln>
        </p:spPr>
      </p:sp>
      <p:sp>
        <p:nvSpPr>
          <p:cNvPr id="14" name="Text 12"/>
          <p:cNvSpPr/>
          <p:nvPr/>
        </p:nvSpPr>
        <p:spPr>
          <a:xfrm>
            <a:off x="8321040" y="2560320"/>
            <a:ext cx="3108960" cy="457200"/>
          </a:xfrm>
          <a:prstGeom prst="rect">
            <a:avLst/>
          </a:prstGeom>
          <a:noFill/>
          <a:ln/>
        </p:spPr>
        <p:txBody>
          <a:bodyPr wrap="square" rtlCol="0" anchor="ctr"/>
          <a:lstStyle/>
          <a:p>
            <a:pPr algn="l" indent="0" marL="0">
              <a:buNone/>
            </a:pPr>
            <a:r>
              <a:rPr lang="en-US" sz="1800" b="1" dirty="0">
                <a:solidFill>
                  <a:srgbClr val="FEC514"/>
                </a:solidFill>
                <a:latin typeface="Inter" pitchFamily="34" charset="0"/>
                <a:ea typeface="Inter" pitchFamily="34" charset="-122"/>
                <a:cs typeface="Inter" pitchFamily="34" charset="-120"/>
              </a:rPr>
              <a:t>Search</a:t>
            </a:r>
            <a:endParaRPr lang="en-US" sz="1800" dirty="0"/>
          </a:p>
        </p:txBody>
      </p:sp>
      <p:sp>
        <p:nvSpPr>
          <p:cNvPr id="15" name="Shape 13"/>
          <p:cNvSpPr/>
          <p:nvPr/>
        </p:nvSpPr>
        <p:spPr>
          <a:xfrm>
            <a:off x="8321040" y="3063240"/>
            <a:ext cx="914400" cy="27432"/>
          </a:xfrm>
          <a:prstGeom prst="rect">
            <a:avLst/>
          </a:prstGeom>
          <a:solidFill>
            <a:srgbClr val="48EFCF"/>
          </a:solidFill>
          <a:ln/>
        </p:spPr>
      </p:sp>
      <p:sp>
        <p:nvSpPr>
          <p:cNvPr id="16" name="Text 14"/>
          <p:cNvSpPr/>
          <p:nvPr/>
        </p:nvSpPr>
        <p:spPr>
          <a:xfrm>
            <a:off x="8321040" y="3291840"/>
            <a:ext cx="3108960" cy="256032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App search, Workplace search, Vector search, Semantic search, RAG, Ecommerce search</a:t>
            </a:r>
            <a:endParaRPr lang="en-US" sz="1200" dirty="0"/>
          </a:p>
        </p:txBody>
      </p:sp>
      <p:sp>
        <p:nvSpPr>
          <p:cNvPr id="17" name="Shape 15"/>
          <p:cNvSpPr/>
          <p:nvPr/>
        </p:nvSpPr>
        <p:spPr>
          <a:xfrm>
            <a:off x="457200" y="1783080"/>
            <a:ext cx="11247120" cy="365760"/>
          </a:xfrm>
          <a:prstGeom prst="rect">
            <a:avLst/>
          </a:prstGeom>
          <a:solidFill>
            <a:srgbClr val="0B64DD"/>
          </a:solidFill>
          <a:ln/>
        </p:spPr>
      </p:sp>
      <p:sp>
        <p:nvSpPr>
          <p:cNvPr id="18" name="Text 16"/>
          <p:cNvSpPr/>
          <p:nvPr/>
        </p:nvSpPr>
        <p:spPr>
          <a:xfrm>
            <a:off x="640080" y="1783080"/>
            <a:ext cx="10972800" cy="36576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Elasticsearch  —  Kibana  —  Fleet  —  Integrations  —  Machine Learning  —  AI Assistant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The Convergence Story</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Elasticsearch started as search. Users adopted it for log analysis — then security teams saw the same data held threat signals.</a:t>
            </a:r>
            <a:endParaRPr lang="en-US" sz="1300" dirty="0"/>
          </a:p>
        </p:txBody>
      </p:sp>
      <p:sp>
        <p:nvSpPr>
          <p:cNvPr id="5" name="Shape 3"/>
          <p:cNvSpPr/>
          <p:nvPr/>
        </p:nvSpPr>
        <p:spPr>
          <a:xfrm>
            <a:off x="457200" y="2286000"/>
            <a:ext cx="5303520" cy="1097280"/>
          </a:xfrm>
          <a:prstGeom prst="roundRect">
            <a:avLst>
              <a:gd name="adj" fmla="val 8333"/>
            </a:avLst>
          </a:prstGeom>
          <a:solidFill>
            <a:srgbClr val="F5F7FA"/>
          </a:solidFill>
          <a:ln w="19050">
            <a:solidFill>
              <a:srgbClr val="101C3F"/>
            </a:solidFill>
            <a:prstDash val="solid"/>
          </a:ln>
        </p:spPr>
      </p:sp>
      <p:sp>
        <p:nvSpPr>
          <p:cNvPr id="6" name="Text 4"/>
          <p:cNvSpPr/>
          <p:nvPr/>
        </p:nvSpPr>
        <p:spPr>
          <a:xfrm>
            <a:off x="640080" y="237744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1  Origins: Search Engine</a:t>
            </a:r>
            <a:endParaRPr lang="en-US" sz="1500" dirty="0"/>
          </a:p>
        </p:txBody>
      </p:sp>
      <p:sp>
        <p:nvSpPr>
          <p:cNvPr id="7" name="Text 5"/>
          <p:cNvSpPr/>
          <p:nvPr/>
        </p:nvSpPr>
        <p:spPr>
          <a:xfrm>
            <a:off x="640080" y="2788920"/>
            <a:ext cx="4937760" cy="50292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Elasticsearch becomes the most popular Java OSS project. Teams use it to search through logs instead of grep.</a:t>
            </a:r>
            <a:endParaRPr lang="en-US" sz="1100" dirty="0"/>
          </a:p>
        </p:txBody>
      </p:sp>
      <p:sp>
        <p:nvSpPr>
          <p:cNvPr id="8" name="Text 6"/>
          <p:cNvSpPr/>
          <p:nvPr/>
        </p:nvSpPr>
        <p:spPr>
          <a:xfrm>
            <a:off x="5943600" y="2606040"/>
            <a:ext cx="457200" cy="45720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9" name="Shape 7"/>
          <p:cNvSpPr/>
          <p:nvPr/>
        </p:nvSpPr>
        <p:spPr>
          <a:xfrm>
            <a:off x="6583680" y="2286000"/>
            <a:ext cx="5303520" cy="1097280"/>
          </a:xfrm>
          <a:prstGeom prst="roundRect">
            <a:avLst>
              <a:gd name="adj" fmla="val 8333"/>
            </a:avLst>
          </a:prstGeom>
          <a:solidFill>
            <a:srgbClr val="F5F7FA"/>
          </a:solidFill>
          <a:ln w="19050">
            <a:solidFill>
              <a:srgbClr val="101C3F"/>
            </a:solidFill>
            <a:prstDash val="solid"/>
          </a:ln>
        </p:spPr>
      </p:sp>
      <p:sp>
        <p:nvSpPr>
          <p:cNvPr id="10" name="Text 8"/>
          <p:cNvSpPr/>
          <p:nvPr/>
        </p:nvSpPr>
        <p:spPr>
          <a:xfrm>
            <a:off x="6766560" y="237744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2  Observability Emerges</a:t>
            </a:r>
            <a:endParaRPr lang="en-US" sz="1500" dirty="0"/>
          </a:p>
        </p:txBody>
      </p:sp>
      <p:sp>
        <p:nvSpPr>
          <p:cNvPr id="11" name="Text 9"/>
          <p:cNvSpPr/>
          <p:nvPr/>
        </p:nvSpPr>
        <p:spPr>
          <a:xfrm>
            <a:off x="6766560" y="2788920"/>
            <a:ext cx="4937760" cy="50292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Log analytics expands into APM, metrics, traces. Out-of-the-box capabilities for SRE and DevOps teams.</a:t>
            </a:r>
            <a:endParaRPr lang="en-US" sz="1100" dirty="0"/>
          </a:p>
        </p:txBody>
      </p:sp>
      <p:sp>
        <p:nvSpPr>
          <p:cNvPr id="12" name="Text 10"/>
          <p:cNvSpPr/>
          <p:nvPr/>
        </p:nvSpPr>
        <p:spPr>
          <a:xfrm>
            <a:off x="5943600" y="3794760"/>
            <a:ext cx="457200" cy="45720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13" name="Shape 11"/>
          <p:cNvSpPr/>
          <p:nvPr/>
        </p:nvSpPr>
        <p:spPr>
          <a:xfrm>
            <a:off x="6583680" y="3566160"/>
            <a:ext cx="5303520" cy="1097280"/>
          </a:xfrm>
          <a:prstGeom prst="roundRect">
            <a:avLst>
              <a:gd name="adj" fmla="val 8333"/>
            </a:avLst>
          </a:prstGeom>
          <a:solidFill>
            <a:srgbClr val="F5F7FA"/>
          </a:solidFill>
          <a:ln w="19050">
            <a:solidFill>
              <a:srgbClr val="101C3F"/>
            </a:solidFill>
            <a:prstDash val="solid"/>
          </a:ln>
        </p:spPr>
      </p:sp>
      <p:sp>
        <p:nvSpPr>
          <p:cNvPr id="14" name="Text 12"/>
          <p:cNvSpPr/>
          <p:nvPr/>
        </p:nvSpPr>
        <p:spPr>
          <a:xfrm>
            <a:off x="6766560" y="365760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4  Unified Platform</a:t>
            </a:r>
            <a:endParaRPr lang="en-US" sz="1500" dirty="0"/>
          </a:p>
        </p:txBody>
      </p:sp>
      <p:sp>
        <p:nvSpPr>
          <p:cNvPr id="15" name="Text 13"/>
          <p:cNvSpPr/>
          <p:nvPr/>
        </p:nvSpPr>
        <p:spPr>
          <a:xfrm>
            <a:off x="6766560" y="4069080"/>
            <a:ext cx="4937760" cy="50292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Same data serves both O11y and Security. ECS normalises everything. AI-powered workflows span both domains.</a:t>
            </a:r>
            <a:endParaRPr lang="en-US" sz="1100" dirty="0"/>
          </a:p>
        </p:txBody>
      </p:sp>
      <p:sp>
        <p:nvSpPr>
          <p:cNvPr id="16" name="Shape 14"/>
          <p:cNvSpPr/>
          <p:nvPr/>
        </p:nvSpPr>
        <p:spPr>
          <a:xfrm>
            <a:off x="457200" y="3566160"/>
            <a:ext cx="5303520" cy="1097280"/>
          </a:xfrm>
          <a:prstGeom prst="roundRect">
            <a:avLst>
              <a:gd name="adj" fmla="val 8333"/>
            </a:avLst>
          </a:prstGeom>
          <a:solidFill>
            <a:srgbClr val="F5F7FA"/>
          </a:solidFill>
          <a:ln w="19050">
            <a:solidFill>
              <a:srgbClr val="101C3F"/>
            </a:solidFill>
            <a:prstDash val="solid"/>
          </a:ln>
        </p:spPr>
      </p:sp>
      <p:sp>
        <p:nvSpPr>
          <p:cNvPr id="17" name="Text 15"/>
          <p:cNvSpPr/>
          <p:nvPr/>
        </p:nvSpPr>
        <p:spPr>
          <a:xfrm>
            <a:off x="640080" y="365760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3  Security Joins</a:t>
            </a:r>
            <a:endParaRPr lang="en-US" sz="1500" dirty="0"/>
          </a:p>
        </p:txBody>
      </p:sp>
      <p:sp>
        <p:nvSpPr>
          <p:cNvPr id="18" name="Text 16"/>
          <p:cNvSpPr/>
          <p:nvPr/>
        </p:nvSpPr>
        <p:spPr>
          <a:xfrm>
            <a:off x="640080" y="4069080"/>
            <a:ext cx="4937760" cy="50292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SIEM, endpoint protection, cloud security. Same log data used for threat hunting and detection.</a:t>
            </a:r>
            <a:endParaRPr lang="en-US" sz="1100" dirty="0"/>
          </a:p>
        </p:txBody>
      </p:sp>
      <p:sp>
        <p:nvSpPr>
          <p:cNvPr id="19" name="Shape 17"/>
          <p:cNvSpPr/>
          <p:nvPr/>
        </p:nvSpPr>
        <p:spPr>
          <a:xfrm>
            <a:off x="457200" y="5029200"/>
            <a:ext cx="11430000" cy="1371600"/>
          </a:xfrm>
          <a:prstGeom prst="roundRect">
            <a:avLst>
              <a:gd name="adj" fmla="val 6667"/>
            </a:avLst>
          </a:prstGeom>
          <a:solidFill>
            <a:srgbClr val="0B64DD"/>
          </a:solidFill>
          <a:ln/>
        </p:spPr>
      </p:sp>
      <p:sp>
        <p:nvSpPr>
          <p:cNvPr id="20" name="Text 18"/>
          <p:cNvSpPr/>
          <p:nvPr/>
        </p:nvSpPr>
        <p:spPr>
          <a:xfrm>
            <a:off x="640080" y="5212080"/>
            <a:ext cx="11064240" cy="365760"/>
          </a:xfrm>
          <a:prstGeom prst="rect">
            <a:avLst/>
          </a:prstGeom>
          <a:noFill/>
          <a:ln/>
        </p:spPr>
        <p:txBody>
          <a:bodyPr wrap="square"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Key Insight: Data Ingested Once — Used for Both Observability and Security</a:t>
            </a:r>
            <a:endParaRPr lang="en-US" sz="1600" dirty="0"/>
          </a:p>
        </p:txBody>
      </p:sp>
      <p:sp>
        <p:nvSpPr>
          <p:cNvPr id="21" name="Text 19"/>
          <p:cNvSpPr/>
          <p:nvPr/>
        </p:nvSpPr>
        <p:spPr>
          <a:xfrm>
            <a:off x="640080" y="5577840"/>
            <a:ext cx="11064240" cy="640080"/>
          </a:xfrm>
          <a:prstGeom prst="rect">
            <a:avLst/>
          </a:prstGeom>
          <a:noFill/>
          <a:ln/>
        </p:spPr>
        <p:txBody>
          <a:bodyPr wrap="square" rtlCol="0" anchor="ctr"/>
          <a:lstStyle/>
          <a:p>
            <a:pPr algn="ctr" indent="0" marL="0">
              <a:buNone/>
            </a:pPr>
            <a:r>
              <a:rPr lang="en-US" sz="1200" dirty="0">
                <a:solidFill>
                  <a:srgbClr val="DCE2EA"/>
                </a:solidFill>
                <a:latin typeface="Inter" pitchFamily="34" charset="0"/>
                <a:ea typeface="Inter" pitchFamily="34" charset="-122"/>
                <a:cs typeface="Inter" pitchFamily="34" charset="-120"/>
              </a:rPr>
              <a:t>Elastic's chief product officer Ken Exner: 'People started using us to search through logs. Rather than use grep, they could use a search engine.' The platform evolved from that single use case into three complete solutions sharing one data foundation.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Unified Data Collection</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Elastic Agent: One agent for all telemetry</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Elastic Agent: Single Agent, Unified Telemetry</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One agent per host collects logs, metrics, traces, and security data — eliminating the need for separate collectors</a:t>
            </a:r>
            <a:endParaRPr lang="en-US" sz="1400" dirty="0"/>
          </a:p>
        </p:txBody>
      </p:sp>
      <p:sp>
        <p:nvSpPr>
          <p:cNvPr id="5" name="Shape 3"/>
          <p:cNvSpPr/>
          <p:nvPr/>
        </p:nvSpPr>
        <p:spPr>
          <a:xfrm>
            <a:off x="914400" y="2286000"/>
            <a:ext cx="3200400" cy="1828800"/>
          </a:xfrm>
          <a:prstGeom prst="roundRect">
            <a:avLst>
              <a:gd name="adj" fmla="val 5000"/>
            </a:avLst>
          </a:prstGeom>
          <a:solidFill>
            <a:srgbClr val="F5F7FA"/>
          </a:solidFill>
          <a:ln w="19050">
            <a:solidFill>
              <a:srgbClr val="101C3F"/>
            </a:solidFill>
            <a:prstDash val="solid"/>
          </a:ln>
        </p:spPr>
      </p:sp>
      <p:sp>
        <p:nvSpPr>
          <p:cNvPr id="6" name="Text 4"/>
          <p:cNvSpPr/>
          <p:nvPr/>
        </p:nvSpPr>
        <p:spPr>
          <a:xfrm>
            <a:off x="1097280" y="2468880"/>
            <a:ext cx="2834640" cy="365760"/>
          </a:xfrm>
          <a:prstGeom prst="rect">
            <a:avLst/>
          </a:prstGeom>
          <a:noFill/>
          <a:ln/>
        </p:spPr>
        <p:txBody>
          <a:bodyPr wrap="square" rtlCol="0" anchor="ctr"/>
          <a:lstStyle/>
          <a:p>
            <a:pPr algn="ctr" indent="0" marL="0">
              <a:buNone/>
            </a:pPr>
            <a:r>
              <a:rPr lang="en-US" sz="2000" b="1" dirty="0">
                <a:solidFill>
                  <a:srgbClr val="0B64DD"/>
                </a:solidFill>
                <a:latin typeface="Inter" pitchFamily="34" charset="0"/>
                <a:ea typeface="Inter" pitchFamily="34" charset="-122"/>
                <a:cs typeface="Inter" pitchFamily="34" charset="-120"/>
              </a:rPr>
              <a:t>Logs</a:t>
            </a:r>
            <a:endParaRPr lang="en-US" sz="2000" dirty="0"/>
          </a:p>
        </p:txBody>
      </p:sp>
      <p:sp>
        <p:nvSpPr>
          <p:cNvPr id="7" name="Text 5"/>
          <p:cNvSpPr/>
          <p:nvPr/>
        </p:nvSpPr>
        <p:spPr>
          <a:xfrm>
            <a:off x="1097280" y="2926080"/>
            <a:ext cx="2834640" cy="9144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Application, system, security, audit logs — collected from all sources</a:t>
            </a:r>
            <a:endParaRPr lang="en-US" sz="1100" dirty="0"/>
          </a:p>
        </p:txBody>
      </p:sp>
      <p:sp>
        <p:nvSpPr>
          <p:cNvPr id="8" name="Shape 6"/>
          <p:cNvSpPr/>
          <p:nvPr/>
        </p:nvSpPr>
        <p:spPr>
          <a:xfrm>
            <a:off x="4572000" y="2286000"/>
            <a:ext cx="3200400" cy="1828800"/>
          </a:xfrm>
          <a:prstGeom prst="roundRect">
            <a:avLst>
              <a:gd name="adj" fmla="val 5000"/>
            </a:avLst>
          </a:prstGeom>
          <a:solidFill>
            <a:srgbClr val="F5F7FA"/>
          </a:solidFill>
          <a:ln w="19050">
            <a:solidFill>
              <a:srgbClr val="101C3F"/>
            </a:solidFill>
            <a:prstDash val="solid"/>
          </a:ln>
        </p:spPr>
      </p:sp>
      <p:sp>
        <p:nvSpPr>
          <p:cNvPr id="9" name="Text 7"/>
          <p:cNvSpPr/>
          <p:nvPr/>
        </p:nvSpPr>
        <p:spPr>
          <a:xfrm>
            <a:off x="4754880" y="2468880"/>
            <a:ext cx="2834640" cy="365760"/>
          </a:xfrm>
          <a:prstGeom prst="rect">
            <a:avLst/>
          </a:prstGeom>
          <a:noFill/>
          <a:ln/>
        </p:spPr>
        <p:txBody>
          <a:bodyPr wrap="square" rtlCol="0" anchor="ctr"/>
          <a:lstStyle/>
          <a:p>
            <a:pPr algn="ctr" indent="0" marL="0">
              <a:buNone/>
            </a:pPr>
            <a:r>
              <a:rPr lang="en-US" sz="2000" b="1" dirty="0">
                <a:solidFill>
                  <a:srgbClr val="0B64DD"/>
                </a:solidFill>
                <a:latin typeface="Inter" pitchFamily="34" charset="0"/>
                <a:ea typeface="Inter" pitchFamily="34" charset="-122"/>
                <a:cs typeface="Inter" pitchFamily="34" charset="-120"/>
              </a:rPr>
              <a:t>Metrics</a:t>
            </a:r>
            <a:endParaRPr lang="en-US" sz="2000" dirty="0"/>
          </a:p>
        </p:txBody>
      </p:sp>
      <p:sp>
        <p:nvSpPr>
          <p:cNvPr id="10" name="Text 8"/>
          <p:cNvSpPr/>
          <p:nvPr/>
        </p:nvSpPr>
        <p:spPr>
          <a:xfrm>
            <a:off x="4754880" y="2926080"/>
            <a:ext cx="2834640" cy="9144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Host, application, network, and infrastructure performance metrics</a:t>
            </a:r>
            <a:endParaRPr lang="en-US" sz="1100" dirty="0"/>
          </a:p>
        </p:txBody>
      </p:sp>
      <p:sp>
        <p:nvSpPr>
          <p:cNvPr id="11" name="Shape 9"/>
          <p:cNvSpPr/>
          <p:nvPr/>
        </p:nvSpPr>
        <p:spPr>
          <a:xfrm>
            <a:off x="8229600" y="2286000"/>
            <a:ext cx="3200400" cy="1828800"/>
          </a:xfrm>
          <a:prstGeom prst="roundRect">
            <a:avLst>
              <a:gd name="adj" fmla="val 5000"/>
            </a:avLst>
          </a:prstGeom>
          <a:solidFill>
            <a:srgbClr val="F5F7FA"/>
          </a:solidFill>
          <a:ln w="19050">
            <a:solidFill>
              <a:srgbClr val="101C3F"/>
            </a:solidFill>
            <a:prstDash val="solid"/>
          </a:ln>
        </p:spPr>
      </p:sp>
      <p:sp>
        <p:nvSpPr>
          <p:cNvPr id="12" name="Text 10"/>
          <p:cNvSpPr/>
          <p:nvPr/>
        </p:nvSpPr>
        <p:spPr>
          <a:xfrm>
            <a:off x="8412480" y="2468880"/>
            <a:ext cx="2834640" cy="365760"/>
          </a:xfrm>
          <a:prstGeom prst="rect">
            <a:avLst/>
          </a:prstGeom>
          <a:noFill/>
          <a:ln/>
        </p:spPr>
        <p:txBody>
          <a:bodyPr wrap="square" rtlCol="0" anchor="ctr"/>
          <a:lstStyle/>
          <a:p>
            <a:pPr algn="ctr" indent="0" marL="0">
              <a:buNone/>
            </a:pPr>
            <a:r>
              <a:rPr lang="en-US" sz="2000" b="1" dirty="0">
                <a:solidFill>
                  <a:srgbClr val="0B64DD"/>
                </a:solidFill>
                <a:latin typeface="Inter" pitchFamily="34" charset="0"/>
                <a:ea typeface="Inter" pitchFamily="34" charset="-122"/>
                <a:cs typeface="Inter" pitchFamily="34" charset="-120"/>
              </a:rPr>
              <a:t>Traces</a:t>
            </a:r>
            <a:endParaRPr lang="en-US" sz="2000" dirty="0"/>
          </a:p>
        </p:txBody>
      </p:sp>
      <p:sp>
        <p:nvSpPr>
          <p:cNvPr id="13" name="Text 11"/>
          <p:cNvSpPr/>
          <p:nvPr/>
        </p:nvSpPr>
        <p:spPr>
          <a:xfrm>
            <a:off x="8412480" y="2926080"/>
            <a:ext cx="2834640" cy="9144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Distributed tracing via OTel — request flows across microservices</a:t>
            </a:r>
            <a:endParaRPr lang="en-US" sz="1100" dirty="0"/>
          </a:p>
        </p:txBody>
      </p:sp>
      <p:sp>
        <p:nvSpPr>
          <p:cNvPr id="14" name="Shape 12"/>
          <p:cNvSpPr/>
          <p:nvPr/>
        </p:nvSpPr>
        <p:spPr>
          <a:xfrm>
            <a:off x="2743200" y="4389120"/>
            <a:ext cx="3200400" cy="1828800"/>
          </a:xfrm>
          <a:prstGeom prst="roundRect">
            <a:avLst>
              <a:gd name="adj" fmla="val 5000"/>
            </a:avLst>
          </a:prstGeom>
          <a:solidFill>
            <a:srgbClr val="F5F7FA"/>
          </a:solidFill>
          <a:ln w="19050">
            <a:solidFill>
              <a:srgbClr val="101C3F"/>
            </a:solidFill>
            <a:prstDash val="solid"/>
          </a:ln>
        </p:spPr>
      </p:sp>
      <p:sp>
        <p:nvSpPr>
          <p:cNvPr id="15" name="Text 13"/>
          <p:cNvSpPr/>
          <p:nvPr/>
        </p:nvSpPr>
        <p:spPr>
          <a:xfrm>
            <a:off x="2926080" y="4572000"/>
            <a:ext cx="2834640" cy="365760"/>
          </a:xfrm>
          <a:prstGeom prst="rect">
            <a:avLst/>
          </a:prstGeom>
          <a:noFill/>
          <a:ln/>
        </p:spPr>
        <p:txBody>
          <a:bodyPr wrap="square" rtlCol="0" anchor="ctr"/>
          <a:lstStyle/>
          <a:p>
            <a:pPr algn="ctr" indent="0" marL="0">
              <a:buNone/>
            </a:pPr>
            <a:r>
              <a:rPr lang="en-US" sz="2000" b="1" dirty="0">
                <a:solidFill>
                  <a:srgbClr val="0B64DD"/>
                </a:solidFill>
                <a:latin typeface="Inter" pitchFamily="34" charset="0"/>
                <a:ea typeface="Inter" pitchFamily="34" charset="-122"/>
                <a:cs typeface="Inter" pitchFamily="34" charset="-120"/>
              </a:rPr>
              <a:t>Security Events</a:t>
            </a:r>
            <a:endParaRPr lang="en-US" sz="2000" dirty="0"/>
          </a:p>
        </p:txBody>
      </p:sp>
      <p:sp>
        <p:nvSpPr>
          <p:cNvPr id="16" name="Text 14"/>
          <p:cNvSpPr/>
          <p:nvPr/>
        </p:nvSpPr>
        <p:spPr>
          <a:xfrm>
            <a:off x="2926080" y="5029200"/>
            <a:ext cx="2834640" cy="9144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Endpoint, network, process, file, registry events for threat detection</a:t>
            </a:r>
            <a:endParaRPr lang="en-US" sz="1100" dirty="0"/>
          </a:p>
        </p:txBody>
      </p:sp>
      <p:sp>
        <p:nvSpPr>
          <p:cNvPr id="17" name="Shape 15"/>
          <p:cNvSpPr/>
          <p:nvPr/>
        </p:nvSpPr>
        <p:spPr>
          <a:xfrm>
            <a:off x="6400800" y="4389120"/>
            <a:ext cx="3200400" cy="1828800"/>
          </a:xfrm>
          <a:prstGeom prst="roundRect">
            <a:avLst>
              <a:gd name="adj" fmla="val 5000"/>
            </a:avLst>
          </a:prstGeom>
          <a:solidFill>
            <a:srgbClr val="F5F7FA"/>
          </a:solidFill>
          <a:ln w="19050">
            <a:solidFill>
              <a:srgbClr val="101C3F"/>
            </a:solidFill>
            <a:prstDash val="solid"/>
          </a:ln>
        </p:spPr>
      </p:sp>
      <p:sp>
        <p:nvSpPr>
          <p:cNvPr id="18" name="Text 16"/>
          <p:cNvSpPr/>
          <p:nvPr/>
        </p:nvSpPr>
        <p:spPr>
          <a:xfrm>
            <a:off x="6583680" y="4572000"/>
            <a:ext cx="2834640" cy="365760"/>
          </a:xfrm>
          <a:prstGeom prst="rect">
            <a:avLst/>
          </a:prstGeom>
          <a:noFill/>
          <a:ln/>
        </p:spPr>
        <p:txBody>
          <a:bodyPr wrap="square" rtlCol="0" anchor="ctr"/>
          <a:lstStyle/>
          <a:p>
            <a:pPr algn="ctr" indent="0" marL="0">
              <a:buNone/>
            </a:pPr>
            <a:r>
              <a:rPr lang="en-US" sz="2000" b="1" dirty="0">
                <a:solidFill>
                  <a:srgbClr val="0B64DD"/>
                </a:solidFill>
                <a:latin typeface="Inter" pitchFamily="34" charset="0"/>
                <a:ea typeface="Inter" pitchFamily="34" charset="-122"/>
                <a:cs typeface="Inter" pitchFamily="34" charset="-120"/>
              </a:rPr>
              <a:t>Profiles</a:t>
            </a:r>
            <a:endParaRPr lang="en-US" sz="2000" dirty="0"/>
          </a:p>
        </p:txBody>
      </p:sp>
      <p:sp>
        <p:nvSpPr>
          <p:cNvPr id="19" name="Text 17"/>
          <p:cNvSpPr/>
          <p:nvPr/>
        </p:nvSpPr>
        <p:spPr>
          <a:xfrm>
            <a:off x="6583680" y="5029200"/>
            <a:ext cx="2834640" cy="9144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Universal Profiling — code-level visibility without instrumentation</a:t>
            </a:r>
            <a:endParaRPr lang="en-US" sz="1100" dirty="0"/>
          </a:p>
        </p:txBody>
      </p:sp>
      <p:sp>
        <p:nvSpPr>
          <p:cNvPr id="20" name="Shape 18"/>
          <p:cNvSpPr/>
          <p:nvPr/>
        </p:nvSpPr>
        <p:spPr>
          <a:xfrm>
            <a:off x="457200" y="2011680"/>
            <a:ext cx="11430000" cy="36576"/>
          </a:xfrm>
          <a:prstGeom prst="rect">
            <a:avLst/>
          </a:prstGeom>
          <a:solidFill>
            <a:srgbClr val="48EFCF"/>
          </a:solidFill>
          <a:ln/>
        </p:spPr>
      </p:sp>
      <p:sp>
        <p:nvSpPr>
          <p:cNvPr id="21" name="Text 19"/>
          <p:cNvSpPr/>
          <p:nvPr/>
        </p:nvSpPr>
        <p:spPr>
          <a:xfrm>
            <a:off x="731520" y="2084832"/>
            <a:ext cx="10698480" cy="274320"/>
          </a:xfrm>
          <a:prstGeom prst="rect">
            <a:avLst/>
          </a:prstGeom>
          <a:noFill/>
          <a:ln/>
        </p:spPr>
        <p:txBody>
          <a:bodyPr wrap="square" rtlCol="0" anchor="ctr"/>
          <a:lstStyle/>
          <a:p>
            <a:pPr algn="ctr" indent="0" marL="0">
              <a:buNone/>
            </a:pPr>
            <a:r>
              <a:rPr lang="en-US" sz="1100" i="1" dirty="0">
                <a:solidFill>
                  <a:srgbClr val="343741"/>
                </a:solidFill>
                <a:latin typeface="Inter" pitchFamily="34" charset="0"/>
                <a:ea typeface="Inter" pitchFamily="34" charset="-122"/>
                <a:cs typeface="Inter" pitchFamily="34" charset="-120"/>
              </a:rPr>
              <a:t>All five telemetry signals flow to Elasticsearch — normalised by ECS, available to both Observability and Security apps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Fleet: Centralised Agent Management</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Deploy and manage thousands of agents from a single UI — policies for O11y and Security applied simultaneously</a:t>
            </a:r>
            <a:endParaRPr lang="en-US" sz="1400" dirty="0"/>
          </a:p>
        </p:txBody>
      </p:sp>
      <p:sp>
        <p:nvSpPr>
          <p:cNvPr id="5" name="Shape 3"/>
          <p:cNvSpPr/>
          <p:nvPr/>
        </p:nvSpPr>
        <p:spPr>
          <a:xfrm>
            <a:off x="457200" y="2286000"/>
            <a:ext cx="5303520" cy="2011680"/>
          </a:xfrm>
          <a:prstGeom prst="roundRect">
            <a:avLst>
              <a:gd name="adj" fmla="val 4545"/>
            </a:avLst>
          </a:prstGeom>
          <a:solidFill>
            <a:srgbClr val="F5F7FA"/>
          </a:solidFill>
          <a:ln w="19050">
            <a:solidFill>
              <a:srgbClr val="101C3F"/>
            </a:solidFill>
            <a:prstDash val="solid"/>
          </a:ln>
        </p:spPr>
      </p:sp>
      <p:sp>
        <p:nvSpPr>
          <p:cNvPr id="6" name="Text 4"/>
          <p:cNvSpPr/>
          <p:nvPr/>
        </p:nvSpPr>
        <p:spPr>
          <a:xfrm>
            <a:off x="640080" y="2468880"/>
            <a:ext cx="49377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Centralised Policy Management</a:t>
            </a:r>
            <a:endParaRPr lang="en-US" sz="16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4937760" cy="109728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Define and push agent policies from a web UI. Combine O11y integrations (APM, metrics) with Security integrations (Endpoint, CSPM) in a single policy. Deploy upgrades at runtime across thousands of agents.</a:t>
            </a:r>
            <a:endParaRPr lang="en-US" sz="1200" dirty="0"/>
          </a:p>
        </p:txBody>
      </p:sp>
      <p:sp>
        <p:nvSpPr>
          <p:cNvPr id="9" name="Shape 7"/>
          <p:cNvSpPr/>
          <p:nvPr/>
        </p:nvSpPr>
        <p:spPr>
          <a:xfrm>
            <a:off x="6400800" y="2286000"/>
            <a:ext cx="5303520" cy="2011680"/>
          </a:xfrm>
          <a:prstGeom prst="roundRect">
            <a:avLst>
              <a:gd name="adj" fmla="val 4545"/>
            </a:avLst>
          </a:prstGeom>
          <a:solidFill>
            <a:srgbClr val="F5F7FA"/>
          </a:solidFill>
          <a:ln w="19050">
            <a:solidFill>
              <a:srgbClr val="101C3F"/>
            </a:solidFill>
            <a:prstDash val="solid"/>
          </a:ln>
        </p:spPr>
      </p:sp>
      <p:sp>
        <p:nvSpPr>
          <p:cNvPr id="10" name="Text 8"/>
          <p:cNvSpPr/>
          <p:nvPr/>
        </p:nvSpPr>
        <p:spPr>
          <a:xfrm>
            <a:off x="6583680" y="2468880"/>
            <a:ext cx="49377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Out-of-the-Box Integrations</a:t>
            </a:r>
            <a:endParaRPr lang="en-US" sz="1600" dirty="0"/>
          </a:p>
        </p:txBody>
      </p:sp>
      <p:sp>
        <p:nvSpPr>
          <p:cNvPr id="11" name="Shape 9"/>
          <p:cNvSpPr/>
          <p:nvPr/>
        </p:nvSpPr>
        <p:spPr>
          <a:xfrm>
            <a:off x="6583680" y="2880360"/>
            <a:ext cx="914400" cy="27432"/>
          </a:xfrm>
          <a:prstGeom prst="rect">
            <a:avLst/>
          </a:prstGeom>
          <a:solidFill>
            <a:srgbClr val="48EFCF"/>
          </a:solidFill>
          <a:ln/>
        </p:spPr>
      </p:sp>
      <p:sp>
        <p:nvSpPr>
          <p:cNvPr id="12" name="Text 10"/>
          <p:cNvSpPr/>
          <p:nvPr/>
        </p:nvSpPr>
        <p:spPr>
          <a:xfrm>
            <a:off x="6583680" y="3017520"/>
            <a:ext cx="4937760" cy="109728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400+ prebuilt integrations with dashboards, visualisations, and ingest pipelines. Data automatically mapped to ECS. One-click deployment for common services — insights within seconds, not hours.</a:t>
            </a:r>
            <a:endParaRPr lang="en-US" sz="1200" dirty="0"/>
          </a:p>
        </p:txBody>
      </p:sp>
      <p:sp>
        <p:nvSpPr>
          <p:cNvPr id="13" name="Shape 11"/>
          <p:cNvSpPr/>
          <p:nvPr/>
        </p:nvSpPr>
        <p:spPr>
          <a:xfrm>
            <a:off x="457200" y="4572000"/>
            <a:ext cx="11430000" cy="1097280"/>
          </a:xfrm>
          <a:prstGeom prst="roundRect">
            <a:avLst>
              <a:gd name="adj" fmla="val 8333"/>
            </a:avLst>
          </a:prstGeom>
          <a:solidFill>
            <a:srgbClr val="0B64DD"/>
          </a:solidFill>
          <a:ln/>
        </p:spPr>
      </p:sp>
      <p:sp>
        <p:nvSpPr>
          <p:cNvPr id="14" name="Text 12"/>
          <p:cNvSpPr/>
          <p:nvPr/>
        </p:nvSpPr>
        <p:spPr>
          <a:xfrm>
            <a:off x="640080" y="4709160"/>
            <a:ext cx="11064240" cy="365760"/>
          </a:xfrm>
          <a:prstGeom prst="rect">
            <a:avLst/>
          </a:prstGeom>
          <a:no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Fleet enables the 'land and expand' pattern: start with logs, add metrics, then security — all from the same agent</a:t>
            </a:r>
            <a:endParaRPr lang="en-US" sz="1500" dirty="0"/>
          </a:p>
        </p:txBody>
      </p:sp>
      <p:sp>
        <p:nvSpPr>
          <p:cNvPr id="15" name="Text 13"/>
          <p:cNvSpPr/>
          <p:nvPr/>
        </p:nvSpPr>
        <p:spPr>
          <a:xfrm>
            <a:off x="640080" y="5120640"/>
            <a:ext cx="11064240" cy="365760"/>
          </a:xfrm>
          <a:prstGeom prst="rect">
            <a:avLst/>
          </a:prstGeom>
          <a:noFill/>
          <a:ln/>
        </p:spPr>
        <p:txBody>
          <a:bodyPr wrap="square" rtlCol="0" anchor="ctr"/>
          <a:lstStyle/>
          <a:p>
            <a:pPr algn="ctr" indent="0" marL="0">
              <a:buNone/>
            </a:pPr>
            <a:r>
              <a:rPr lang="en-US" sz="1300" dirty="0">
                <a:solidFill>
                  <a:srgbClr val="DCE2EA"/>
                </a:solidFill>
                <a:latin typeface="Inter" pitchFamily="34" charset="0"/>
                <a:ea typeface="Inter" pitchFamily="34" charset="-122"/>
                <a:cs typeface="Inter" pitchFamily="34" charset="-120"/>
              </a:rPr>
              <a:t>No separate agents. No conflicting configurations. No duplicate data. One policy to rule them all.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ECS: The Common Data Language</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Normalising data across Observability and Security domains</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Elastic Common Schema (ECS)</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ECS is the open-source specification that makes O11y and Security data interoperable — the single biggest enabler of cross-domain workflows</a:t>
            </a:r>
            <a:endParaRPr lang="en-US" sz="1400" dirty="0"/>
          </a:p>
        </p:txBody>
      </p:sp>
      <p:sp>
        <p:nvSpPr>
          <p:cNvPr id="5" name="Shape 3"/>
          <p:cNvSpPr/>
          <p:nvPr/>
        </p:nvSpPr>
        <p:spPr>
          <a:xfrm>
            <a:off x="457200" y="2286000"/>
            <a:ext cx="3474720" cy="1828800"/>
          </a:xfrm>
          <a:prstGeom prst="roundRect">
            <a:avLst>
              <a:gd name="adj" fmla="val 5000"/>
            </a:avLst>
          </a:prstGeom>
          <a:solidFill>
            <a:srgbClr val="F5F7FA"/>
          </a:solidFill>
          <a:ln w="19050">
            <a:solidFill>
              <a:srgbClr val="101C3F"/>
            </a:solidFill>
            <a:prstDash val="solid"/>
          </a:ln>
        </p:spPr>
      </p:sp>
      <p:sp>
        <p:nvSpPr>
          <p:cNvPr id="6" name="Text 4"/>
          <p:cNvSpPr/>
          <p:nvPr/>
        </p:nvSpPr>
        <p:spPr>
          <a:xfrm>
            <a:off x="64008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Standardised Fields</a:t>
            </a:r>
            <a:endParaRPr lang="en-US" sz="16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3108960" cy="914400"/>
          </a:xfrm>
          <a:prstGeom prst="rect">
            <a:avLst/>
          </a:prstGeom>
          <a:noFill/>
          <a:ln/>
        </p:spPr>
        <p:txBody>
          <a:bodyPr wrap="square" rtlCol="0" anchor="ctr"/>
          <a:lstStyle/>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Common field definitions: @timestamp, event.*, host.*, source.*, destination.*, user.*, process.* — same names, same types across all data sources</a:t>
            </a:r>
            <a:endParaRPr lang="en-US" sz="1100" dirty="0"/>
          </a:p>
        </p:txBody>
      </p:sp>
      <p:sp>
        <p:nvSpPr>
          <p:cNvPr id="9" name="Shape 7"/>
          <p:cNvSpPr/>
          <p:nvPr/>
        </p:nvSpPr>
        <p:spPr>
          <a:xfrm>
            <a:off x="4297680" y="2286000"/>
            <a:ext cx="3474720" cy="1828800"/>
          </a:xfrm>
          <a:prstGeom prst="roundRect">
            <a:avLst>
              <a:gd name="adj" fmla="val 5000"/>
            </a:avLst>
          </a:prstGeom>
          <a:solidFill>
            <a:srgbClr val="F5F7FA"/>
          </a:solidFill>
          <a:ln w="19050">
            <a:solidFill>
              <a:srgbClr val="101C3F"/>
            </a:solidFill>
            <a:prstDash val="solid"/>
          </a:ln>
        </p:spPr>
      </p:sp>
      <p:sp>
        <p:nvSpPr>
          <p:cNvPr id="10" name="Text 8"/>
          <p:cNvSpPr/>
          <p:nvPr/>
        </p:nvSpPr>
        <p:spPr>
          <a:xfrm>
            <a:off x="448056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Cross-Domain Content</a:t>
            </a:r>
            <a:endParaRPr lang="en-US" sz="1600" dirty="0"/>
          </a:p>
        </p:txBody>
      </p:sp>
      <p:sp>
        <p:nvSpPr>
          <p:cNvPr id="11" name="Shape 9"/>
          <p:cNvSpPr/>
          <p:nvPr/>
        </p:nvSpPr>
        <p:spPr>
          <a:xfrm>
            <a:off x="4480560" y="2880360"/>
            <a:ext cx="914400" cy="27432"/>
          </a:xfrm>
          <a:prstGeom prst="rect">
            <a:avLst/>
          </a:prstGeom>
          <a:solidFill>
            <a:srgbClr val="48EFCF"/>
          </a:solidFill>
          <a:ln/>
        </p:spPr>
      </p:sp>
      <p:sp>
        <p:nvSpPr>
          <p:cNvPr id="12" name="Text 10"/>
          <p:cNvSpPr/>
          <p:nvPr/>
        </p:nvSpPr>
        <p:spPr>
          <a:xfrm>
            <a:off x="4480560" y="3017520"/>
            <a:ext cx="3108960" cy="914400"/>
          </a:xfrm>
          <a:prstGeom prst="rect">
            <a:avLst/>
          </a:prstGeom>
          <a:noFill/>
          <a:ln/>
        </p:spPr>
        <p:txBody>
          <a:bodyPr wrap="square" rtlCol="0" anchor="ctr"/>
          <a:lstStyle/>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Dashboards, detection rules, and ML jobs work across any ECS-compliant data. A security rule can run on O11y data. An APM dashboard can include security context.</a:t>
            </a:r>
            <a:endParaRPr lang="en-US" sz="1100" dirty="0"/>
          </a:p>
        </p:txBody>
      </p:sp>
      <p:sp>
        <p:nvSpPr>
          <p:cNvPr id="13" name="Shape 11"/>
          <p:cNvSpPr/>
          <p:nvPr/>
        </p:nvSpPr>
        <p:spPr>
          <a:xfrm>
            <a:off x="8138160" y="2286000"/>
            <a:ext cx="3474720" cy="1828800"/>
          </a:xfrm>
          <a:prstGeom prst="roundRect">
            <a:avLst>
              <a:gd name="adj" fmla="val 5000"/>
            </a:avLst>
          </a:prstGeom>
          <a:solidFill>
            <a:srgbClr val="F5F7FA"/>
          </a:solidFill>
          <a:ln w="19050">
            <a:solidFill>
              <a:srgbClr val="101C3F"/>
            </a:solidFill>
            <a:prstDash val="solid"/>
          </a:ln>
        </p:spPr>
      </p:sp>
      <p:sp>
        <p:nvSpPr>
          <p:cNvPr id="14" name="Text 12"/>
          <p:cNvSpPr/>
          <p:nvPr/>
        </p:nvSpPr>
        <p:spPr>
          <a:xfrm>
            <a:off x="832104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OpenTelemetry Convergence</a:t>
            </a:r>
            <a:endParaRPr lang="en-US" sz="1600" dirty="0"/>
          </a:p>
        </p:txBody>
      </p:sp>
      <p:sp>
        <p:nvSpPr>
          <p:cNvPr id="15" name="Shape 13"/>
          <p:cNvSpPr/>
          <p:nvPr/>
        </p:nvSpPr>
        <p:spPr>
          <a:xfrm>
            <a:off x="8321040" y="2880360"/>
            <a:ext cx="914400" cy="27432"/>
          </a:xfrm>
          <a:prstGeom prst="rect">
            <a:avLst/>
          </a:prstGeom>
          <a:solidFill>
            <a:srgbClr val="48EFCF"/>
          </a:solidFill>
          <a:ln/>
        </p:spPr>
      </p:sp>
      <p:sp>
        <p:nvSpPr>
          <p:cNvPr id="16" name="Text 14"/>
          <p:cNvSpPr/>
          <p:nvPr/>
        </p:nvSpPr>
        <p:spPr>
          <a:xfrm>
            <a:off x="8321040" y="3017520"/>
            <a:ext cx="3108960" cy="914400"/>
          </a:xfrm>
          <a:prstGeom prst="rect">
            <a:avLst/>
          </a:prstGeom>
          <a:noFill/>
          <a:ln/>
        </p:spPr>
        <p:txBody>
          <a:bodyPr wrap="square" rtlCol="0" anchor="ctr"/>
          <a:lstStyle/>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ECS donated to OpenTelemetry (2023). ECS and OTel Semantic Conventions converging into a single open schema for both O11y and Security data.</a:t>
            </a:r>
            <a:endParaRPr lang="en-US" sz="1100" dirty="0"/>
          </a:p>
        </p:txBody>
      </p:sp>
      <p:sp>
        <p:nvSpPr>
          <p:cNvPr id="17" name="Shape 15"/>
          <p:cNvSpPr/>
          <p:nvPr/>
        </p:nvSpPr>
        <p:spPr>
          <a:xfrm>
            <a:off x="457200" y="4389120"/>
            <a:ext cx="11430000" cy="1371600"/>
          </a:xfrm>
          <a:prstGeom prst="roundRect">
            <a:avLst>
              <a:gd name="adj" fmla="val 6667"/>
            </a:avLst>
          </a:prstGeom>
          <a:solidFill>
            <a:srgbClr val="F5F7FA"/>
          </a:solidFill>
          <a:ln w="19050">
            <a:solidFill>
              <a:srgbClr val="101C3F"/>
            </a:solidFill>
            <a:prstDash val="solid"/>
          </a:ln>
        </p:spPr>
      </p:sp>
      <p:sp>
        <p:nvSpPr>
          <p:cNvPr id="18" name="Text 16"/>
          <p:cNvSpPr/>
          <p:nvPr/>
        </p:nvSpPr>
        <p:spPr>
          <a:xfrm>
            <a:off x="640080" y="4572000"/>
            <a:ext cx="5029200" cy="365760"/>
          </a:xfrm>
          <a:prstGeom prst="rect">
            <a:avLst/>
          </a:prstGeom>
          <a:noFill/>
          <a:ln/>
        </p:spPr>
        <p:txBody>
          <a:bodyPr wrap="square" rtlCol="0" anchor="ctr"/>
          <a:lstStyle/>
          <a:p>
            <a:pPr algn="l" indent="0" marL="0">
              <a:buNone/>
            </a:pPr>
            <a:r>
              <a:rPr lang="en-US" sz="1200" b="1" dirty="0">
                <a:solidFill>
                  <a:srgbClr val="1C1E23"/>
                </a:solidFill>
                <a:latin typeface="Inter" pitchFamily="34" charset="0"/>
                <a:ea typeface="Inter" pitchFamily="34" charset="-122"/>
                <a:cs typeface="Inter" pitchFamily="34" charset="-120"/>
              </a:rPr>
              <a:t>Security-Required ECS Fields (always mapped by Elastic Agent integrations):</a:t>
            </a:r>
            <a:endParaRPr lang="en-US" sz="1200" dirty="0"/>
          </a:p>
        </p:txBody>
      </p:sp>
      <p:sp>
        <p:nvSpPr>
          <p:cNvPr id="19" name="Text 17"/>
          <p:cNvSpPr/>
          <p:nvPr/>
        </p:nvSpPr>
        <p:spPr>
          <a:xfrm>
            <a:off x="6400800" y="4572000"/>
            <a:ext cx="5029200" cy="365760"/>
          </a:xfrm>
          <a:prstGeom prst="rect">
            <a:avLst/>
          </a:prstGeom>
          <a:noFill/>
          <a:ln/>
        </p:spPr>
        <p:txBody>
          <a:bodyPr wrap="square" rtlCol="0" anchor="ctr"/>
          <a:lstStyle/>
          <a:p>
            <a:pPr algn="l" indent="0" marL="0">
              <a:buNone/>
            </a:pPr>
            <a:r>
              <a:rPr lang="en-US" sz="1200" b="1" dirty="0">
                <a:solidFill>
                  <a:srgbClr val="1C1E23"/>
                </a:solidFill>
                <a:latin typeface="Inter" pitchFamily="34" charset="0"/>
                <a:ea typeface="Inter" pitchFamily="34" charset="-122"/>
                <a:cs typeface="Inter" pitchFamily="34" charset="-120"/>
              </a:rPr>
              <a:t>O11y fields also standardised:</a:t>
            </a:r>
            <a:endParaRPr lang="en-US" sz="1200" dirty="0"/>
          </a:p>
        </p:txBody>
      </p:sp>
      <p:sp>
        <p:nvSpPr>
          <p:cNvPr id="20" name="Text 18"/>
          <p:cNvSpPr/>
          <p:nvPr/>
        </p:nvSpPr>
        <p:spPr>
          <a:xfrm>
            <a:off x="640080" y="4937760"/>
            <a:ext cx="502920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@timestamp, ecs.version, event.kind, event.category, event.type</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host.name, host.id, process.name, process.pid</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source.ip, destination.ip, user.name</a:t>
            </a:r>
            <a:endParaRPr lang="en-US" sz="1000" dirty="0"/>
          </a:p>
        </p:txBody>
      </p:sp>
      <p:sp>
        <p:nvSpPr>
          <p:cNvPr id="21" name="Text 19"/>
          <p:cNvSpPr/>
          <p:nvPr/>
        </p:nvSpPr>
        <p:spPr>
          <a:xfrm>
            <a:off x="6400800" y="4937760"/>
            <a:ext cx="502920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service.name, trace.id, transaction.id</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http.request.method, http.response.status_code</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log.level, error.message, container.id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Streams: AI-Powered Log Management</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Transforming raw logs into structured data for both O11y and Security</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Streams: From Chaos to Clarity</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Streams uses agentic AI to parse, partition, and structure logs — making them immediately usable for both observability investigations and security analysis</a:t>
            </a:r>
            <a:endParaRPr lang="en-US" sz="1300" dirty="0"/>
          </a:p>
        </p:txBody>
      </p:sp>
      <p:sp>
        <p:nvSpPr>
          <p:cNvPr id="5" name="Shape 3"/>
          <p:cNvSpPr/>
          <p:nvPr/>
        </p:nvSpPr>
        <p:spPr>
          <a:xfrm>
            <a:off x="457200" y="2286000"/>
            <a:ext cx="5486400" cy="1371600"/>
          </a:xfrm>
          <a:prstGeom prst="roundRect">
            <a:avLst>
              <a:gd name="adj" fmla="val 6667"/>
            </a:avLst>
          </a:prstGeom>
          <a:solidFill>
            <a:srgbClr val="F5F7FA"/>
          </a:solidFill>
          <a:ln w="19050">
            <a:solidFill>
              <a:srgbClr val="101C3F"/>
            </a:solidFill>
            <a:prstDash val="solid"/>
          </a:ln>
        </p:spPr>
      </p:sp>
      <p:sp>
        <p:nvSpPr>
          <p:cNvPr id="6" name="Text 4"/>
          <p:cNvSpPr/>
          <p:nvPr/>
        </p:nvSpPr>
        <p:spPr>
          <a:xfrm>
            <a:off x="640080" y="2468880"/>
            <a:ext cx="512064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AI-Powered Parsing &amp; Partitioning</a:t>
            </a:r>
            <a:endParaRPr lang="en-US" sz="15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5120640" cy="54864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AI automatically detects log patterns and generates GROK rules. Partitions logs by service, component, or type without manual pipeline configuration. Raw unstructured logs become structured, queryable data in minutes.</a:t>
            </a:r>
            <a:endParaRPr lang="en-US" sz="1100" dirty="0"/>
          </a:p>
        </p:txBody>
      </p:sp>
      <p:sp>
        <p:nvSpPr>
          <p:cNvPr id="9" name="Shape 7"/>
          <p:cNvSpPr/>
          <p:nvPr/>
        </p:nvSpPr>
        <p:spPr>
          <a:xfrm>
            <a:off x="6400800" y="2286000"/>
            <a:ext cx="5486400" cy="1371600"/>
          </a:xfrm>
          <a:prstGeom prst="roundRect">
            <a:avLst>
              <a:gd name="adj" fmla="val 6667"/>
            </a:avLst>
          </a:prstGeom>
          <a:solidFill>
            <a:srgbClr val="F5F7FA"/>
          </a:solidFill>
          <a:ln w="19050">
            <a:solidFill>
              <a:srgbClr val="101C3F"/>
            </a:solidFill>
            <a:prstDash val="solid"/>
          </a:ln>
        </p:spPr>
      </p:sp>
      <p:sp>
        <p:nvSpPr>
          <p:cNvPr id="10" name="Text 8"/>
          <p:cNvSpPr/>
          <p:nvPr/>
        </p:nvSpPr>
        <p:spPr>
          <a:xfrm>
            <a:off x="6583680" y="2468880"/>
            <a:ext cx="512064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Significant Events Detection</a:t>
            </a:r>
            <a:endParaRPr lang="en-US" sz="1500" dirty="0"/>
          </a:p>
        </p:txBody>
      </p:sp>
      <p:sp>
        <p:nvSpPr>
          <p:cNvPr id="11" name="Shape 9"/>
          <p:cNvSpPr/>
          <p:nvPr/>
        </p:nvSpPr>
        <p:spPr>
          <a:xfrm>
            <a:off x="6583680" y="2880360"/>
            <a:ext cx="914400" cy="27432"/>
          </a:xfrm>
          <a:prstGeom prst="rect">
            <a:avLst/>
          </a:prstGeom>
          <a:solidFill>
            <a:srgbClr val="48EFCF"/>
          </a:solidFill>
          <a:ln/>
        </p:spPr>
      </p:sp>
      <p:sp>
        <p:nvSpPr>
          <p:cNvPr id="12" name="Text 10"/>
          <p:cNvSpPr/>
          <p:nvPr/>
        </p:nvSpPr>
        <p:spPr>
          <a:xfrm>
            <a:off x="6583680" y="3017520"/>
            <a:ext cx="5120640" cy="54864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Agentic AI surfaces critical events: out-of-memory errors, server crashes, startup/shutdown events, anomalies, certificate expirations. These same signals can feed security detection rules and alert triage workflows.</a:t>
            </a:r>
            <a:endParaRPr lang="en-US" sz="1100" dirty="0"/>
          </a:p>
        </p:txBody>
      </p:sp>
      <p:sp>
        <p:nvSpPr>
          <p:cNvPr id="13" name="Shape 11"/>
          <p:cNvSpPr/>
          <p:nvPr/>
        </p:nvSpPr>
        <p:spPr>
          <a:xfrm>
            <a:off x="457200" y="3931920"/>
            <a:ext cx="5486400" cy="1371600"/>
          </a:xfrm>
          <a:prstGeom prst="roundRect">
            <a:avLst>
              <a:gd name="adj" fmla="val 6667"/>
            </a:avLst>
          </a:prstGeom>
          <a:solidFill>
            <a:srgbClr val="F5F7FA"/>
          </a:solidFill>
          <a:ln w="19050">
            <a:solidFill>
              <a:srgbClr val="101C3F"/>
            </a:solidFill>
            <a:prstDash val="solid"/>
          </a:ln>
        </p:spPr>
      </p:sp>
      <p:sp>
        <p:nvSpPr>
          <p:cNvPr id="14" name="Text 12"/>
          <p:cNvSpPr/>
          <p:nvPr/>
        </p:nvSpPr>
        <p:spPr>
          <a:xfrm>
            <a:off x="640080" y="4114800"/>
            <a:ext cx="512064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Agentless Ingest</a:t>
            </a:r>
            <a:endParaRPr lang="en-US" sz="1500" dirty="0"/>
          </a:p>
        </p:txBody>
      </p:sp>
      <p:sp>
        <p:nvSpPr>
          <p:cNvPr id="15" name="Shape 13"/>
          <p:cNvSpPr/>
          <p:nvPr/>
        </p:nvSpPr>
        <p:spPr>
          <a:xfrm>
            <a:off x="640080" y="4526280"/>
            <a:ext cx="914400" cy="27432"/>
          </a:xfrm>
          <a:prstGeom prst="rect">
            <a:avLst/>
          </a:prstGeom>
          <a:solidFill>
            <a:srgbClr val="48EFCF"/>
          </a:solidFill>
          <a:ln/>
        </p:spPr>
      </p:sp>
      <p:sp>
        <p:nvSpPr>
          <p:cNvPr id="16" name="Text 14"/>
          <p:cNvSpPr/>
          <p:nvPr/>
        </p:nvSpPr>
        <p:spPr>
          <a:xfrm>
            <a:off x="640080" y="4663440"/>
            <a:ext cx="5120640" cy="54864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Send any log from any source directly to /logs endpoint. Works with OpenTelemetry, Fluentd, Fluent Bit, or any forwarder. No agents required. Automatic OTel-native schema conversion.</a:t>
            </a:r>
            <a:endParaRPr lang="en-US" sz="1100" dirty="0"/>
          </a:p>
        </p:txBody>
      </p:sp>
      <p:sp>
        <p:nvSpPr>
          <p:cNvPr id="17" name="Shape 15"/>
          <p:cNvSpPr/>
          <p:nvPr/>
        </p:nvSpPr>
        <p:spPr>
          <a:xfrm>
            <a:off x="6400800" y="3931920"/>
            <a:ext cx="5486400" cy="1371600"/>
          </a:xfrm>
          <a:prstGeom prst="roundRect">
            <a:avLst>
              <a:gd name="adj" fmla="val 6667"/>
            </a:avLst>
          </a:prstGeom>
          <a:solidFill>
            <a:srgbClr val="F5F7FA"/>
          </a:solidFill>
          <a:ln w="19050">
            <a:solidFill>
              <a:srgbClr val="101C3F"/>
            </a:solidFill>
            <a:prstDash val="solid"/>
          </a:ln>
        </p:spPr>
      </p:sp>
      <p:sp>
        <p:nvSpPr>
          <p:cNvPr id="18" name="Text 16"/>
          <p:cNvSpPr/>
          <p:nvPr/>
        </p:nvSpPr>
        <p:spPr>
          <a:xfrm>
            <a:off x="6583680" y="4114800"/>
            <a:ext cx="512064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Dual-Domain Value</a:t>
            </a:r>
            <a:endParaRPr lang="en-US" sz="1500" dirty="0"/>
          </a:p>
        </p:txBody>
      </p:sp>
      <p:sp>
        <p:nvSpPr>
          <p:cNvPr id="19" name="Shape 17"/>
          <p:cNvSpPr/>
          <p:nvPr/>
        </p:nvSpPr>
        <p:spPr>
          <a:xfrm>
            <a:off x="6583680" y="4526280"/>
            <a:ext cx="914400" cy="27432"/>
          </a:xfrm>
          <a:prstGeom prst="rect">
            <a:avLst/>
          </a:prstGeom>
          <a:solidFill>
            <a:srgbClr val="48EFCF"/>
          </a:solidFill>
          <a:ln/>
        </p:spPr>
      </p:sp>
      <p:sp>
        <p:nvSpPr>
          <p:cNvPr id="20" name="Text 18"/>
          <p:cNvSpPr/>
          <p:nvPr/>
        </p:nvSpPr>
        <p:spPr>
          <a:xfrm>
            <a:off x="6583680" y="4663440"/>
            <a:ext cx="5120640" cy="54864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For O11y: find the 'why' behind incidents faster. For Security: structured logs feed SIEM detections, threat hunting queries, and ML anomaly detection — all from the same Streams-processed data.</a:t>
            </a:r>
            <a:endParaRPr lang="en-US" sz="1100" dirty="0"/>
          </a:p>
        </p:txBody>
      </p:sp>
      <p:sp>
        <p:nvSpPr>
          <p:cNvPr id="21" name="Shape 19"/>
          <p:cNvSpPr/>
          <p:nvPr/>
        </p:nvSpPr>
        <p:spPr>
          <a:xfrm>
            <a:off x="457200" y="5577840"/>
            <a:ext cx="11430000" cy="822960"/>
          </a:xfrm>
          <a:prstGeom prst="rect">
            <a:avLst>
              <a:gd name="adj" fmla="val 8889"/>
            </a:avLst>
          </a:prstGeom>
          <a:solidFill>
            <a:srgbClr val="0B64DD"/>
          </a:solidFill>
          <a:ln/>
        </p:spPr>
      </p:sp>
      <p:sp>
        <p:nvSpPr>
          <p:cNvPr id="22" name="Text 20"/>
          <p:cNvSpPr/>
          <p:nvPr/>
        </p:nvSpPr>
        <p:spPr>
          <a:xfrm>
            <a:off x="640080" y="5669280"/>
            <a:ext cx="11064240" cy="640080"/>
          </a:xfrm>
          <a:prstGeom prst="rect">
            <a:avLst/>
          </a:prstGeom>
          <a:noFill/>
          <a:ln/>
        </p:spPr>
        <p:txBody>
          <a:bodyPr wrap="square"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Streams bridges the O11y–Security gap: same AI-parsed logs inform both SRE investigations and SOC threat hunts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Cross-Domain Data Flow</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OpenTelemetry, ECS, and the unified telemetry pipeline</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The Unified Telemetry Pipeline</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All data flows through open standards to a single platform — O11y and Security tools query the same Elasticsearch indices</a:t>
            </a:r>
            <a:endParaRPr lang="en-US" sz="1400" dirty="0"/>
          </a:p>
        </p:txBody>
      </p:sp>
      <p:sp>
        <p:nvSpPr>
          <p:cNvPr id="5" name="Shape 3"/>
          <p:cNvSpPr/>
          <p:nvPr/>
        </p:nvSpPr>
        <p:spPr>
          <a:xfrm>
            <a:off x="457200" y="2286000"/>
            <a:ext cx="3200400" cy="1097280"/>
          </a:xfrm>
          <a:prstGeom prst="roundRect">
            <a:avLst>
              <a:gd name="adj" fmla="val 8333"/>
            </a:avLst>
          </a:prstGeom>
          <a:solidFill>
            <a:srgbClr val="0B64DD"/>
          </a:solidFill>
          <a:ln/>
        </p:spPr>
      </p:sp>
      <p:sp>
        <p:nvSpPr>
          <p:cNvPr id="6" name="Text 4"/>
          <p:cNvSpPr/>
          <p:nvPr/>
        </p:nvSpPr>
        <p:spPr>
          <a:xfrm>
            <a:off x="457200" y="2423160"/>
            <a:ext cx="3200400" cy="36576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DATA SOURCES</a:t>
            </a:r>
            <a:endParaRPr lang="en-US" sz="1400" dirty="0"/>
          </a:p>
        </p:txBody>
      </p:sp>
      <p:sp>
        <p:nvSpPr>
          <p:cNvPr id="7" name="Text 5"/>
          <p:cNvSpPr/>
          <p:nvPr/>
        </p:nvSpPr>
        <p:spPr>
          <a:xfrm>
            <a:off x="457200" y="2834640"/>
            <a:ext cx="3200400" cy="457200"/>
          </a:xfrm>
          <a:prstGeom prst="rect">
            <a:avLst/>
          </a:prstGeom>
          <a:noFill/>
          <a:ln/>
        </p:spPr>
        <p:txBody>
          <a:bodyPr wrap="square" rtlCol="0" anchor="ctr"/>
          <a:lstStyle/>
          <a:p>
            <a:pPr algn="ctr" indent="0" marL="0">
              <a:buNone/>
            </a:pPr>
            <a:r>
              <a:rPr lang="en-US" sz="1000" dirty="0">
                <a:solidFill>
                  <a:srgbClr val="DCE2EA"/>
                </a:solidFill>
                <a:latin typeface="Inter" pitchFamily="34" charset="0"/>
                <a:ea typeface="Inter" pitchFamily="34" charset="-122"/>
                <a:cs typeface="Inter" pitchFamily="34" charset="-120"/>
              </a:rPr>
              <a:t>Apps, hosts, network, cloud, endpoints, containers</a:t>
            </a:r>
            <a:endParaRPr lang="en-US" sz="1000" dirty="0"/>
          </a:p>
        </p:txBody>
      </p:sp>
      <p:sp>
        <p:nvSpPr>
          <p:cNvPr id="8" name="Text 6"/>
          <p:cNvSpPr/>
          <p:nvPr/>
        </p:nvSpPr>
        <p:spPr>
          <a:xfrm>
            <a:off x="3840480" y="2606040"/>
            <a:ext cx="457200" cy="457200"/>
          </a:xfrm>
          <a:prstGeom prst="rect">
            <a:avLst/>
          </a:prstGeom>
          <a:noFill/>
          <a:ln/>
        </p:spPr>
        <p:txBody>
          <a:bodyPr wrap="square" rtlCol="0" anchor="ctr"/>
          <a:lstStyle/>
          <a:p>
            <a:pPr algn="ctr" indent="0" marL="0">
              <a:buNone/>
            </a:pPr>
            <a:r>
              <a:rPr lang="en-US" sz="2200" dirty="0">
                <a:solidFill>
                  <a:srgbClr val="48EFCF"/>
                </a:solidFill>
                <a:latin typeface="Inter" pitchFamily="34" charset="0"/>
                <a:ea typeface="Inter" pitchFamily="34" charset="-122"/>
                <a:cs typeface="Inter" pitchFamily="34" charset="-120"/>
              </a:rPr>
              <a:t>→</a:t>
            </a:r>
            <a:endParaRPr lang="en-US" sz="2200" dirty="0"/>
          </a:p>
        </p:txBody>
      </p:sp>
      <p:sp>
        <p:nvSpPr>
          <p:cNvPr id="9" name="Shape 7"/>
          <p:cNvSpPr/>
          <p:nvPr/>
        </p:nvSpPr>
        <p:spPr>
          <a:xfrm>
            <a:off x="4389120" y="2286000"/>
            <a:ext cx="3200400" cy="1097280"/>
          </a:xfrm>
          <a:prstGeom prst="roundRect">
            <a:avLst>
              <a:gd name="adj" fmla="val 8333"/>
            </a:avLst>
          </a:prstGeom>
          <a:solidFill>
            <a:srgbClr val="F5F7FA"/>
          </a:solidFill>
          <a:ln w="19050">
            <a:solidFill>
              <a:srgbClr val="101C3F"/>
            </a:solidFill>
            <a:prstDash val="solid"/>
          </a:ln>
        </p:spPr>
      </p:sp>
      <p:sp>
        <p:nvSpPr>
          <p:cNvPr id="10" name="Text 8"/>
          <p:cNvSpPr/>
          <p:nvPr/>
        </p:nvSpPr>
        <p:spPr>
          <a:xfrm>
            <a:off x="4389120" y="2377440"/>
            <a:ext cx="3200400" cy="36576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COLLECTION</a:t>
            </a:r>
            <a:endParaRPr lang="en-US" sz="1400" dirty="0"/>
          </a:p>
        </p:txBody>
      </p:sp>
      <p:sp>
        <p:nvSpPr>
          <p:cNvPr id="11" name="Text 9"/>
          <p:cNvSpPr/>
          <p:nvPr/>
        </p:nvSpPr>
        <p:spPr>
          <a:xfrm>
            <a:off x="4389120" y="2834640"/>
            <a:ext cx="3200400" cy="457200"/>
          </a:xfrm>
          <a:prstGeom prst="rect">
            <a:avLst/>
          </a:prstGeom>
          <a:noFill/>
          <a:ln/>
        </p:spPr>
        <p:txBody>
          <a:bodyPr wrap="square" rtlCol="0" anchor="ctr"/>
          <a:lstStyle/>
          <a:p>
            <a:pPr algn="ctr" indent="0" marL="0">
              <a:buNone/>
            </a:pPr>
            <a:r>
              <a:rPr lang="en-US" sz="1000" dirty="0">
                <a:solidFill>
                  <a:srgbClr val="343741"/>
                </a:solidFill>
                <a:latin typeface="Inter" pitchFamily="34" charset="0"/>
                <a:ea typeface="Inter" pitchFamily="34" charset="-122"/>
                <a:cs typeface="Inter" pitchFamily="34" charset="-120"/>
              </a:rPr>
              <a:t>Elastic Agent + OTel Collector + any forwarder</a:t>
            </a:r>
            <a:endParaRPr lang="en-US" sz="1000" dirty="0"/>
          </a:p>
        </p:txBody>
      </p:sp>
      <p:sp>
        <p:nvSpPr>
          <p:cNvPr id="12" name="Text 10"/>
          <p:cNvSpPr/>
          <p:nvPr/>
        </p:nvSpPr>
        <p:spPr>
          <a:xfrm>
            <a:off x="7772400" y="2606040"/>
            <a:ext cx="457200" cy="457200"/>
          </a:xfrm>
          <a:prstGeom prst="rect">
            <a:avLst/>
          </a:prstGeom>
          <a:noFill/>
          <a:ln/>
        </p:spPr>
        <p:txBody>
          <a:bodyPr wrap="square" rtlCol="0" anchor="ctr"/>
          <a:lstStyle/>
          <a:p>
            <a:pPr algn="ctr" indent="0" marL="0">
              <a:buNone/>
            </a:pPr>
            <a:r>
              <a:rPr lang="en-US" sz="2200" dirty="0">
                <a:solidFill>
                  <a:srgbClr val="48EFCF"/>
                </a:solidFill>
                <a:latin typeface="Inter" pitchFamily="34" charset="0"/>
                <a:ea typeface="Inter" pitchFamily="34" charset="-122"/>
                <a:cs typeface="Inter" pitchFamily="34" charset="-120"/>
              </a:rPr>
              <a:t>→</a:t>
            </a:r>
            <a:endParaRPr lang="en-US" sz="2200" dirty="0"/>
          </a:p>
        </p:txBody>
      </p:sp>
      <p:sp>
        <p:nvSpPr>
          <p:cNvPr id="13" name="Shape 11"/>
          <p:cNvSpPr/>
          <p:nvPr/>
        </p:nvSpPr>
        <p:spPr>
          <a:xfrm>
            <a:off x="8321040" y="2286000"/>
            <a:ext cx="3200400" cy="1097280"/>
          </a:xfrm>
          <a:prstGeom prst="roundRect">
            <a:avLst>
              <a:gd name="adj" fmla="val 8333"/>
            </a:avLst>
          </a:prstGeom>
          <a:solidFill>
            <a:srgbClr val="F5F7FA"/>
          </a:solidFill>
          <a:ln w="19050">
            <a:solidFill>
              <a:srgbClr val="101C3F"/>
            </a:solidFill>
            <a:prstDash val="solid"/>
          </a:ln>
        </p:spPr>
      </p:sp>
      <p:sp>
        <p:nvSpPr>
          <p:cNvPr id="14" name="Text 12"/>
          <p:cNvSpPr/>
          <p:nvPr/>
        </p:nvSpPr>
        <p:spPr>
          <a:xfrm>
            <a:off x="8321040" y="2377440"/>
            <a:ext cx="3200400" cy="36576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NORMALISATION</a:t>
            </a:r>
            <a:endParaRPr lang="en-US" sz="1400" dirty="0"/>
          </a:p>
        </p:txBody>
      </p:sp>
      <p:sp>
        <p:nvSpPr>
          <p:cNvPr id="15" name="Text 13"/>
          <p:cNvSpPr/>
          <p:nvPr/>
        </p:nvSpPr>
        <p:spPr>
          <a:xfrm>
            <a:off x="8321040" y="2834640"/>
            <a:ext cx="3200400" cy="457200"/>
          </a:xfrm>
          <a:prstGeom prst="rect">
            <a:avLst/>
          </a:prstGeom>
          <a:noFill/>
          <a:ln/>
        </p:spPr>
        <p:txBody>
          <a:bodyPr wrap="square" rtlCol="0" anchor="ctr"/>
          <a:lstStyle/>
          <a:p>
            <a:pPr algn="ctr" indent="0" marL="0">
              <a:buNone/>
            </a:pPr>
            <a:r>
              <a:rPr lang="en-US" sz="1000" dirty="0">
                <a:solidFill>
                  <a:srgbClr val="343741"/>
                </a:solidFill>
                <a:latin typeface="Inter" pitchFamily="34" charset="0"/>
                <a:ea typeface="Inter" pitchFamily="34" charset="-122"/>
                <a:cs typeface="Inter" pitchFamily="34" charset="-120"/>
              </a:rPr>
              <a:t>ECS + OTel SemConv — unified schema for all data</a:t>
            </a:r>
            <a:endParaRPr lang="en-US" sz="1000" dirty="0"/>
          </a:p>
        </p:txBody>
      </p:sp>
      <p:sp>
        <p:nvSpPr>
          <p:cNvPr id="16" name="Text 14"/>
          <p:cNvSpPr/>
          <p:nvPr/>
        </p:nvSpPr>
        <p:spPr>
          <a:xfrm>
            <a:off x="5852160" y="3566160"/>
            <a:ext cx="457200" cy="457200"/>
          </a:xfrm>
          <a:prstGeom prst="rect">
            <a:avLst/>
          </a:prstGeom>
          <a:noFill/>
          <a:ln/>
        </p:spPr>
        <p:txBody>
          <a:bodyPr wrap="square" rtlCol="0" anchor="ctr"/>
          <a:lstStyle/>
          <a:p>
            <a:pPr algn="ctr" indent="0" marL="0">
              <a:buNone/>
            </a:pPr>
            <a:r>
              <a:rPr lang="en-US" sz="2200" dirty="0">
                <a:solidFill>
                  <a:srgbClr val="48EFCF"/>
                </a:solidFill>
                <a:latin typeface="Inter" pitchFamily="34" charset="0"/>
                <a:ea typeface="Inter" pitchFamily="34" charset="-122"/>
                <a:cs typeface="Inter" pitchFamily="34" charset="-120"/>
              </a:rPr>
              <a:t>↓</a:t>
            </a:r>
            <a:endParaRPr lang="en-US" sz="2200" dirty="0"/>
          </a:p>
        </p:txBody>
      </p:sp>
      <p:sp>
        <p:nvSpPr>
          <p:cNvPr id="17" name="Shape 15"/>
          <p:cNvSpPr/>
          <p:nvPr/>
        </p:nvSpPr>
        <p:spPr>
          <a:xfrm>
            <a:off x="1828800" y="4114800"/>
            <a:ext cx="4114800" cy="1828800"/>
          </a:xfrm>
          <a:prstGeom prst="roundRect">
            <a:avLst>
              <a:gd name="adj" fmla="val 5000"/>
            </a:avLst>
          </a:prstGeom>
          <a:solidFill>
            <a:srgbClr val="F5F7FA"/>
          </a:solidFill>
          <a:ln w="19050">
            <a:solidFill>
              <a:srgbClr val="101C3F"/>
            </a:solidFill>
            <a:prstDash val="solid"/>
          </a:ln>
        </p:spPr>
      </p:sp>
      <p:sp>
        <p:nvSpPr>
          <p:cNvPr id="18" name="Text 16"/>
          <p:cNvSpPr/>
          <p:nvPr/>
        </p:nvSpPr>
        <p:spPr>
          <a:xfrm>
            <a:off x="1828800" y="4206240"/>
            <a:ext cx="4114800" cy="365760"/>
          </a:xfrm>
          <a:prstGeom prst="rect">
            <a:avLst/>
          </a:prstGeom>
          <a:noFill/>
          <a:ln/>
        </p:spPr>
        <p:txBody>
          <a:bodyPr wrap="square" rtlCol="0" anchor="ctr"/>
          <a:lstStyle/>
          <a:p>
            <a:pPr algn="ctr" indent="0" marL="0">
              <a:buNone/>
            </a:pPr>
            <a:r>
              <a:rPr lang="en-US" sz="1600" b="1" dirty="0">
                <a:solidFill>
                  <a:srgbClr val="F04E98"/>
                </a:solidFill>
                <a:latin typeface="Inter" pitchFamily="34" charset="0"/>
                <a:ea typeface="Inter" pitchFamily="34" charset="-122"/>
                <a:cs typeface="Inter" pitchFamily="34" charset="-120"/>
              </a:rPr>
              <a:t>Observability Apps</a:t>
            </a:r>
            <a:endParaRPr lang="en-US" sz="1600" dirty="0"/>
          </a:p>
        </p:txBody>
      </p:sp>
      <p:sp>
        <p:nvSpPr>
          <p:cNvPr id="19" name="Text 17"/>
          <p:cNvSpPr/>
          <p:nvPr/>
        </p:nvSpPr>
        <p:spPr>
          <a:xfrm>
            <a:off x="2011680" y="4663440"/>
            <a:ext cx="3749040" cy="1097280"/>
          </a:xfrm>
          <a:prstGeom prst="rect">
            <a:avLst/>
          </a:prstGeom>
          <a:noFill/>
          <a:ln/>
        </p:spPr>
        <p:txBody>
          <a:bodyPr wrap="square" rtlCol="0" anchor="ctr"/>
          <a:lstStyle/>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APM · Infrastructure · Logs · RUM</a:t>
            </a:r>
            <a:endParaRPr lang="en-US" sz="1100" dirty="0"/>
          </a:p>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Synthetics · AIOps · Profiling</a:t>
            </a:r>
            <a:endParaRPr lang="en-US" sz="1100" dirty="0"/>
          </a:p>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LLM Observability</a:t>
            </a:r>
            <a:endParaRPr lang="en-US" sz="1100" dirty="0"/>
          </a:p>
        </p:txBody>
      </p:sp>
      <p:sp>
        <p:nvSpPr>
          <p:cNvPr id="20" name="Shape 18"/>
          <p:cNvSpPr/>
          <p:nvPr/>
        </p:nvSpPr>
        <p:spPr>
          <a:xfrm>
            <a:off x="6400800" y="4114800"/>
            <a:ext cx="4114800" cy="1828800"/>
          </a:xfrm>
          <a:prstGeom prst="roundRect">
            <a:avLst>
              <a:gd name="adj" fmla="val 5000"/>
            </a:avLst>
          </a:prstGeom>
          <a:solidFill>
            <a:srgbClr val="F5F7FA"/>
          </a:solidFill>
          <a:ln w="19050">
            <a:solidFill>
              <a:srgbClr val="101C3F"/>
            </a:solidFill>
            <a:prstDash val="solid"/>
          </a:ln>
        </p:spPr>
      </p:sp>
      <p:sp>
        <p:nvSpPr>
          <p:cNvPr id="21" name="Text 19"/>
          <p:cNvSpPr/>
          <p:nvPr/>
        </p:nvSpPr>
        <p:spPr>
          <a:xfrm>
            <a:off x="6400800" y="4206240"/>
            <a:ext cx="4114800" cy="365760"/>
          </a:xfrm>
          <a:prstGeom prst="rect">
            <a:avLst/>
          </a:prstGeom>
          <a:noFill/>
          <a:ln/>
        </p:spPr>
        <p:txBody>
          <a:bodyPr wrap="square" rtlCol="0" anchor="ctr"/>
          <a:lstStyle/>
          <a:p>
            <a:pPr algn="ctr" indent="0" marL="0">
              <a:buNone/>
            </a:pPr>
            <a:r>
              <a:rPr lang="en-US" sz="1600" b="1" dirty="0">
                <a:solidFill>
                  <a:srgbClr val="FA744E"/>
                </a:solidFill>
                <a:latin typeface="Inter" pitchFamily="34" charset="0"/>
                <a:ea typeface="Inter" pitchFamily="34" charset="-122"/>
                <a:cs typeface="Inter" pitchFamily="34" charset="-120"/>
              </a:rPr>
              <a:t>Security Apps</a:t>
            </a:r>
            <a:endParaRPr lang="en-US" sz="1600" dirty="0"/>
          </a:p>
        </p:txBody>
      </p:sp>
      <p:sp>
        <p:nvSpPr>
          <p:cNvPr id="22" name="Text 20"/>
          <p:cNvSpPr/>
          <p:nvPr/>
        </p:nvSpPr>
        <p:spPr>
          <a:xfrm>
            <a:off x="6583680" y="4663440"/>
            <a:ext cx="3749040" cy="1097280"/>
          </a:xfrm>
          <a:prstGeom prst="rect">
            <a:avLst/>
          </a:prstGeom>
          <a:noFill/>
          <a:ln/>
        </p:spPr>
        <p:txBody>
          <a:bodyPr wrap="square" rtlCol="0" anchor="ctr"/>
          <a:lstStyle/>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SIEM · Endpoint · XDR · CSPM</a:t>
            </a:r>
            <a:endParaRPr lang="en-US" sz="1100" dirty="0"/>
          </a:p>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Detection Rules · Threat Hunting</a:t>
            </a:r>
            <a:endParaRPr lang="en-US" sz="1100" dirty="0"/>
          </a:p>
          <a:p>
            <a:pPr algn="ctr" indent="0" marL="0">
              <a:lnSpc>
                <a:spcPct val="160000"/>
              </a:lnSpc>
              <a:buNone/>
            </a:pPr>
            <a:r>
              <a:rPr lang="en-US" sz="1100" dirty="0">
                <a:solidFill>
                  <a:srgbClr val="343741"/>
                </a:solidFill>
                <a:latin typeface="Inter" pitchFamily="34" charset="0"/>
                <a:ea typeface="Inter" pitchFamily="34" charset="-122"/>
                <a:cs typeface="Inter" pitchFamily="34" charset="-120"/>
              </a:rPr>
              <a:t>Cases · Timeline</a:t>
            </a:r>
            <a:endParaRPr lang="en-US" sz="1100" dirty="0"/>
          </a:p>
        </p:txBody>
      </p:sp>
      <p:sp>
        <p:nvSpPr>
          <p:cNvPr id="23" name="Text 21"/>
          <p:cNvSpPr/>
          <p:nvPr/>
        </p:nvSpPr>
        <p:spPr>
          <a:xfrm>
            <a:off x="6089904" y="3931920"/>
            <a:ext cx="0" cy="0"/>
          </a:xfrm>
          <a:prstGeom prst="rect">
            <a:avLst/>
          </a:prstGeom>
          <a:noFill/>
          <a:ln/>
        </p:spPr>
        <p:txBody>
          <a:bodyPr wrap="square" rtlCol="0" anchor="ctr"/>
          <a:lstStyle>
            <a:lvl1pPr algn="l"/>
          </a:lstStyle>
          <a:p>
            <a:pPr algn="ctr" indent="0" marL="0">
              <a:buNone/>
            </a:pPr>
            <a:r>
              <a:rPr lang="en-US" dirty="0">
                <a:solidFill>
                  <a:srgbClr val="FFFFFF"/>
                </a:solidFill>
                <a:latin typeface="Inter" pitchFamily="34" charset="0"/>
                <a:ea typeface="Inter" pitchFamily="34" charset="-122"/>
                <a:cs typeface="Inter" pitchFamily="34" charset="-120"/>
              </a:rPr>
              <a:t>← shared Elasticsearch indices →</a:t>
            </a:r>
            <a:endParaRPr lang="en-US" dirty="0"/>
          </a:p>
        </p:txBody>
      </p:sp>
      <p:sp>
        <p:nvSpPr>
          <p:cNvPr id="24" name="Shape 22"/>
          <p:cNvSpPr/>
          <p:nvPr/>
        </p:nvSpPr>
        <p:spPr>
          <a:xfrm>
            <a:off x="1828800" y="3950208"/>
            <a:ext cx="8686800" cy="36576"/>
          </a:xfrm>
          <a:prstGeom prst="rect">
            <a:avLst/>
          </a:prstGeom>
          <a:solidFill>
            <a:srgbClr val="48EFCF"/>
          </a:solidFill>
          <a:ln/>
        </p:spPr>
      </p:sp>
      <p:sp>
        <p:nvSpPr>
          <p:cNvPr id="25" name="Text 23"/>
          <p:cNvSpPr/>
          <p:nvPr/>
        </p:nvSpPr>
        <p:spPr>
          <a:xfrm>
            <a:off x="1920240" y="3886200"/>
            <a:ext cx="8503920" cy="274320"/>
          </a:xfrm>
          <a:prstGeom prst="rect">
            <a:avLst/>
          </a:prstGeom>
          <a:noFill/>
          <a:ln/>
        </p:spPr>
        <p:txBody>
          <a:bodyPr wrap="square" rtlCol="0" anchor="ctr"/>
          <a:lstStyle/>
          <a:p>
            <a:pPr algn="ctr" indent="0" marL="0">
              <a:buNone/>
            </a:pPr>
            <a:r>
              <a:rPr lang="en-US" sz="1000" i="1" dirty="0">
                <a:solidFill>
                  <a:srgbClr val="343741"/>
                </a:solidFill>
                <a:latin typeface="Inter" pitchFamily="34" charset="0"/>
                <a:ea typeface="Inter" pitchFamily="34" charset="-122"/>
                <a:cs typeface="Inter" pitchFamily="34" charset="-120"/>
              </a:rPr>
              <a:t>Both O11y and Security apps query the same Elasticsearch data — separated by Kibana spaces and index permissions, unified by ECS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Four Pillars of Modern Observability</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Each telemetry pillar serves both O11y and Security use cases — the data is the same, the questions differ</a:t>
            </a:r>
            <a:endParaRPr lang="en-US" sz="1400" dirty="0"/>
          </a:p>
        </p:txBody>
      </p:sp>
      <p:sp>
        <p:nvSpPr>
          <p:cNvPr id="5" name="Shape 3"/>
          <p:cNvSpPr/>
          <p:nvPr/>
        </p:nvSpPr>
        <p:spPr>
          <a:xfrm>
            <a:off x="457200" y="2286000"/>
            <a:ext cx="2743200" cy="3840480"/>
          </a:xfrm>
          <a:prstGeom prst="roundRect">
            <a:avLst>
              <a:gd name="adj" fmla="val 3333"/>
            </a:avLst>
          </a:prstGeom>
          <a:solidFill>
            <a:srgbClr val="F5F7FA"/>
          </a:solidFill>
          <a:ln w="19050">
            <a:solidFill>
              <a:srgbClr val="101C3F"/>
            </a:solidFill>
            <a:prstDash val="solid"/>
          </a:ln>
        </p:spPr>
      </p:sp>
      <p:sp>
        <p:nvSpPr>
          <p:cNvPr id="6" name="Text 4"/>
          <p:cNvSpPr/>
          <p:nvPr/>
        </p:nvSpPr>
        <p:spPr>
          <a:xfrm>
            <a:off x="640080" y="2468880"/>
            <a:ext cx="237744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Logs</a:t>
            </a:r>
            <a:endParaRPr lang="en-US" sz="1800" dirty="0"/>
          </a:p>
        </p:txBody>
      </p:sp>
      <p:sp>
        <p:nvSpPr>
          <p:cNvPr id="7" name="Shape 5"/>
          <p:cNvSpPr/>
          <p:nvPr/>
        </p:nvSpPr>
        <p:spPr>
          <a:xfrm>
            <a:off x="822960" y="2880360"/>
            <a:ext cx="2011680" cy="27432"/>
          </a:xfrm>
          <a:prstGeom prst="rect">
            <a:avLst/>
          </a:prstGeom>
          <a:solidFill>
            <a:srgbClr val="48EFCF"/>
          </a:solidFill>
          <a:ln/>
        </p:spPr>
      </p:sp>
      <p:sp>
        <p:nvSpPr>
          <p:cNvPr id="8" name="Text 6"/>
          <p:cNvSpPr/>
          <p:nvPr/>
        </p:nvSpPr>
        <p:spPr>
          <a:xfrm>
            <a:off x="640080" y="3017520"/>
            <a:ext cx="2377440" cy="274320"/>
          </a:xfrm>
          <a:prstGeom prst="rect">
            <a:avLst/>
          </a:prstGeom>
          <a:noFill/>
          <a:ln/>
        </p:spPr>
        <p:txBody>
          <a:bodyPr wrap="square" rtlCol="0" anchor="ctr"/>
          <a:lstStyle/>
          <a:p>
            <a:pPr algn="ctr" indent="0" marL="0">
              <a:buNone/>
            </a:pPr>
            <a:r>
              <a:rPr lang="en-US" sz="1100" b="1" dirty="0">
                <a:solidFill>
                  <a:srgbClr val="343741"/>
                </a:solidFill>
                <a:latin typeface="Inter" pitchFamily="34" charset="0"/>
                <a:ea typeface="Inter" pitchFamily="34" charset="-122"/>
                <a:cs typeface="Inter" pitchFamily="34" charset="-120"/>
              </a:rPr>
              <a:t>The 'why' signal</a:t>
            </a:r>
            <a:endParaRPr lang="en-US" sz="1100" dirty="0"/>
          </a:p>
        </p:txBody>
      </p:sp>
      <p:sp>
        <p:nvSpPr>
          <p:cNvPr id="9" name="Text 7"/>
          <p:cNvSpPr/>
          <p:nvPr/>
        </p:nvSpPr>
        <p:spPr>
          <a:xfrm>
            <a:off x="640080" y="3383280"/>
            <a:ext cx="2377440" cy="2286000"/>
          </a:xfrm>
          <a:prstGeom prst="rect">
            <a:avLst/>
          </a:prstGeom>
          <a:noFill/>
          <a:ln/>
        </p:spPr>
        <p:txBody>
          <a:bodyPr wrap="square" rtlCol="0" anchor="ctr"/>
          <a:lstStyle/>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O11y: Root cause analysis, error investigation, audit trails</a:t>
            </a:r>
            <a:endParaRPr lang="en-US" sz="1000" dirty="0"/>
          </a:p>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Security: Threat detection, forensic investigation, compliance</a:t>
            </a:r>
            <a:endParaRPr lang="en-US" sz="1000" dirty="0"/>
          </a:p>
        </p:txBody>
      </p:sp>
      <p:sp>
        <p:nvSpPr>
          <p:cNvPr id="10" name="Shape 8"/>
          <p:cNvSpPr/>
          <p:nvPr/>
        </p:nvSpPr>
        <p:spPr>
          <a:xfrm>
            <a:off x="3474720" y="2286000"/>
            <a:ext cx="2743200" cy="3840480"/>
          </a:xfrm>
          <a:prstGeom prst="roundRect">
            <a:avLst>
              <a:gd name="adj" fmla="val 3333"/>
            </a:avLst>
          </a:prstGeom>
          <a:solidFill>
            <a:srgbClr val="F5F7FA"/>
          </a:solidFill>
          <a:ln w="19050">
            <a:solidFill>
              <a:srgbClr val="101C3F"/>
            </a:solidFill>
            <a:prstDash val="solid"/>
          </a:ln>
        </p:spPr>
      </p:sp>
      <p:sp>
        <p:nvSpPr>
          <p:cNvPr id="11" name="Text 9"/>
          <p:cNvSpPr/>
          <p:nvPr/>
        </p:nvSpPr>
        <p:spPr>
          <a:xfrm>
            <a:off x="3657600" y="2468880"/>
            <a:ext cx="237744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Metrics</a:t>
            </a:r>
            <a:endParaRPr lang="en-US" sz="1800" dirty="0"/>
          </a:p>
        </p:txBody>
      </p:sp>
      <p:sp>
        <p:nvSpPr>
          <p:cNvPr id="12" name="Shape 10"/>
          <p:cNvSpPr/>
          <p:nvPr/>
        </p:nvSpPr>
        <p:spPr>
          <a:xfrm>
            <a:off x="3840480" y="2880360"/>
            <a:ext cx="2011680" cy="27432"/>
          </a:xfrm>
          <a:prstGeom prst="rect">
            <a:avLst/>
          </a:prstGeom>
          <a:solidFill>
            <a:srgbClr val="48EFCF"/>
          </a:solidFill>
          <a:ln/>
        </p:spPr>
      </p:sp>
      <p:sp>
        <p:nvSpPr>
          <p:cNvPr id="13" name="Text 11"/>
          <p:cNvSpPr/>
          <p:nvPr/>
        </p:nvSpPr>
        <p:spPr>
          <a:xfrm>
            <a:off x="3657600" y="3017520"/>
            <a:ext cx="2377440" cy="274320"/>
          </a:xfrm>
          <a:prstGeom prst="rect">
            <a:avLst/>
          </a:prstGeom>
          <a:noFill/>
          <a:ln/>
        </p:spPr>
        <p:txBody>
          <a:bodyPr wrap="square" rtlCol="0" anchor="ctr"/>
          <a:lstStyle/>
          <a:p>
            <a:pPr algn="ctr" indent="0" marL="0">
              <a:buNone/>
            </a:pPr>
            <a:r>
              <a:rPr lang="en-US" sz="1100" b="1" dirty="0">
                <a:solidFill>
                  <a:srgbClr val="343741"/>
                </a:solidFill>
                <a:latin typeface="Inter" pitchFamily="34" charset="0"/>
                <a:ea typeface="Inter" pitchFamily="34" charset="-122"/>
                <a:cs typeface="Inter" pitchFamily="34" charset="-120"/>
              </a:rPr>
              <a:t>The 'what' signal</a:t>
            </a:r>
            <a:endParaRPr lang="en-US" sz="1100" dirty="0"/>
          </a:p>
        </p:txBody>
      </p:sp>
      <p:sp>
        <p:nvSpPr>
          <p:cNvPr id="14" name="Text 12"/>
          <p:cNvSpPr/>
          <p:nvPr/>
        </p:nvSpPr>
        <p:spPr>
          <a:xfrm>
            <a:off x="3657600" y="3383280"/>
            <a:ext cx="2377440" cy="2286000"/>
          </a:xfrm>
          <a:prstGeom prst="rect">
            <a:avLst/>
          </a:prstGeom>
          <a:noFill/>
          <a:ln/>
        </p:spPr>
        <p:txBody>
          <a:bodyPr wrap="square" rtlCol="0" anchor="ctr"/>
          <a:lstStyle/>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O11y: CPU, memory, latency, throughput, SLOs</a:t>
            </a:r>
            <a:endParaRPr lang="en-US" sz="1000" dirty="0"/>
          </a:p>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Security: Anomaly baselines, DoS indicators, resource abuse patterns</a:t>
            </a:r>
            <a:endParaRPr lang="en-US" sz="1000" dirty="0"/>
          </a:p>
        </p:txBody>
      </p:sp>
      <p:sp>
        <p:nvSpPr>
          <p:cNvPr id="15" name="Shape 13"/>
          <p:cNvSpPr/>
          <p:nvPr/>
        </p:nvSpPr>
        <p:spPr>
          <a:xfrm>
            <a:off x="6492240" y="2286000"/>
            <a:ext cx="2743200" cy="3840480"/>
          </a:xfrm>
          <a:prstGeom prst="roundRect">
            <a:avLst>
              <a:gd name="adj" fmla="val 3333"/>
            </a:avLst>
          </a:prstGeom>
          <a:solidFill>
            <a:srgbClr val="F5F7FA"/>
          </a:solidFill>
          <a:ln w="19050">
            <a:solidFill>
              <a:srgbClr val="101C3F"/>
            </a:solidFill>
            <a:prstDash val="solid"/>
          </a:ln>
        </p:spPr>
      </p:sp>
      <p:sp>
        <p:nvSpPr>
          <p:cNvPr id="16" name="Text 14"/>
          <p:cNvSpPr/>
          <p:nvPr/>
        </p:nvSpPr>
        <p:spPr>
          <a:xfrm>
            <a:off x="6675120" y="2468880"/>
            <a:ext cx="237744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Traces</a:t>
            </a:r>
            <a:endParaRPr lang="en-US" sz="1800" dirty="0"/>
          </a:p>
        </p:txBody>
      </p:sp>
      <p:sp>
        <p:nvSpPr>
          <p:cNvPr id="17" name="Shape 15"/>
          <p:cNvSpPr/>
          <p:nvPr/>
        </p:nvSpPr>
        <p:spPr>
          <a:xfrm>
            <a:off x="6858000" y="2880360"/>
            <a:ext cx="2011680" cy="27432"/>
          </a:xfrm>
          <a:prstGeom prst="rect">
            <a:avLst/>
          </a:prstGeom>
          <a:solidFill>
            <a:srgbClr val="48EFCF"/>
          </a:solidFill>
          <a:ln/>
        </p:spPr>
      </p:sp>
      <p:sp>
        <p:nvSpPr>
          <p:cNvPr id="18" name="Text 16"/>
          <p:cNvSpPr/>
          <p:nvPr/>
        </p:nvSpPr>
        <p:spPr>
          <a:xfrm>
            <a:off x="6675120" y="3017520"/>
            <a:ext cx="2377440" cy="274320"/>
          </a:xfrm>
          <a:prstGeom prst="rect">
            <a:avLst/>
          </a:prstGeom>
          <a:noFill/>
          <a:ln/>
        </p:spPr>
        <p:txBody>
          <a:bodyPr wrap="square" rtlCol="0" anchor="ctr"/>
          <a:lstStyle/>
          <a:p>
            <a:pPr algn="ctr" indent="0" marL="0">
              <a:buNone/>
            </a:pPr>
            <a:r>
              <a:rPr lang="en-US" sz="1100" b="1" dirty="0">
                <a:solidFill>
                  <a:srgbClr val="343741"/>
                </a:solidFill>
                <a:latin typeface="Inter" pitchFamily="34" charset="0"/>
                <a:ea typeface="Inter" pitchFamily="34" charset="-122"/>
                <a:cs typeface="Inter" pitchFamily="34" charset="-120"/>
              </a:rPr>
              <a:t>The 'where' signal</a:t>
            </a:r>
            <a:endParaRPr lang="en-US" sz="1100" dirty="0"/>
          </a:p>
        </p:txBody>
      </p:sp>
      <p:sp>
        <p:nvSpPr>
          <p:cNvPr id="19" name="Text 17"/>
          <p:cNvSpPr/>
          <p:nvPr/>
        </p:nvSpPr>
        <p:spPr>
          <a:xfrm>
            <a:off x="6675120" y="3383280"/>
            <a:ext cx="2377440" cy="2286000"/>
          </a:xfrm>
          <a:prstGeom prst="rect">
            <a:avLst/>
          </a:prstGeom>
          <a:noFill/>
          <a:ln/>
        </p:spPr>
        <p:txBody>
          <a:bodyPr wrap="square" rtlCol="0" anchor="ctr"/>
          <a:lstStyle/>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O11y: Request flows, latency bottlenecks, service dependencies</a:t>
            </a:r>
            <a:endParaRPr lang="en-US" sz="1000" dirty="0"/>
          </a:p>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Security: Attack path tracing, lateral movement detection, API abuse</a:t>
            </a:r>
            <a:endParaRPr lang="en-US" sz="1000" dirty="0"/>
          </a:p>
        </p:txBody>
      </p:sp>
      <p:sp>
        <p:nvSpPr>
          <p:cNvPr id="20" name="Shape 18"/>
          <p:cNvSpPr/>
          <p:nvPr/>
        </p:nvSpPr>
        <p:spPr>
          <a:xfrm>
            <a:off x="9509760" y="2286000"/>
            <a:ext cx="2286000" cy="3840480"/>
          </a:xfrm>
          <a:prstGeom prst="roundRect">
            <a:avLst>
              <a:gd name="adj" fmla="val 4000"/>
            </a:avLst>
          </a:prstGeom>
          <a:solidFill>
            <a:srgbClr val="F5F7FA"/>
          </a:solidFill>
          <a:ln w="19050">
            <a:solidFill>
              <a:srgbClr val="101C3F"/>
            </a:solidFill>
            <a:prstDash val="solid"/>
          </a:ln>
        </p:spPr>
      </p:sp>
      <p:sp>
        <p:nvSpPr>
          <p:cNvPr id="21" name="Text 19"/>
          <p:cNvSpPr/>
          <p:nvPr/>
        </p:nvSpPr>
        <p:spPr>
          <a:xfrm>
            <a:off x="9692640" y="2468880"/>
            <a:ext cx="192024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Profiles</a:t>
            </a:r>
            <a:endParaRPr lang="en-US" sz="1800" dirty="0"/>
          </a:p>
        </p:txBody>
      </p:sp>
      <p:sp>
        <p:nvSpPr>
          <p:cNvPr id="22" name="Shape 20"/>
          <p:cNvSpPr/>
          <p:nvPr/>
        </p:nvSpPr>
        <p:spPr>
          <a:xfrm>
            <a:off x="9875520" y="2880360"/>
            <a:ext cx="1554480" cy="27432"/>
          </a:xfrm>
          <a:prstGeom prst="rect">
            <a:avLst/>
          </a:prstGeom>
          <a:solidFill>
            <a:srgbClr val="48EFCF"/>
          </a:solidFill>
          <a:ln/>
        </p:spPr>
      </p:sp>
      <p:sp>
        <p:nvSpPr>
          <p:cNvPr id="23" name="Text 21"/>
          <p:cNvSpPr/>
          <p:nvPr/>
        </p:nvSpPr>
        <p:spPr>
          <a:xfrm>
            <a:off x="9692640" y="3017520"/>
            <a:ext cx="1920240" cy="274320"/>
          </a:xfrm>
          <a:prstGeom prst="rect">
            <a:avLst/>
          </a:prstGeom>
          <a:noFill/>
          <a:ln/>
        </p:spPr>
        <p:txBody>
          <a:bodyPr wrap="square" rtlCol="0" anchor="ctr"/>
          <a:lstStyle/>
          <a:p>
            <a:pPr algn="ctr" indent="0" marL="0">
              <a:buNone/>
            </a:pPr>
            <a:r>
              <a:rPr lang="en-US" sz="1000" b="1" dirty="0">
                <a:solidFill>
                  <a:srgbClr val="343741"/>
                </a:solidFill>
                <a:latin typeface="Inter" pitchFamily="34" charset="0"/>
                <a:ea typeface="Inter" pitchFamily="34" charset="-122"/>
                <a:cs typeface="Inter" pitchFamily="34" charset="-120"/>
              </a:rPr>
              <a:t>The 'how much' signal</a:t>
            </a:r>
            <a:endParaRPr lang="en-US" sz="1000" dirty="0"/>
          </a:p>
        </p:txBody>
      </p:sp>
      <p:sp>
        <p:nvSpPr>
          <p:cNvPr id="24" name="Text 22"/>
          <p:cNvSpPr/>
          <p:nvPr/>
        </p:nvSpPr>
        <p:spPr>
          <a:xfrm>
            <a:off x="9692640" y="3383280"/>
            <a:ext cx="1920240" cy="2286000"/>
          </a:xfrm>
          <a:prstGeom prst="rect">
            <a:avLst/>
          </a:prstGeom>
          <a:noFill/>
          <a:ln/>
        </p:spPr>
        <p:txBody>
          <a:bodyPr wrap="square" rtlCol="0" anchor="ctr"/>
          <a:lstStyle/>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O11y: Code-level CPU optimisation, memory leaks</a:t>
            </a:r>
            <a:endParaRPr lang="en-US" sz="1000" dirty="0"/>
          </a:p>
          <a:p>
            <a:pPr algn="l" indent="0" marL="0">
              <a:lnSpc>
                <a:spcPct val="200000"/>
              </a:lnSpc>
              <a:buNone/>
            </a:pPr>
            <a:r>
              <a:rPr lang="en-US" sz="1000" dirty="0">
                <a:solidFill>
                  <a:srgbClr val="343741"/>
                </a:solidFill>
                <a:latin typeface="Inter" pitchFamily="34" charset="0"/>
                <a:ea typeface="Inter" pitchFamily="34" charset="-122"/>
                <a:cs typeface="Inter" pitchFamily="34" charset="-120"/>
              </a:rPr>
              <a:t>Security: Cryptomining detection, code injection, zero-day exploit patterns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Real-World Patterns</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Observability-driven security and security-informed operations</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000" b="1" dirty="0">
                <a:solidFill>
                  <a:srgbClr val="1C1E23"/>
                </a:solidFill>
                <a:latin typeface="Inter" pitchFamily="34" charset="0"/>
                <a:ea typeface="Inter" pitchFamily="34" charset="-122"/>
                <a:cs typeface="Inter" pitchFamily="34" charset="-120"/>
              </a:rPr>
              <a:t>Pattern 1: Observability-Driven Security</a:t>
            </a:r>
            <a:endParaRPr lang="en-US" sz="30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Using O11y data to detect, investigate, and respond to security threats in real time</a:t>
            </a:r>
            <a:endParaRPr lang="en-US" sz="1400" dirty="0"/>
          </a:p>
        </p:txBody>
      </p:sp>
      <p:sp>
        <p:nvSpPr>
          <p:cNvPr id="5" name="Shape 3"/>
          <p:cNvSpPr/>
          <p:nvPr/>
        </p:nvSpPr>
        <p:spPr>
          <a:xfrm>
            <a:off x="457200" y="2377440"/>
            <a:ext cx="11430000" cy="1005840"/>
          </a:xfrm>
          <a:prstGeom prst="roundRect">
            <a:avLst>
              <a:gd name="adj" fmla="val 9091"/>
            </a:avLst>
          </a:prstGeom>
          <a:solidFill>
            <a:srgbClr val="F5F7FA"/>
          </a:solidFill>
          <a:ln w="19050">
            <a:solidFill>
              <a:srgbClr val="101C3F"/>
            </a:solidFill>
            <a:prstDash val="solid"/>
          </a:ln>
        </p:spPr>
      </p:sp>
      <p:sp>
        <p:nvSpPr>
          <p:cNvPr id="6" name="Text 4"/>
          <p:cNvSpPr/>
          <p:nvPr/>
        </p:nvSpPr>
        <p:spPr>
          <a:xfrm>
            <a:off x="640080" y="2560320"/>
            <a:ext cx="1828800" cy="45720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1  Alert Fires</a:t>
            </a:r>
            <a:endParaRPr lang="en-US" sz="1600" dirty="0"/>
          </a:p>
        </p:txBody>
      </p:sp>
      <p:sp>
        <p:nvSpPr>
          <p:cNvPr id="7" name="Text 5"/>
          <p:cNvSpPr/>
          <p:nvPr/>
        </p:nvSpPr>
        <p:spPr>
          <a:xfrm>
            <a:off x="2560320" y="2560320"/>
            <a:ext cx="8686800" cy="45720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Unusual network traffic spike detected by O11y monitoring — potential DoS attack signal</a:t>
            </a:r>
            <a:endParaRPr lang="en-US" sz="1200" dirty="0"/>
          </a:p>
        </p:txBody>
      </p:sp>
      <p:sp>
        <p:nvSpPr>
          <p:cNvPr id="8" name="Text 6"/>
          <p:cNvSpPr/>
          <p:nvPr/>
        </p:nvSpPr>
        <p:spPr>
          <a:xfrm>
            <a:off x="5486400" y="3291840"/>
            <a:ext cx="914400" cy="457200"/>
          </a:xfrm>
          <a:prstGeom prst="rect">
            <a:avLst/>
          </a:prstGeom>
          <a:noFill/>
          <a:ln/>
        </p:spPr>
        <p:txBody>
          <a:bodyPr wrap="square" rtlCol="0" anchor="ctr"/>
          <a:lstStyle/>
          <a:p>
            <a:pPr algn="ctr" indent="0" marL="0">
              <a:buNone/>
            </a:pPr>
            <a:r>
              <a:rPr lang="en-US" sz="2000" dirty="0">
                <a:solidFill>
                  <a:srgbClr val="48EFCF"/>
                </a:solidFill>
                <a:latin typeface="Inter" pitchFamily="34" charset="0"/>
                <a:ea typeface="Inter" pitchFamily="34" charset="-122"/>
                <a:cs typeface="Inter" pitchFamily="34" charset="-120"/>
              </a:rPr>
              <a:t>→</a:t>
            </a:r>
            <a:endParaRPr lang="en-US" sz="2000" dirty="0"/>
          </a:p>
        </p:txBody>
      </p:sp>
      <p:sp>
        <p:nvSpPr>
          <p:cNvPr id="9" name="Shape 7"/>
          <p:cNvSpPr/>
          <p:nvPr/>
        </p:nvSpPr>
        <p:spPr>
          <a:xfrm>
            <a:off x="457200" y="3566160"/>
            <a:ext cx="11430000" cy="1005840"/>
          </a:xfrm>
          <a:prstGeom prst="roundRect">
            <a:avLst>
              <a:gd name="adj" fmla="val 9091"/>
            </a:avLst>
          </a:prstGeom>
          <a:solidFill>
            <a:srgbClr val="F5F7FA"/>
          </a:solidFill>
          <a:ln w="19050">
            <a:solidFill>
              <a:srgbClr val="101C3F"/>
            </a:solidFill>
            <a:prstDash val="solid"/>
          </a:ln>
        </p:spPr>
      </p:sp>
      <p:sp>
        <p:nvSpPr>
          <p:cNvPr id="10" name="Text 8"/>
          <p:cNvSpPr/>
          <p:nvPr/>
        </p:nvSpPr>
        <p:spPr>
          <a:xfrm>
            <a:off x="640080" y="3749040"/>
            <a:ext cx="2286000" cy="45720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2  Streams Auto-Parses Logs</a:t>
            </a:r>
            <a:endParaRPr lang="en-US" sz="1600" dirty="0"/>
          </a:p>
        </p:txBody>
      </p:sp>
      <p:sp>
        <p:nvSpPr>
          <p:cNvPr id="11" name="Text 9"/>
          <p:cNvSpPr/>
          <p:nvPr/>
        </p:nvSpPr>
        <p:spPr>
          <a:xfrm>
            <a:off x="3017520" y="3749040"/>
            <a:ext cx="8869680" cy="45720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AI structures raw network and application logs — surfaces significant events and error patterns</a:t>
            </a:r>
            <a:endParaRPr lang="en-US" sz="1200" dirty="0"/>
          </a:p>
        </p:txBody>
      </p:sp>
      <p:sp>
        <p:nvSpPr>
          <p:cNvPr id="12" name="Text 10"/>
          <p:cNvSpPr/>
          <p:nvPr/>
        </p:nvSpPr>
        <p:spPr>
          <a:xfrm>
            <a:off x="5486400" y="4480560"/>
            <a:ext cx="914400" cy="457200"/>
          </a:xfrm>
          <a:prstGeom prst="rect">
            <a:avLst/>
          </a:prstGeom>
          <a:noFill/>
          <a:ln/>
        </p:spPr>
        <p:txBody>
          <a:bodyPr wrap="square" rtlCol="0" anchor="ctr"/>
          <a:lstStyle/>
          <a:p>
            <a:pPr algn="ctr" indent="0" marL="0">
              <a:buNone/>
            </a:pPr>
            <a:r>
              <a:rPr lang="en-US" sz="2000" dirty="0">
                <a:solidFill>
                  <a:srgbClr val="48EFCF"/>
                </a:solidFill>
                <a:latin typeface="Inter" pitchFamily="34" charset="0"/>
                <a:ea typeface="Inter" pitchFamily="34" charset="-122"/>
                <a:cs typeface="Inter" pitchFamily="34" charset="-120"/>
              </a:rPr>
              <a:t>→</a:t>
            </a:r>
            <a:endParaRPr lang="en-US" sz="2000" dirty="0"/>
          </a:p>
        </p:txBody>
      </p:sp>
      <p:sp>
        <p:nvSpPr>
          <p:cNvPr id="13" name="Shape 11"/>
          <p:cNvSpPr/>
          <p:nvPr/>
        </p:nvSpPr>
        <p:spPr>
          <a:xfrm>
            <a:off x="457200" y="4754880"/>
            <a:ext cx="11430000" cy="1005840"/>
          </a:xfrm>
          <a:prstGeom prst="roundRect">
            <a:avLst>
              <a:gd name="adj" fmla="val 9091"/>
            </a:avLst>
          </a:prstGeom>
          <a:solidFill>
            <a:srgbClr val="F5F7FA"/>
          </a:solidFill>
          <a:ln w="19050">
            <a:solidFill>
              <a:srgbClr val="101C3F"/>
            </a:solidFill>
            <a:prstDash val="solid"/>
          </a:ln>
        </p:spPr>
      </p:sp>
      <p:sp>
        <p:nvSpPr>
          <p:cNvPr id="14" name="Text 12"/>
          <p:cNvSpPr/>
          <p:nvPr/>
        </p:nvSpPr>
        <p:spPr>
          <a:xfrm>
            <a:off x="640080" y="4937760"/>
            <a:ext cx="2286000" cy="45720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3  Cross-Correlation</a:t>
            </a:r>
            <a:endParaRPr lang="en-US" sz="1600" dirty="0"/>
          </a:p>
        </p:txBody>
      </p:sp>
      <p:sp>
        <p:nvSpPr>
          <p:cNvPr id="15" name="Text 13"/>
          <p:cNvSpPr/>
          <p:nvPr/>
        </p:nvSpPr>
        <p:spPr>
          <a:xfrm>
            <a:off x="3017520" y="4937760"/>
            <a:ext cx="8869680" cy="45720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SIEM detection rules run on the same ECS-normalised data. Trace analysis reveals lateral movement patterns. Security analyst pivots from alert to full APM trace context.</a:t>
            </a:r>
            <a:endParaRPr lang="en-US" sz="1200" dirty="0"/>
          </a:p>
        </p:txBody>
      </p:sp>
      <p:sp>
        <p:nvSpPr>
          <p:cNvPr id="16" name="Text 14"/>
          <p:cNvSpPr/>
          <p:nvPr/>
        </p:nvSpPr>
        <p:spPr>
          <a:xfrm>
            <a:off x="5486400" y="5669280"/>
            <a:ext cx="914400" cy="457200"/>
          </a:xfrm>
          <a:prstGeom prst="rect">
            <a:avLst/>
          </a:prstGeom>
          <a:noFill/>
          <a:ln/>
        </p:spPr>
        <p:txBody>
          <a:bodyPr wrap="square" rtlCol="0" anchor="ctr"/>
          <a:lstStyle/>
          <a:p>
            <a:pPr algn="ctr" indent="0" marL="0">
              <a:buNone/>
            </a:pPr>
            <a:r>
              <a:rPr lang="en-US" sz="2000" dirty="0">
                <a:solidFill>
                  <a:srgbClr val="48EFCF"/>
                </a:solidFill>
                <a:latin typeface="Inter" pitchFamily="34" charset="0"/>
                <a:ea typeface="Inter" pitchFamily="34" charset="-122"/>
                <a:cs typeface="Inter" pitchFamily="34" charset="-120"/>
              </a:rPr>
              <a:t>→</a:t>
            </a:r>
            <a:endParaRPr lang="en-US" sz="2000" dirty="0"/>
          </a:p>
        </p:txBody>
      </p:sp>
      <p:sp>
        <p:nvSpPr>
          <p:cNvPr id="17" name="Shape 15"/>
          <p:cNvSpPr/>
          <p:nvPr/>
        </p:nvSpPr>
        <p:spPr>
          <a:xfrm>
            <a:off x="457200" y="5943600"/>
            <a:ext cx="11430000" cy="914400"/>
          </a:xfrm>
          <a:prstGeom prst="roundRect">
            <a:avLst>
              <a:gd name="adj" fmla="val 10000"/>
            </a:avLst>
          </a:prstGeom>
          <a:solidFill>
            <a:srgbClr val="48EFCF"/>
          </a:solidFill>
          <a:ln/>
        </p:spPr>
      </p:sp>
      <p:sp>
        <p:nvSpPr>
          <p:cNvPr id="18" name="Text 16"/>
          <p:cNvSpPr/>
          <p:nvPr/>
        </p:nvSpPr>
        <p:spPr>
          <a:xfrm>
            <a:off x="640080" y="6080760"/>
            <a:ext cx="11064240" cy="640080"/>
          </a:xfrm>
          <a:prstGeom prst="rect">
            <a:avLst/>
          </a:prstGeom>
          <a:noFill/>
          <a:ln/>
        </p:spPr>
        <p:txBody>
          <a:bodyPr wrap="square" rtlCol="0" anchor="ctr"/>
          <a:lstStyle/>
          <a:p>
            <a:pPr algn="ctr" indent="0" marL="0">
              <a:buNone/>
            </a:pPr>
            <a:r>
              <a:rPr lang="en-US" sz="1600" b="1" dirty="0">
                <a:solidFill>
                  <a:srgbClr val="1C1E23"/>
                </a:solidFill>
                <a:latin typeface="Inter" pitchFamily="34" charset="0"/>
                <a:ea typeface="Inter" pitchFamily="34" charset="-122"/>
                <a:cs typeface="Inter" pitchFamily="34" charset="-120"/>
              </a:rPr>
              <a:t>4  Root Cause Identified &amp; Contained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000" b="1" dirty="0">
                <a:solidFill>
                  <a:srgbClr val="1C1E23"/>
                </a:solidFill>
                <a:latin typeface="Inter" pitchFamily="34" charset="0"/>
                <a:ea typeface="Inter" pitchFamily="34" charset="-122"/>
                <a:cs typeface="Inter" pitchFamily="34" charset="-120"/>
              </a:rPr>
              <a:t>Pattern 2: Security-Informed Operations</a:t>
            </a:r>
            <a:endParaRPr lang="en-US" sz="30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Security context enriches operational decisions — the same platform provides both perspectives</a:t>
            </a:r>
            <a:endParaRPr lang="en-US" sz="1400" dirty="0"/>
          </a:p>
        </p:txBody>
      </p:sp>
      <p:sp>
        <p:nvSpPr>
          <p:cNvPr id="5" name="Shape 3"/>
          <p:cNvSpPr/>
          <p:nvPr/>
        </p:nvSpPr>
        <p:spPr>
          <a:xfrm>
            <a:off x="457200" y="2286000"/>
            <a:ext cx="5303520" cy="1828800"/>
          </a:xfrm>
          <a:prstGeom prst="roundRect">
            <a:avLst>
              <a:gd name="adj" fmla="val 5000"/>
            </a:avLst>
          </a:prstGeom>
          <a:solidFill>
            <a:srgbClr val="F5F7FA"/>
          </a:solidFill>
          <a:ln w="19050">
            <a:solidFill>
              <a:srgbClr val="101C3F"/>
            </a:solidFill>
            <a:prstDash val="solid"/>
          </a:ln>
        </p:spPr>
      </p:sp>
      <p:sp>
        <p:nvSpPr>
          <p:cNvPr id="6" name="Text 4"/>
          <p:cNvSpPr/>
          <p:nvPr/>
        </p:nvSpPr>
        <p:spPr>
          <a:xfrm>
            <a:off x="640080" y="246888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Vulnerability-Informed Deployment</a:t>
            </a:r>
            <a:endParaRPr lang="en-US" sz="15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4937760" cy="91440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Cloud Security Posture Management (CSPM) findings feed into deployment decisions. A vulnerable container image is flagged by Security — O11y dashboards show which hosts are running it. Teams patch before exploitation.</a:t>
            </a:r>
            <a:endParaRPr lang="en-US" sz="1100" dirty="0"/>
          </a:p>
        </p:txBody>
      </p:sp>
      <p:sp>
        <p:nvSpPr>
          <p:cNvPr id="9" name="Shape 7"/>
          <p:cNvSpPr/>
          <p:nvPr/>
        </p:nvSpPr>
        <p:spPr>
          <a:xfrm>
            <a:off x="6400800" y="2286000"/>
            <a:ext cx="5303520" cy="1828800"/>
          </a:xfrm>
          <a:prstGeom prst="roundRect">
            <a:avLst>
              <a:gd name="adj" fmla="val 5000"/>
            </a:avLst>
          </a:prstGeom>
          <a:solidFill>
            <a:srgbClr val="F5F7FA"/>
          </a:solidFill>
          <a:ln w="19050">
            <a:solidFill>
              <a:srgbClr val="101C3F"/>
            </a:solidFill>
            <a:prstDash val="solid"/>
          </a:ln>
        </p:spPr>
      </p:sp>
      <p:sp>
        <p:nvSpPr>
          <p:cNvPr id="10" name="Text 8"/>
          <p:cNvSpPr/>
          <p:nvPr/>
        </p:nvSpPr>
        <p:spPr>
          <a:xfrm>
            <a:off x="6583680" y="246888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UEBA-Enhanced Performance Monitoring</a:t>
            </a:r>
            <a:endParaRPr lang="en-US" sz="1500" dirty="0"/>
          </a:p>
        </p:txBody>
      </p:sp>
      <p:sp>
        <p:nvSpPr>
          <p:cNvPr id="11" name="Shape 9"/>
          <p:cNvSpPr/>
          <p:nvPr/>
        </p:nvSpPr>
        <p:spPr>
          <a:xfrm>
            <a:off x="6583680" y="2880360"/>
            <a:ext cx="914400" cy="27432"/>
          </a:xfrm>
          <a:prstGeom prst="rect">
            <a:avLst/>
          </a:prstGeom>
          <a:solidFill>
            <a:srgbClr val="48EFCF"/>
          </a:solidFill>
          <a:ln/>
        </p:spPr>
      </p:sp>
      <p:sp>
        <p:nvSpPr>
          <p:cNvPr id="12" name="Text 10"/>
          <p:cNvSpPr/>
          <p:nvPr/>
        </p:nvSpPr>
        <p:spPr>
          <a:xfrm>
            <a:off x="6583680" y="3017520"/>
            <a:ext cx="4937760" cy="91440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User Entity Behaviour Analytics (UEBA) from Security enriches APM data. Unusual user access patterns that look like performance issues may actually indicate credential theft. O11y and Security teams share the same timeline view.</a:t>
            </a:r>
            <a:endParaRPr lang="en-US" sz="1100" dirty="0"/>
          </a:p>
        </p:txBody>
      </p:sp>
      <p:sp>
        <p:nvSpPr>
          <p:cNvPr id="13" name="Shape 11"/>
          <p:cNvSpPr/>
          <p:nvPr/>
        </p:nvSpPr>
        <p:spPr>
          <a:xfrm>
            <a:off x="457200" y="4389120"/>
            <a:ext cx="5303520" cy="1828800"/>
          </a:xfrm>
          <a:prstGeom prst="roundRect">
            <a:avLst>
              <a:gd name="adj" fmla="val 5000"/>
            </a:avLst>
          </a:prstGeom>
          <a:solidFill>
            <a:srgbClr val="F5F7FA"/>
          </a:solidFill>
          <a:ln w="19050">
            <a:solidFill>
              <a:srgbClr val="101C3F"/>
            </a:solidFill>
            <a:prstDash val="solid"/>
          </a:ln>
        </p:spPr>
      </p:sp>
      <p:sp>
        <p:nvSpPr>
          <p:cNvPr id="14" name="Text 12"/>
          <p:cNvSpPr/>
          <p:nvPr/>
        </p:nvSpPr>
        <p:spPr>
          <a:xfrm>
            <a:off x="640080" y="457200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Compliance-Aware SLOs</a:t>
            </a:r>
            <a:endParaRPr lang="en-US" sz="1500" dirty="0"/>
          </a:p>
        </p:txBody>
      </p:sp>
      <p:sp>
        <p:nvSpPr>
          <p:cNvPr id="15" name="Shape 13"/>
          <p:cNvSpPr/>
          <p:nvPr/>
        </p:nvSpPr>
        <p:spPr>
          <a:xfrm>
            <a:off x="640080" y="4983480"/>
            <a:ext cx="914400" cy="27432"/>
          </a:xfrm>
          <a:prstGeom prst="rect">
            <a:avLst/>
          </a:prstGeom>
          <a:solidFill>
            <a:srgbClr val="48EFCF"/>
          </a:solidFill>
          <a:ln/>
        </p:spPr>
      </p:sp>
      <p:sp>
        <p:nvSpPr>
          <p:cNvPr id="16" name="Text 14"/>
          <p:cNvSpPr/>
          <p:nvPr/>
        </p:nvSpPr>
        <p:spPr>
          <a:xfrm>
            <a:off x="640080" y="5120640"/>
            <a:ext cx="4937760" cy="91440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Service Level Objectives informed by compliance posture. A service running on non-compliant infrastructure automatically gets a degraded SLO status. Audit logs (Security) and performance metrics (O11y) in one view.</a:t>
            </a:r>
            <a:endParaRPr lang="en-US" sz="1100" dirty="0"/>
          </a:p>
        </p:txBody>
      </p:sp>
      <p:sp>
        <p:nvSpPr>
          <p:cNvPr id="17" name="Shape 15"/>
          <p:cNvSpPr/>
          <p:nvPr/>
        </p:nvSpPr>
        <p:spPr>
          <a:xfrm>
            <a:off x="6400800" y="4389120"/>
            <a:ext cx="5303520" cy="1828800"/>
          </a:xfrm>
          <a:prstGeom prst="roundRect">
            <a:avLst>
              <a:gd name="adj" fmla="val 5000"/>
            </a:avLst>
          </a:prstGeom>
          <a:solidFill>
            <a:srgbClr val="F5F7FA"/>
          </a:solidFill>
          <a:ln w="19050">
            <a:solidFill>
              <a:srgbClr val="101C3F"/>
            </a:solidFill>
            <a:prstDash val="solid"/>
          </a:ln>
        </p:spPr>
      </p:sp>
      <p:sp>
        <p:nvSpPr>
          <p:cNvPr id="18" name="Text 16"/>
          <p:cNvSpPr/>
          <p:nvPr/>
        </p:nvSpPr>
        <p:spPr>
          <a:xfrm>
            <a:off x="6583680" y="4572000"/>
            <a:ext cx="4937760" cy="365760"/>
          </a:xfrm>
          <a:prstGeom prst="rect">
            <a:avLst/>
          </a:prstGeom>
          <a:noFill/>
          <a:ln/>
        </p:spPr>
        <p:txBody>
          <a:bodyPr wrap="square" rtlCol="0" anchor="ctr"/>
          <a:lstStyle/>
          <a:p>
            <a:pPr algn="l" indent="0" marL="0">
              <a:buNone/>
            </a:pPr>
            <a:r>
              <a:rPr lang="en-US" sz="1500" b="1" dirty="0">
                <a:solidFill>
                  <a:srgbClr val="0B64DD"/>
                </a:solidFill>
                <a:latin typeface="Inter" pitchFamily="34" charset="0"/>
                <a:ea typeface="Inter" pitchFamily="34" charset="-122"/>
                <a:cs typeface="Inter" pitchFamily="34" charset="-120"/>
              </a:rPr>
              <a:t>Unified Incident Response</a:t>
            </a:r>
            <a:endParaRPr lang="en-US" sz="1500" dirty="0"/>
          </a:p>
        </p:txBody>
      </p:sp>
      <p:sp>
        <p:nvSpPr>
          <p:cNvPr id="19" name="Shape 17"/>
          <p:cNvSpPr/>
          <p:nvPr/>
        </p:nvSpPr>
        <p:spPr>
          <a:xfrm>
            <a:off x="6583680" y="4983480"/>
            <a:ext cx="914400" cy="27432"/>
          </a:xfrm>
          <a:prstGeom prst="rect">
            <a:avLst/>
          </a:prstGeom>
          <a:solidFill>
            <a:srgbClr val="48EFCF"/>
          </a:solidFill>
          <a:ln/>
        </p:spPr>
      </p:sp>
      <p:sp>
        <p:nvSpPr>
          <p:cNvPr id="20" name="Text 18"/>
          <p:cNvSpPr/>
          <p:nvPr/>
        </p:nvSpPr>
        <p:spPr>
          <a:xfrm>
            <a:off x="6583680" y="5120640"/>
            <a:ext cx="4937760" cy="91440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Cases in Elastic span both domains. An incident can start as an O11y alert, escalate to Security when threat indicators appear, and retain full context from both sides. No tool switching, no context loss.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Knowledge &amp; AI</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Documentation, AI Assistant, and shared analytics</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64008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Index: 10 Ways O11y + Security Converge</a:t>
            </a:r>
            <a:endParaRPr lang="en-US" sz="2800" dirty="0"/>
          </a:p>
        </p:txBody>
      </p:sp>
      <p:sp>
        <p:nvSpPr>
          <p:cNvPr id="3" name="Shape 1"/>
          <p:cNvSpPr/>
          <p:nvPr/>
        </p:nvSpPr>
        <p:spPr>
          <a:xfrm>
            <a:off x="731520" y="1051560"/>
            <a:ext cx="1097280" cy="32004"/>
          </a:xfrm>
          <a:prstGeom prst="rect">
            <a:avLst/>
          </a:prstGeom>
          <a:solidFill>
            <a:srgbClr val="48EFCF"/>
          </a:solidFill>
          <a:ln/>
        </p:spPr>
      </p:sp>
      <p:sp>
        <p:nvSpPr>
          <p:cNvPr id="4" name="Text 2"/>
          <p:cNvSpPr/>
          <p:nvPr/>
        </p:nvSpPr>
        <p:spPr>
          <a:xfrm>
            <a:off x="731520" y="1371600"/>
            <a:ext cx="10698480" cy="36576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Each use case demonstrates a unique O11y signal + Security confirmation + Knowledge correlation = faster MTTD/MTTR</a:t>
            </a:r>
            <a:endParaRPr lang="en-US" sz="1200" dirty="0"/>
          </a:p>
        </p:txBody>
      </p:sp>
      <p:sp>
        <p:nvSpPr>
          <p:cNvPr id="5" name="Shape 3"/>
          <p:cNvSpPr/>
          <p:nvPr/>
        </p:nvSpPr>
        <p:spPr>
          <a:xfrm>
            <a:off x="274320" y="1920240"/>
            <a:ext cx="11612880" cy="411480"/>
          </a:xfrm>
          <a:prstGeom prst="rect">
            <a:avLst/>
          </a:prstGeom>
          <a:solidFill>
            <a:srgbClr val="0B64DD"/>
          </a:solidFill>
          <a:ln/>
        </p:spPr>
      </p:sp>
      <p:sp>
        <p:nvSpPr>
          <p:cNvPr id="6" name="Text 4"/>
          <p:cNvSpPr/>
          <p:nvPr/>
        </p:nvSpPr>
        <p:spPr>
          <a:xfrm>
            <a:off x="365760" y="1938528"/>
            <a:ext cx="36576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7" name="Text 5"/>
          <p:cNvSpPr/>
          <p:nvPr/>
        </p:nvSpPr>
        <p:spPr>
          <a:xfrm>
            <a:off x="822960" y="1938528"/>
            <a:ext cx="2926080" cy="365760"/>
          </a:xfrm>
          <a:prstGeom prst="rect">
            <a:avLst/>
          </a:prstGeom>
          <a:noFill/>
          <a:ln/>
        </p:spPr>
        <p:txBody>
          <a:bodyPr wrap="square" rtlCol="0" anchor="ctr"/>
          <a:lstStyle/>
          <a:p>
            <a:pPr algn="l" indent="0" marL="0">
              <a:buNone/>
            </a:pPr>
            <a:r>
              <a:rPr lang="en-US" sz="1100" b="1" dirty="0">
                <a:solidFill>
                  <a:srgbClr val="FFFFFF"/>
                </a:solidFill>
                <a:latin typeface="Inter" pitchFamily="34" charset="0"/>
                <a:ea typeface="Inter" pitchFamily="34" charset="-122"/>
                <a:cs typeface="Inter" pitchFamily="34" charset="-120"/>
              </a:rPr>
              <a:t>Use Case</a:t>
            </a:r>
            <a:endParaRPr lang="en-US" sz="1100" dirty="0"/>
          </a:p>
        </p:txBody>
      </p:sp>
      <p:sp>
        <p:nvSpPr>
          <p:cNvPr id="8" name="Text 6"/>
          <p:cNvSpPr/>
          <p:nvPr/>
        </p:nvSpPr>
        <p:spPr>
          <a:xfrm>
            <a:off x="3840480" y="1938528"/>
            <a:ext cx="2560320" cy="365760"/>
          </a:xfrm>
          <a:prstGeom prst="rect">
            <a:avLst/>
          </a:prstGeom>
          <a:noFill/>
          <a:ln/>
        </p:spPr>
        <p:txBody>
          <a:bodyPr wrap="square" rtlCol="0" anchor="ctr"/>
          <a:lstStyle/>
          <a:p>
            <a:pPr algn="l" indent="0" marL="0">
              <a:buNone/>
            </a:pPr>
            <a:r>
              <a:rPr lang="en-US" sz="1100" b="1" dirty="0">
                <a:solidFill>
                  <a:srgbClr val="FFFFFF"/>
                </a:solidFill>
                <a:latin typeface="Inter" pitchFamily="34" charset="0"/>
                <a:ea typeface="Inter" pitchFamily="34" charset="-122"/>
                <a:cs typeface="Inter" pitchFamily="34" charset="-120"/>
              </a:rPr>
              <a:t>O11y Signal</a:t>
            </a:r>
            <a:endParaRPr lang="en-US" sz="1100" dirty="0"/>
          </a:p>
        </p:txBody>
      </p:sp>
      <p:sp>
        <p:nvSpPr>
          <p:cNvPr id="9" name="Text 7"/>
          <p:cNvSpPr/>
          <p:nvPr/>
        </p:nvSpPr>
        <p:spPr>
          <a:xfrm>
            <a:off x="6492240" y="1938528"/>
            <a:ext cx="2560320" cy="365760"/>
          </a:xfrm>
          <a:prstGeom prst="rect">
            <a:avLst/>
          </a:prstGeom>
          <a:noFill/>
          <a:ln/>
        </p:spPr>
        <p:txBody>
          <a:bodyPr wrap="square" rtlCol="0" anchor="ctr"/>
          <a:lstStyle/>
          <a:p>
            <a:pPr algn="l" indent="0" marL="0">
              <a:buNone/>
            </a:pPr>
            <a:r>
              <a:rPr lang="en-US" sz="1100" b="1" dirty="0">
                <a:solidFill>
                  <a:srgbClr val="FFFFFF"/>
                </a:solidFill>
                <a:latin typeface="Inter" pitchFamily="34" charset="0"/>
                <a:ea typeface="Inter" pitchFamily="34" charset="-122"/>
                <a:cs typeface="Inter" pitchFamily="34" charset="-120"/>
              </a:rPr>
              <a:t>Security Signal</a:t>
            </a:r>
            <a:endParaRPr lang="en-US" sz="1100" dirty="0"/>
          </a:p>
        </p:txBody>
      </p:sp>
      <p:sp>
        <p:nvSpPr>
          <p:cNvPr id="10" name="Text 8"/>
          <p:cNvSpPr/>
          <p:nvPr/>
        </p:nvSpPr>
        <p:spPr>
          <a:xfrm>
            <a:off x="9144000" y="1938528"/>
            <a:ext cx="128016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MTTD</a:t>
            </a:r>
            <a:endParaRPr lang="en-US" sz="1100" dirty="0"/>
          </a:p>
        </p:txBody>
      </p:sp>
      <p:sp>
        <p:nvSpPr>
          <p:cNvPr id="11" name="Text 9"/>
          <p:cNvSpPr/>
          <p:nvPr/>
        </p:nvSpPr>
        <p:spPr>
          <a:xfrm>
            <a:off x="10515600" y="1938528"/>
            <a:ext cx="1280160" cy="36576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MTTR</a:t>
            </a:r>
            <a:endParaRPr lang="en-US" sz="1100" dirty="0"/>
          </a:p>
        </p:txBody>
      </p:sp>
      <p:sp>
        <p:nvSpPr>
          <p:cNvPr id="12" name="Text 10"/>
          <p:cNvSpPr/>
          <p:nvPr/>
        </p:nvSpPr>
        <p:spPr>
          <a:xfrm>
            <a:off x="365760" y="2377440"/>
            <a:ext cx="3383280" cy="4206240"/>
          </a:xfrm>
          <a:prstGeom prst="rect">
            <a:avLst/>
          </a:prstGeom>
          <a:noFill/>
          <a:ln/>
        </p:spPr>
        <p:txBody>
          <a:bodyPr wrap="square" rtlCol="0" anchor="ctr"/>
          <a:lstStyle/>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1  Cryptomining Attack</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2  Data Exfiltration</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3  Supply Chain Compromise</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4  Ransomware (Pre-Encrypt)</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5  Insider Threat</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6  Cloud Misconfig</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7  DDoS Attack</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8  Credential Stuffing</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9  Container Escape</a:t>
            </a:r>
            <a:endParaRPr lang="en-US" sz="900" dirty="0"/>
          </a:p>
          <a:p>
            <a:pPr algn="l" indent="0" marL="0">
              <a:lnSpc>
                <a:spcPct val="185000"/>
              </a:lnSpc>
              <a:buNone/>
            </a:pPr>
            <a:r>
              <a:rPr lang="en-US" sz="900" dirty="0">
                <a:solidFill>
                  <a:srgbClr val="343741"/>
                </a:solidFill>
                <a:latin typeface="Space Mono" pitchFamily="34" charset="0"/>
                <a:ea typeface="Space Mono" pitchFamily="34" charset="-122"/>
                <a:cs typeface="Space Mono" pitchFamily="34" charset="-120"/>
              </a:rPr>
              <a:t>10 Lateral Movement</a:t>
            </a:r>
            <a:endParaRPr lang="en-US" sz="900" dirty="0"/>
          </a:p>
        </p:txBody>
      </p:sp>
      <p:sp>
        <p:nvSpPr>
          <p:cNvPr id="13" name="Text 11"/>
          <p:cNvSpPr/>
          <p:nvPr/>
        </p:nvSpPr>
        <p:spPr>
          <a:xfrm>
            <a:off x="3840480" y="2377440"/>
            <a:ext cx="2560320" cy="4206240"/>
          </a:xfrm>
          <a:prstGeom prst="rect">
            <a:avLst/>
          </a:prstGeom>
          <a:noFill/>
          <a:ln/>
        </p:spPr>
        <p:txBody>
          <a:bodyPr wrap="square" rtlCol="0" anchor="ctr"/>
          <a:lstStyle/>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Universal Profiling</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APM traces + metrics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Streams + APM topology</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Infra disk I/O metrics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APM DB query monitoring</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Infra S3 access logs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Network metrics + flows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APM auth traces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K8s pod metrics + syscalls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APM service topology</a:t>
            </a:r>
            <a:endParaRPr lang="en-US" sz="800" dirty="0"/>
          </a:p>
        </p:txBody>
      </p:sp>
      <p:sp>
        <p:nvSpPr>
          <p:cNvPr id="14" name="Text 12"/>
          <p:cNvSpPr/>
          <p:nvPr/>
        </p:nvSpPr>
        <p:spPr>
          <a:xfrm>
            <a:off x="6492240" y="2377440"/>
            <a:ext cx="2560320" cy="4206240"/>
          </a:xfrm>
          <a:prstGeom prst="rect">
            <a:avLst/>
          </a:prstGeom>
          <a:noFill/>
          <a:ln/>
        </p:spPr>
        <p:txBody>
          <a:bodyPr wrap="square" rtlCol="0" anchor="ctr"/>
          <a:lstStyle/>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SIEM detection rule + CVE</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UEBA + threat intel</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Threat intel + SIEM alert</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Endpoint + threat intel</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UEBA + HR context</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CSPM + threat intel</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ML anomaly + WAF rules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Brute force detection rules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Falco/CWP runtime rules</a:t>
            </a:r>
            <a:endParaRPr lang="en-US" sz="800" dirty="0"/>
          </a:p>
          <a:p>
            <a:pPr algn="l" indent="0" marL="0">
              <a:lnSpc>
                <a:spcPct val="170000"/>
              </a:lnSpc>
              <a:buNone/>
            </a:pPr>
            <a:r>
              <a:rPr lang="en-US" sz="800" dirty="0">
                <a:solidFill>
                  <a:srgbClr val="343741"/>
                </a:solidFill>
                <a:latin typeface="Inter" pitchFamily="34" charset="0"/>
                <a:ea typeface="Inter" pitchFamily="34" charset="-122"/>
                <a:cs typeface="Inter" pitchFamily="34" charset="-120"/>
              </a:rPr>
              <a:t>Network detection + SIEM</a:t>
            </a:r>
            <a:endParaRPr lang="en-US" sz="800" dirty="0"/>
          </a:p>
        </p:txBody>
      </p:sp>
      <p:sp>
        <p:nvSpPr>
          <p:cNvPr id="15" name="Text 13"/>
          <p:cNvSpPr/>
          <p:nvPr/>
        </p:nvSpPr>
        <p:spPr>
          <a:xfrm>
            <a:off x="9144000" y="2377440"/>
            <a:ext cx="1280160" cy="4206240"/>
          </a:xfrm>
          <a:prstGeom prst="rect">
            <a:avLst/>
          </a:prstGeom>
          <a:noFill/>
          <a:ln/>
        </p:spPr>
        <p:txBody>
          <a:bodyPr wrap="square" rtlCol="0" anchor="ctr"/>
          <a:lstStyle/>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2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4 hrs</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5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2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9 days</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1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30 sec</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3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10 sec</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8 min</a:t>
            </a:r>
            <a:endParaRPr lang="en-US" sz="900" dirty="0"/>
          </a:p>
        </p:txBody>
      </p:sp>
      <p:sp>
        <p:nvSpPr>
          <p:cNvPr id="16" name="Text 14"/>
          <p:cNvSpPr/>
          <p:nvPr/>
        </p:nvSpPr>
        <p:spPr>
          <a:xfrm>
            <a:off x="10515600" y="2377440"/>
            <a:ext cx="1280160" cy="4206240"/>
          </a:xfrm>
          <a:prstGeom prst="rect">
            <a:avLst/>
          </a:prstGeom>
          <a:noFill/>
          <a:ln/>
        </p:spPr>
        <p:txBody>
          <a:bodyPr wrap="square" rtlCol="0" anchor="ctr"/>
          <a:lstStyle/>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15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30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25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6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5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2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10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4 min</a:t>
            </a:r>
            <a:endParaRPr lang="en-US" sz="900" dirty="0"/>
          </a:p>
          <a:p>
            <a:pPr algn="ctr" indent="0" marL="0">
              <a:lnSpc>
                <a:spcPct val="185000"/>
              </a:lnSpc>
              <a:buNone/>
            </a:pPr>
            <a:r>
              <a:rPr lang="en-US" sz="900" b="1" dirty="0">
                <a:solidFill>
                  <a:srgbClr val="0B64DD"/>
                </a:solidFill>
                <a:latin typeface="Space Mono" pitchFamily="34" charset="0"/>
                <a:ea typeface="Space Mono" pitchFamily="34" charset="-122"/>
                <a:cs typeface="Space Mono" pitchFamily="34" charset="-120"/>
              </a:rPr>
              <a:t>20 min</a:t>
            </a:r>
            <a:endParaRPr lang="en-US" sz="900" dirty="0"/>
          </a:p>
        </p:txBody>
      </p:sp>
      <p:sp>
        <p:nvSpPr>
          <p:cNvPr id="17" name="Shape 15"/>
          <p:cNvSpPr/>
          <p:nvPr/>
        </p:nvSpPr>
        <p:spPr>
          <a:xfrm>
            <a:off x="274320" y="2788920"/>
            <a:ext cx="11612880" cy="420624"/>
          </a:xfrm>
          <a:prstGeom prst="rect">
            <a:avLst/>
          </a:prstGeom>
          <a:solidFill>
            <a:srgbClr val="F5F7FA"/>
          </a:solidFill>
          <a:ln/>
        </p:spPr>
      </p:sp>
      <p:sp>
        <p:nvSpPr>
          <p:cNvPr id="18" name="Shape 16"/>
          <p:cNvSpPr/>
          <p:nvPr/>
        </p:nvSpPr>
        <p:spPr>
          <a:xfrm>
            <a:off x="274320" y="3630168"/>
            <a:ext cx="11612880" cy="420624"/>
          </a:xfrm>
          <a:prstGeom prst="rect">
            <a:avLst/>
          </a:prstGeom>
          <a:solidFill>
            <a:srgbClr val="F5F7FA"/>
          </a:solidFill>
          <a:ln/>
        </p:spPr>
      </p:sp>
      <p:sp>
        <p:nvSpPr>
          <p:cNvPr id="19" name="Shape 17"/>
          <p:cNvSpPr/>
          <p:nvPr/>
        </p:nvSpPr>
        <p:spPr>
          <a:xfrm>
            <a:off x="274320" y="4471416"/>
            <a:ext cx="11612880" cy="420624"/>
          </a:xfrm>
          <a:prstGeom prst="rect">
            <a:avLst/>
          </a:prstGeom>
          <a:solidFill>
            <a:srgbClr val="F5F7FA"/>
          </a:solidFill>
          <a:ln/>
        </p:spPr>
      </p:sp>
      <p:sp>
        <p:nvSpPr>
          <p:cNvPr id="20" name="Shape 18"/>
          <p:cNvSpPr/>
          <p:nvPr/>
        </p:nvSpPr>
        <p:spPr>
          <a:xfrm>
            <a:off x="274320" y="5312664"/>
            <a:ext cx="11612880" cy="420624"/>
          </a:xfrm>
          <a:prstGeom prst="rect">
            <a:avLst/>
          </a:prstGeom>
          <a:solidFill>
            <a:srgbClr val="F5F7FA"/>
          </a:solidFill>
          <a:ln/>
        </p:spPr>
      </p:sp>
      <p:sp>
        <p:nvSpPr>
          <p:cNvPr id="21" name="Shape 19"/>
          <p:cNvSpPr/>
          <p:nvPr/>
        </p:nvSpPr>
        <p:spPr>
          <a:xfrm>
            <a:off x="274320" y="6153912"/>
            <a:ext cx="11612880" cy="420624"/>
          </a:xfrm>
          <a:prstGeom prst="rect">
            <a:avLst/>
          </a:prstGeom>
          <a:solidFill>
            <a:srgbClr val="F5F7FA"/>
          </a:solidFill>
          <a:ln/>
        </p:spPr>
      </p:sp>
      <p:sp>
        <p:nvSpPr>
          <p:cNvPr id="22" name="Shape 20"/>
          <p:cNvSpPr/>
          <p:nvPr/>
        </p:nvSpPr>
        <p:spPr>
          <a:xfrm>
            <a:off x="274320" y="6400800"/>
            <a:ext cx="11612880" cy="320040"/>
          </a:xfrm>
          <a:prstGeom prst="roundRect">
            <a:avLst>
              <a:gd name="adj" fmla="val 17143"/>
            </a:avLst>
          </a:prstGeom>
          <a:solidFill>
            <a:srgbClr val="48EFCF"/>
          </a:solidFill>
          <a:ln/>
        </p:spPr>
      </p:sp>
      <p:sp>
        <p:nvSpPr>
          <p:cNvPr id="23" name="Text 21"/>
          <p:cNvSpPr/>
          <p:nvPr/>
        </p:nvSpPr>
        <p:spPr>
          <a:xfrm>
            <a:off x="457200" y="6419088"/>
            <a:ext cx="11247120" cy="274320"/>
          </a:xfrm>
          <a:prstGeom prst="rect">
            <a:avLst/>
          </a:prstGeom>
          <a:noFill/>
          <a:ln/>
        </p:spPr>
        <p:txBody>
          <a:bodyPr wrap="square" rtlCol="0" anchor="ctr"/>
          <a:lstStyle/>
          <a:p>
            <a:pPr algn="ctr" indent="0" marL="0">
              <a:buNone/>
            </a:pPr>
            <a:r>
              <a:rPr lang="en-US" sz="1000" b="1" dirty="0">
                <a:solidFill>
                  <a:srgbClr val="1C1E23"/>
                </a:solidFill>
                <a:latin typeface="Inter" pitchFamily="34" charset="0"/>
                <a:ea typeface="Inter" pitchFamily="34" charset="-122"/>
                <a:cs typeface="Inter" pitchFamily="34" charset="-120"/>
              </a:rPr>
              <a:t>All 10 use cases share one Elasticsearch backend, one ECS schema, one AI Assistant — data ingested once, available to all solutions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000" b="1" dirty="0">
                <a:solidFill>
                  <a:srgbClr val="1C1E23"/>
                </a:solidFill>
                <a:latin typeface="Inter" pitchFamily="34" charset="0"/>
                <a:ea typeface="Inter" pitchFamily="34" charset="-122"/>
                <a:cs typeface="Inter" pitchFamily="34" charset="-120"/>
              </a:rPr>
              <a:t>Use Case 1: Cryptomining Attack Detection</a:t>
            </a:r>
            <a:endParaRPr lang="en-US" sz="30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Universal Profiling + Streams + SIEM — from CPU spike to cryptomining containment in 15 minutes</a:t>
            </a:r>
            <a:endParaRPr lang="en-US" sz="1300" dirty="0"/>
          </a:p>
        </p:txBody>
      </p:sp>
      <p:sp>
        <p:nvSpPr>
          <p:cNvPr id="5" name="Shape 3"/>
          <p:cNvSpPr/>
          <p:nvPr/>
        </p:nvSpPr>
        <p:spPr>
          <a:xfrm>
            <a:off x="457200" y="2286000"/>
            <a:ext cx="3474720" cy="1463040"/>
          </a:xfrm>
          <a:prstGeom prst="roundRect">
            <a:avLst>
              <a:gd name="adj" fmla="val 6250"/>
            </a:avLst>
          </a:prstGeom>
          <a:solidFill>
            <a:srgbClr val="F5F7FA"/>
          </a:solidFill>
          <a:ln w="19050">
            <a:solidFill>
              <a:srgbClr val="101C3F"/>
            </a:solidFill>
            <a:prstDash val="solid"/>
          </a:ln>
        </p:spPr>
      </p:sp>
      <p:sp>
        <p:nvSpPr>
          <p:cNvPr id="6" name="Text 4"/>
          <p:cNvSpPr/>
          <p:nvPr/>
        </p:nvSpPr>
        <p:spPr>
          <a:xfrm>
            <a:off x="640080" y="2468880"/>
            <a:ext cx="3108960" cy="365760"/>
          </a:xfrm>
          <a:prstGeom prst="rect">
            <a:avLst/>
          </a:prstGeom>
          <a:noFill/>
          <a:ln/>
        </p:spPr>
        <p:txBody>
          <a:bodyPr wrap="square" rtlCol="0" anchor="ctr"/>
          <a:lstStyle/>
          <a:p>
            <a:pPr algn="l" indent="0" marL="0">
              <a:buNone/>
            </a:pPr>
            <a:r>
              <a:rPr lang="en-US" sz="1400" b="1" dirty="0">
                <a:solidFill>
                  <a:srgbClr val="F04E98"/>
                </a:solidFill>
                <a:latin typeface="Inter" pitchFamily="34" charset="0"/>
                <a:ea typeface="Inter" pitchFamily="34" charset="-122"/>
                <a:cs typeface="Inter" pitchFamily="34" charset="-120"/>
              </a:rPr>
              <a:t>O11y Signal</a:t>
            </a:r>
            <a:endParaRPr lang="en-US" sz="1400" dirty="0"/>
          </a:p>
        </p:txBody>
      </p:sp>
      <p:sp>
        <p:nvSpPr>
          <p:cNvPr id="7" name="Text 5"/>
          <p:cNvSpPr/>
          <p:nvPr/>
        </p:nvSpPr>
        <p:spPr>
          <a:xfrm>
            <a:off x="640080" y="2880360"/>
            <a:ext cx="310896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Universal Profiling: container process at 99% CPU on crypto hashes. Metrics: sustained spike on 3 pods for 18 min.</a:t>
            </a:r>
            <a:endParaRPr lang="en-US" sz="1000" dirty="0"/>
          </a:p>
        </p:txBody>
      </p:sp>
      <p:sp>
        <p:nvSpPr>
          <p:cNvPr id="8" name="Shape 6"/>
          <p:cNvSpPr/>
          <p:nvPr/>
        </p:nvSpPr>
        <p:spPr>
          <a:xfrm>
            <a:off x="4297680" y="2286000"/>
            <a:ext cx="3474720" cy="1463040"/>
          </a:xfrm>
          <a:prstGeom prst="roundRect">
            <a:avLst>
              <a:gd name="adj" fmla="val 6250"/>
            </a:avLst>
          </a:prstGeom>
          <a:solidFill>
            <a:srgbClr val="F5F7FA"/>
          </a:solidFill>
          <a:ln w="19050">
            <a:solidFill>
              <a:srgbClr val="101C3F"/>
            </a:solidFill>
            <a:prstDash val="solid"/>
          </a:ln>
        </p:spPr>
      </p:sp>
      <p:sp>
        <p:nvSpPr>
          <p:cNvPr id="9" name="Text 7"/>
          <p:cNvSpPr/>
          <p:nvPr/>
        </p:nvSpPr>
        <p:spPr>
          <a:xfrm>
            <a:off x="4480560" y="2468880"/>
            <a:ext cx="31089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Streams Correlation</a:t>
            </a:r>
            <a:endParaRPr lang="en-US" sz="1400" dirty="0"/>
          </a:p>
        </p:txBody>
      </p:sp>
      <p:sp>
        <p:nvSpPr>
          <p:cNvPr id="10" name="Text 8"/>
          <p:cNvSpPr/>
          <p:nvPr/>
        </p:nvSpPr>
        <p:spPr>
          <a:xfrm>
            <a:off x="4480560" y="2880360"/>
            <a:ext cx="310896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AI parses container logs without pipeline config. Significant Event: process spawned by unexpected parent via cron job added 20 min ago.</a:t>
            </a:r>
            <a:endParaRPr lang="en-US" sz="1000" dirty="0"/>
          </a:p>
        </p:txBody>
      </p:sp>
      <p:sp>
        <p:nvSpPr>
          <p:cNvPr id="11" name="Shape 9"/>
          <p:cNvSpPr/>
          <p:nvPr/>
        </p:nvSpPr>
        <p:spPr>
          <a:xfrm>
            <a:off x="8138160" y="2286000"/>
            <a:ext cx="3474720" cy="1463040"/>
          </a:xfrm>
          <a:prstGeom prst="roundRect">
            <a:avLst>
              <a:gd name="adj" fmla="val 6250"/>
            </a:avLst>
          </a:prstGeom>
          <a:solidFill>
            <a:srgbClr val="F5F7FA"/>
          </a:solidFill>
          <a:ln w="19050">
            <a:solidFill>
              <a:srgbClr val="101C3F"/>
            </a:solidFill>
            <a:prstDash val="solid"/>
          </a:ln>
        </p:spPr>
      </p:sp>
      <p:sp>
        <p:nvSpPr>
          <p:cNvPr id="12" name="Text 10"/>
          <p:cNvSpPr/>
          <p:nvPr/>
        </p:nvSpPr>
        <p:spPr>
          <a:xfrm>
            <a:off x="8321040" y="2468880"/>
            <a:ext cx="3108960" cy="365760"/>
          </a:xfrm>
          <a:prstGeom prst="rect">
            <a:avLst/>
          </a:prstGeom>
          <a:noFill/>
          <a:ln/>
        </p:spPr>
        <p:txBody>
          <a:bodyPr wrap="square" rtlCol="0" anchor="ctr"/>
          <a:lstStyle/>
          <a:p>
            <a:pPr algn="l" indent="0" marL="0">
              <a:buNone/>
            </a:pPr>
            <a:r>
              <a:rPr lang="en-US" sz="1400" b="1" dirty="0">
                <a:solidFill>
                  <a:srgbClr val="FA744E"/>
                </a:solidFill>
                <a:latin typeface="Inter" pitchFamily="34" charset="0"/>
                <a:ea typeface="Inter" pitchFamily="34" charset="-122"/>
                <a:cs typeface="Inter" pitchFamily="34" charset="-120"/>
              </a:rPr>
              <a:t>Security Action</a:t>
            </a:r>
            <a:endParaRPr lang="en-US" sz="1400" dirty="0"/>
          </a:p>
        </p:txBody>
      </p:sp>
      <p:sp>
        <p:nvSpPr>
          <p:cNvPr id="13" name="Text 11"/>
          <p:cNvSpPr/>
          <p:nvPr/>
        </p:nvSpPr>
        <p:spPr>
          <a:xfrm>
            <a:off x="8321040" y="2880360"/>
            <a:ext cx="310896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ECS data triggers cryptomining detection rule. AI Assistant IDs CVE + MITRE ATT&amp;CK T1496. Workflow auto-isolates pods. MTTR: 15 min.</a:t>
            </a:r>
            <a:endParaRPr lang="en-US" sz="1000" dirty="0"/>
          </a:p>
        </p:txBody>
      </p:sp>
      <p:sp>
        <p:nvSpPr>
          <p:cNvPr id="14" name="Shape 12"/>
          <p:cNvSpPr/>
          <p:nvPr/>
        </p:nvSpPr>
        <p:spPr>
          <a:xfrm>
            <a:off x="457200" y="4023360"/>
            <a:ext cx="11430000" cy="2377440"/>
          </a:xfrm>
          <a:prstGeom prst="roundRect">
            <a:avLst>
              <a:gd name="adj" fmla="val 3846"/>
            </a:avLst>
          </a:prstGeom>
          <a:solidFill>
            <a:srgbClr val="F5F7FA"/>
          </a:solidFill>
          <a:ln w="19050">
            <a:solidFill>
              <a:srgbClr val="101C3F"/>
            </a:solidFill>
            <a:prstDash val="solid"/>
          </a:ln>
        </p:spPr>
      </p:sp>
      <p:sp>
        <p:nvSpPr>
          <p:cNvPr id="15" name="Text 13"/>
          <p:cNvSpPr/>
          <p:nvPr/>
        </p:nvSpPr>
        <p:spPr>
          <a:xfrm>
            <a:off x="640080" y="4206240"/>
            <a:ext cx="110642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Incident Timeline (single platform, no tool switching)</a:t>
            </a:r>
            <a:endParaRPr lang="en-US" sz="1300" dirty="0"/>
          </a:p>
        </p:txBody>
      </p:sp>
      <p:sp>
        <p:nvSpPr>
          <p:cNvPr id="16" name="Text 14"/>
          <p:cNvSpPr/>
          <p:nvPr/>
        </p:nvSpPr>
        <p:spPr>
          <a:xfrm>
            <a:off x="640080" y="4663440"/>
            <a:ext cx="11064240" cy="1645920"/>
          </a:xfrm>
          <a:prstGeom prst="rect">
            <a:avLst/>
          </a:prstGeom>
          <a:noFill/>
          <a:ln/>
        </p:spPr>
        <p:txBody>
          <a:bodyPr wrap="square" rtlCol="0" anchor="ctr"/>
          <a:lstStyle/>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T+0 min    Universal Profiling detects anomalous CPU pattern — 99% CPU on crypto hash operations across 3 pods</a:t>
            </a:r>
            <a:endParaRPr lang="en-US" sz="1000" dirty="0"/>
          </a:p>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T+2 min    Streams parses raw logs, surfaces Significant Event: suspicious process spawned from unexpected cron job</a:t>
            </a:r>
            <a:endParaRPr lang="en-US" sz="1000" dirty="0"/>
          </a:p>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T+4 min    Security detection rule auto-fires: 'Suspicious cryptomining process detected' — SIEM timeline constructed</a:t>
            </a:r>
            <a:endParaRPr lang="en-US" sz="1000" dirty="0"/>
          </a:p>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T+6 min    AI Assistant correlates: CVE-2024-XXXX in container image + MITRE T1496 pattern + known cryptomining TTPs</a:t>
            </a:r>
            <a:endParaRPr lang="en-US" sz="1000" dirty="0"/>
          </a:p>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T+8 min    Case opened linking APM traces, SIEM alert, CSPM finding. Security workflow isolates affected pods</a:t>
            </a:r>
            <a:endParaRPr lang="en-US" sz="1000" dirty="0"/>
          </a:p>
          <a:p>
            <a:pPr algn="l" indent="0" marL="0">
              <a:lnSpc>
                <a:spcPct val="150000"/>
              </a:lnSpc>
              <a:buNone/>
            </a:pPr>
            <a:r>
              <a:rPr lang="en-US" sz="1000" dirty="0">
                <a:solidFill>
                  <a:srgbClr val="343741"/>
                </a:solidFill>
                <a:latin typeface="Space Mono" pitchFamily="34" charset="0"/>
                <a:ea typeface="Space Mono" pitchFamily="34" charset="-122"/>
                <a:cs typeface="Space Mono" pitchFamily="34" charset="-120"/>
              </a:rPr>
              <a:t>T+15 min   O11y confirms CPU returns to baseline. MTTR: 15 min (vs. 4-8 hours in siloed tools)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2: Slow Data Exfiltration via Compromised API Key</a:t>
            </a:r>
            <a:endParaRPr lang="en-US" sz="28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APM + UEBA + Threat Intel — catching what looks like normal API traffic over 72 hours</a:t>
            </a:r>
            <a:endParaRPr lang="en-US" sz="1300" dirty="0"/>
          </a:p>
        </p:txBody>
      </p:sp>
      <p:sp>
        <p:nvSpPr>
          <p:cNvPr id="5" name="Shape 3"/>
          <p:cNvSpPr/>
          <p:nvPr/>
        </p:nvSpPr>
        <p:spPr>
          <a:xfrm>
            <a:off x="457200" y="2103120"/>
            <a:ext cx="5303520" cy="1371600"/>
          </a:xfrm>
          <a:prstGeom prst="roundRect">
            <a:avLst>
              <a:gd name="adj" fmla="val 6667"/>
            </a:avLst>
          </a:prstGeom>
          <a:solidFill>
            <a:srgbClr val="F5F7FA"/>
          </a:solidFill>
          <a:ln w="19050">
            <a:solidFill>
              <a:srgbClr val="101C3F"/>
            </a:solidFill>
            <a:prstDash val="solid"/>
          </a:ln>
        </p:spPr>
      </p:sp>
      <p:sp>
        <p:nvSpPr>
          <p:cNvPr id="6" name="Text 4"/>
          <p:cNvSpPr/>
          <p:nvPr/>
        </p:nvSpPr>
        <p:spPr>
          <a:xfrm>
            <a:off x="640080" y="2286000"/>
            <a:ext cx="49377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Subtle Signals — Invisible in Isolation</a:t>
            </a:r>
            <a:endParaRPr lang="en-US" sz="1400" dirty="0"/>
          </a:p>
        </p:txBody>
      </p:sp>
      <p:sp>
        <p:nvSpPr>
          <p:cNvPr id="7" name="Text 5"/>
          <p:cNvSpPr/>
          <p:nvPr/>
        </p:nvSpPr>
        <p:spPr>
          <a:xfrm>
            <a:off x="640080" y="2697480"/>
            <a:ext cx="493776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APM traces: one user's API responses 40x larger than median</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Infra metrics: 2.3 GB outbound over 72h (baseline: 200 MB)</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UEBA: off-hours access from VPN exit node, querying new data sets</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Each signal alone is a low-priority anomaly — together they're exfiltration</a:t>
            </a:r>
            <a:endParaRPr lang="en-US" sz="1000" dirty="0"/>
          </a:p>
        </p:txBody>
      </p:sp>
      <p:sp>
        <p:nvSpPr>
          <p:cNvPr id="8" name="Shape 6"/>
          <p:cNvSpPr/>
          <p:nvPr/>
        </p:nvSpPr>
        <p:spPr>
          <a:xfrm>
            <a:off x="6400800" y="2103120"/>
            <a:ext cx="5303520" cy="1371600"/>
          </a:xfrm>
          <a:prstGeom prst="roundRect">
            <a:avLst>
              <a:gd name="adj" fmla="val 6667"/>
            </a:avLst>
          </a:prstGeom>
          <a:solidFill>
            <a:srgbClr val="F5F7FA"/>
          </a:solidFill>
          <a:ln w="19050">
            <a:solidFill>
              <a:srgbClr val="101C3F"/>
            </a:solidFill>
            <a:prstDash val="solid"/>
          </a:ln>
        </p:spPr>
      </p:sp>
      <p:sp>
        <p:nvSpPr>
          <p:cNvPr id="9" name="Text 7"/>
          <p:cNvSpPr/>
          <p:nvPr/>
        </p:nvSpPr>
        <p:spPr>
          <a:xfrm>
            <a:off x="6583680" y="2286000"/>
            <a:ext cx="49377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Unified Detection — One Platform Sees All</a:t>
            </a:r>
            <a:endParaRPr lang="en-US" sz="1400" dirty="0"/>
          </a:p>
        </p:txBody>
      </p:sp>
      <p:sp>
        <p:nvSpPr>
          <p:cNvPr id="10" name="Text 8"/>
          <p:cNvSpPr/>
          <p:nvPr/>
        </p:nvSpPr>
        <p:spPr>
          <a:xfrm>
            <a:off x="6583680" y="2697480"/>
            <a:ext cx="493776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ECS-normalised data means the same trace spans feed both APM dashboards and SIEM detection rules</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Threat intel flags destination IP as known exfiltration endpoint</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AI Assistant synthesises all 4 signals into one recommendation</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No manual correlation — the platform connects the dots automatically</a:t>
            </a:r>
            <a:endParaRPr lang="en-US" sz="1000" dirty="0"/>
          </a:p>
        </p:txBody>
      </p:sp>
      <p:sp>
        <p:nvSpPr>
          <p:cNvPr id="11" name="Shape 9"/>
          <p:cNvSpPr/>
          <p:nvPr/>
        </p:nvSpPr>
        <p:spPr>
          <a:xfrm>
            <a:off x="457200" y="3749040"/>
            <a:ext cx="5303520" cy="1097280"/>
          </a:xfrm>
          <a:prstGeom prst="roundRect">
            <a:avLst>
              <a:gd name="adj" fmla="val 8333"/>
            </a:avLst>
          </a:prstGeom>
          <a:solidFill>
            <a:srgbClr val="F5F7FA"/>
          </a:solidFill>
          <a:ln w="19050">
            <a:solidFill>
              <a:srgbClr val="101C3F"/>
            </a:solidFill>
            <a:prstDash val="solid"/>
          </a:ln>
        </p:spPr>
      </p:sp>
      <p:sp>
        <p:nvSpPr>
          <p:cNvPr id="12" name="Text 10"/>
          <p:cNvSpPr/>
          <p:nvPr/>
        </p:nvSpPr>
        <p:spPr>
          <a:xfrm>
            <a:off x="640080" y="3931920"/>
            <a:ext cx="49377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Response &amp; Audit</a:t>
            </a:r>
            <a:endParaRPr lang="en-US" sz="1400" dirty="0"/>
          </a:p>
        </p:txBody>
      </p:sp>
      <p:sp>
        <p:nvSpPr>
          <p:cNvPr id="13" name="Text 11"/>
          <p:cNvSpPr/>
          <p:nvPr/>
        </p:nvSpPr>
        <p:spPr>
          <a:xfrm>
            <a:off x="640080" y="4343400"/>
            <a:ext cx="4937760" cy="457200"/>
          </a:xfrm>
          <a:prstGeom prst="rect">
            <a:avLst/>
          </a:prstGeom>
          <a:noFill/>
          <a:ln/>
        </p:spPr>
        <p:txBody>
          <a:bodyPr wrap="square" rtlCol="0" anchor="ctr"/>
          <a:lstStyle/>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Case links APM + SIEM evidence. Key revoked, credentials rotated. Compliance team gets complete audit trail in one ES|QL query — no stitching across 3 tools.</a:t>
            </a:r>
            <a:endParaRPr lang="en-US" sz="1000" dirty="0"/>
          </a:p>
        </p:txBody>
      </p:sp>
      <p:sp>
        <p:nvSpPr>
          <p:cNvPr id="14" name="Shape 12"/>
          <p:cNvSpPr/>
          <p:nvPr/>
        </p:nvSpPr>
        <p:spPr>
          <a:xfrm>
            <a:off x="6400800" y="3749040"/>
            <a:ext cx="5303520" cy="1097280"/>
          </a:xfrm>
          <a:prstGeom prst="roundRect">
            <a:avLst>
              <a:gd name="adj" fmla="val 8333"/>
            </a:avLst>
          </a:prstGeom>
          <a:solidFill>
            <a:srgbClr val="48EFCF"/>
          </a:solidFill>
          <a:ln/>
        </p:spPr>
      </p:sp>
      <p:sp>
        <p:nvSpPr>
          <p:cNvPr id="15" name="Text 13"/>
          <p:cNvSpPr/>
          <p:nvPr/>
        </p:nvSpPr>
        <p:spPr>
          <a:xfrm>
            <a:off x="6583680" y="3931920"/>
            <a:ext cx="4937760" cy="365760"/>
          </a:xfrm>
          <a:prstGeom prst="rect">
            <a:avLst/>
          </a:prstGeom>
          <a:noFill/>
          <a:ln/>
        </p:spPr>
        <p:txBody>
          <a:bodyPr wrap="square" rtlCol="0" anchor="ctr"/>
          <a:lstStyle/>
          <a:p>
            <a:pPr algn="l" indent="0" marL="0">
              <a:buNone/>
            </a:pPr>
            <a:r>
              <a:rPr lang="en-US" sz="1400" b="1" dirty="0">
                <a:solidFill>
                  <a:srgbClr val="1C1E23"/>
                </a:solidFill>
                <a:latin typeface="Inter" pitchFamily="34" charset="0"/>
                <a:ea typeface="Inter" pitchFamily="34" charset="-122"/>
                <a:cs typeface="Inter" pitchFamily="34" charset="-120"/>
              </a:rPr>
              <a:t>Results</a:t>
            </a:r>
            <a:endParaRPr lang="en-US" sz="1400" dirty="0"/>
          </a:p>
        </p:txBody>
      </p:sp>
      <p:sp>
        <p:nvSpPr>
          <p:cNvPr id="16" name="Text 14"/>
          <p:cNvSpPr/>
          <p:nvPr/>
        </p:nvSpPr>
        <p:spPr>
          <a:xfrm>
            <a:off x="6583680" y="4343400"/>
            <a:ext cx="4937760" cy="457200"/>
          </a:xfrm>
          <a:prstGeom prst="rect">
            <a:avLst/>
          </a:prstGeom>
          <a:noFill/>
          <a:ln/>
        </p:spPr>
        <p:txBody>
          <a:bodyPr wrap="square" rtlCol="0" anchor="ctr"/>
          <a:lstStyle/>
          <a:p>
            <a:pPr algn="l" indent="0" marL="0">
              <a:lnSpc>
                <a:spcPct val="140000"/>
              </a:lnSpc>
              <a:buNone/>
            </a:pPr>
            <a:r>
              <a:rPr lang="en-US" sz="1000" dirty="0">
                <a:solidFill>
                  <a:srgbClr val="1C1E23"/>
                </a:solidFill>
                <a:latin typeface="Inter" pitchFamily="34" charset="0"/>
                <a:ea typeface="Inter" pitchFamily="34" charset="-122"/>
                <a:cs typeface="Inter" pitchFamily="34" charset="-120"/>
              </a:rPr>
              <a:t>MTTD: 4 hours (vs 3-7 days in siloed tools)</a:t>
            </a:r>
            <a:endParaRPr lang="en-US" sz="1000" dirty="0"/>
          </a:p>
          <a:p>
            <a:pPr algn="l" indent="0" marL="0">
              <a:lnSpc>
                <a:spcPct val="140000"/>
              </a:lnSpc>
              <a:buNone/>
            </a:pPr>
            <a:r>
              <a:rPr lang="en-US" sz="1000" dirty="0">
                <a:solidFill>
                  <a:srgbClr val="1C1E23"/>
                </a:solidFill>
                <a:latin typeface="Inter" pitchFamily="34" charset="0"/>
                <a:ea typeface="Inter" pitchFamily="34" charset="-122"/>
                <a:cs typeface="Inter" pitchFamily="34" charset="-120"/>
              </a:rPr>
              <a:t>MTTR: 30 min (vs 12-24 hours)</a:t>
            </a:r>
            <a:endParaRPr lang="en-US" sz="1000" dirty="0"/>
          </a:p>
          <a:p>
            <a:pPr algn="l" indent="0" marL="0">
              <a:lnSpc>
                <a:spcPct val="140000"/>
              </a:lnSpc>
              <a:buNone/>
            </a:pPr>
            <a:r>
              <a:rPr lang="en-US" sz="1000" dirty="0">
                <a:solidFill>
                  <a:srgbClr val="1C1E23"/>
                </a:solidFill>
                <a:latin typeface="Inter" pitchFamily="34" charset="0"/>
                <a:ea typeface="Inter" pitchFamily="34" charset="-122"/>
                <a:cs typeface="Inter" pitchFamily="34" charset="-120"/>
              </a:rPr>
              <a:t>Prevented: ~15 GB additional data exfiltration</a:t>
            </a:r>
            <a:endParaRPr lang="en-US" sz="1000" dirty="0"/>
          </a:p>
          <a:p>
            <a:pPr algn="l" indent="0" marL="0">
              <a:lnSpc>
                <a:spcPct val="140000"/>
              </a:lnSpc>
              <a:buNone/>
            </a:pPr>
            <a:r>
              <a:rPr lang="en-US" sz="1000" dirty="0">
                <a:solidFill>
                  <a:srgbClr val="1C1E23"/>
                </a:solidFill>
                <a:latin typeface="Inter" pitchFamily="34" charset="0"/>
                <a:ea typeface="Inter" pitchFamily="34" charset="-122"/>
                <a:cs typeface="Inter" pitchFamily="34" charset="-120"/>
              </a:rPr>
              <a:t>One platform, one investigation, one audit trail</a:t>
            </a:r>
            <a:endParaRPr lang="en-US" sz="1000" dirty="0"/>
          </a:p>
        </p:txBody>
      </p:sp>
      <p:sp>
        <p:nvSpPr>
          <p:cNvPr id="17" name="Shape 15"/>
          <p:cNvSpPr/>
          <p:nvPr/>
        </p:nvSpPr>
        <p:spPr>
          <a:xfrm>
            <a:off x="457200" y="5120640"/>
            <a:ext cx="11430000" cy="1371600"/>
          </a:xfrm>
          <a:prstGeom prst="roundRect">
            <a:avLst>
              <a:gd name="adj" fmla="val 6667"/>
            </a:avLst>
          </a:prstGeom>
          <a:solidFill>
            <a:srgbClr val="F5F7FA"/>
          </a:solidFill>
          <a:ln w="19050">
            <a:solidFill>
              <a:srgbClr val="101C3F"/>
            </a:solidFill>
            <a:prstDash val="solid"/>
          </a:ln>
        </p:spPr>
      </p:sp>
      <p:sp>
        <p:nvSpPr>
          <p:cNvPr id="18" name="Text 16"/>
          <p:cNvSpPr/>
          <p:nvPr/>
        </p:nvSpPr>
        <p:spPr>
          <a:xfrm>
            <a:off x="640080" y="5303520"/>
            <a:ext cx="5303520" cy="274320"/>
          </a:xfrm>
          <a:prstGeom prst="rect">
            <a:avLst/>
          </a:prstGeom>
          <a:noFill/>
          <a:ln/>
        </p:spPr>
        <p:txBody>
          <a:bodyPr wrap="square" rtlCol="0" anchor="ctr"/>
          <a:lstStyle/>
          <a:p>
            <a:pPr algn="l" indent="0" marL="0">
              <a:buNone/>
            </a:pPr>
            <a:r>
              <a:rPr lang="en-US" sz="1200" b="1" dirty="0">
                <a:solidFill>
                  <a:srgbClr val="1C1E23"/>
                </a:solidFill>
                <a:latin typeface="Inter" pitchFamily="34" charset="0"/>
                <a:ea typeface="Inter" pitchFamily="34" charset="-122"/>
                <a:cs typeface="Inter" pitchFamily="34" charset="-120"/>
              </a:rPr>
              <a:t>Why siloed tools miss this:</a:t>
            </a:r>
            <a:endParaRPr lang="en-US" sz="1200" dirty="0"/>
          </a:p>
        </p:txBody>
      </p:sp>
      <p:sp>
        <p:nvSpPr>
          <p:cNvPr id="19" name="Text 17"/>
          <p:cNvSpPr/>
          <p:nvPr/>
        </p:nvSpPr>
        <p:spPr>
          <a:xfrm>
            <a:off x="6583680" y="5303520"/>
            <a:ext cx="5029200" cy="274320"/>
          </a:xfrm>
          <a:prstGeom prst="rect">
            <a:avLst/>
          </a:prstGeom>
          <a:noFill/>
          <a:ln/>
        </p:spPr>
        <p:txBody>
          <a:bodyPr wrap="square" rtlCol="0" anchor="ctr"/>
          <a:lstStyle/>
          <a:p>
            <a:pPr algn="l" indent="0" marL="0">
              <a:buNone/>
            </a:pPr>
            <a:r>
              <a:rPr lang="en-US" sz="1200" b="1" dirty="0">
                <a:solidFill>
                  <a:srgbClr val="1C1E23"/>
                </a:solidFill>
                <a:latin typeface="Inter" pitchFamily="34" charset="0"/>
                <a:ea typeface="Inter" pitchFamily="34" charset="-122"/>
                <a:cs typeface="Inter" pitchFamily="34" charset="-120"/>
              </a:rPr>
              <a:t>Without unified platform:</a:t>
            </a:r>
            <a:endParaRPr lang="en-US" sz="1200" dirty="0"/>
          </a:p>
        </p:txBody>
      </p:sp>
      <p:sp>
        <p:nvSpPr>
          <p:cNvPr id="20" name="Text 18"/>
          <p:cNvSpPr/>
          <p:nvPr/>
        </p:nvSpPr>
        <p:spPr>
          <a:xfrm>
            <a:off x="640080" y="5623560"/>
            <a:ext cx="5303520" cy="822960"/>
          </a:xfrm>
          <a:prstGeom prst="rect">
            <a:avLst/>
          </a:prstGeom>
          <a:noFill/>
          <a:ln/>
        </p:spPr>
        <p:txBody>
          <a:bodyPr wrap="square" rtlCol="0" anchor="ctr"/>
          <a:lstStyle/>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APM team sees large payloads — looks like a bug</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UEBA team sees off-hours access — low-priority alert</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Network team sees bandwidth spike — routine fluctuation</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Nobody sees all four signals together. Breach discovered weeks later in audit.</a:t>
            </a:r>
            <a:endParaRPr lang="en-US" sz="900" dirty="0"/>
          </a:p>
        </p:txBody>
      </p:sp>
      <p:sp>
        <p:nvSpPr>
          <p:cNvPr id="21" name="Text 19"/>
          <p:cNvSpPr/>
          <p:nvPr/>
        </p:nvSpPr>
        <p:spPr>
          <a:xfrm>
            <a:off x="6583680" y="5623560"/>
            <a:ext cx="5029200" cy="822960"/>
          </a:xfrm>
          <a:prstGeom prst="rect">
            <a:avLst/>
          </a:prstGeom>
          <a:noFill/>
          <a:ln/>
        </p:spPr>
        <p:txBody>
          <a:bodyPr wrap="square" rtlCol="0" anchor="ctr"/>
          <a:lstStyle/>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Elastic unified platform:</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Same trace spans feed both APM dashboards and SIEM rules</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AI Assistant correlates across all domains automatically</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One Case, one timeline, one team — 30 min to full resolution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3: Supply Chain Attack — Compromised npm Package</a:t>
            </a:r>
            <a:endParaRPr lang="en-US" sz="28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Streams + APM Topology + Threat Intel — from unknown IP to 40-service containment in 25 minutes</a:t>
            </a:r>
            <a:endParaRPr lang="en-US" sz="1300" dirty="0"/>
          </a:p>
        </p:txBody>
      </p:sp>
      <p:sp>
        <p:nvSpPr>
          <p:cNvPr id="5" name="Shape 3"/>
          <p:cNvSpPr/>
          <p:nvPr/>
        </p:nvSpPr>
        <p:spPr>
          <a:xfrm>
            <a:off x="457200" y="2286000"/>
            <a:ext cx="11430000" cy="822960"/>
          </a:xfrm>
          <a:prstGeom prst="roundRect">
            <a:avLst>
              <a:gd name="adj" fmla="val 11111"/>
            </a:avLst>
          </a:prstGeom>
          <a:solidFill>
            <a:srgbClr val="F5F7FA"/>
          </a:solidFill>
          <a:ln w="19050">
            <a:solidFill>
              <a:srgbClr val="101C3F"/>
            </a:solidFill>
            <a:prstDash val="solid"/>
          </a:ln>
        </p:spPr>
      </p:sp>
      <p:sp>
        <p:nvSpPr>
          <p:cNvPr id="6" name="Text 4"/>
          <p:cNvSpPr/>
          <p:nvPr/>
        </p:nvSpPr>
        <p:spPr>
          <a:xfrm>
            <a:off x="640080" y="2423160"/>
            <a:ext cx="3200400" cy="45720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1  Streams Detects the Unknown</a:t>
            </a:r>
            <a:endParaRPr lang="en-US" sz="1400" dirty="0"/>
          </a:p>
        </p:txBody>
      </p:sp>
      <p:sp>
        <p:nvSpPr>
          <p:cNvPr id="7" name="Text 5"/>
          <p:cNvSpPr/>
          <p:nvPr/>
        </p:nvSpPr>
        <p:spPr>
          <a:xfrm>
            <a:off x="3931920" y="2423160"/>
            <a:ext cx="7772400" cy="45720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AI parsing identifies new pattern in raw logs: outbound HTTPS to an IP that has never appeared before. Significant Events flags it immediately.</a:t>
            </a:r>
            <a:endParaRPr lang="en-US" sz="1100" dirty="0"/>
          </a:p>
        </p:txBody>
      </p:sp>
      <p:sp>
        <p:nvSpPr>
          <p:cNvPr id="8" name="Text 6"/>
          <p:cNvSpPr/>
          <p:nvPr/>
        </p:nvSpPr>
        <p:spPr>
          <a:xfrm>
            <a:off x="5669280" y="3154680"/>
            <a:ext cx="731520" cy="365760"/>
          </a:xfrm>
          <a:prstGeom prst="rect">
            <a:avLst/>
          </a:prstGeom>
          <a:noFill/>
          <a:ln/>
        </p:spPr>
        <p:txBody>
          <a:bodyPr wrap="square" rtlCol="0" anchor="ctr"/>
          <a:lstStyle/>
          <a:p>
            <a:pPr algn="ctr" indent="0" marL="0">
              <a:buNone/>
            </a:pPr>
            <a:r>
              <a:rPr lang="en-US" sz="1800" dirty="0">
                <a:solidFill>
                  <a:srgbClr val="48EFCF"/>
                </a:solidFill>
                <a:latin typeface="Inter" pitchFamily="34" charset="0"/>
                <a:ea typeface="Inter" pitchFamily="34" charset="-122"/>
                <a:cs typeface="Inter" pitchFamily="34" charset="-120"/>
              </a:rPr>
              <a:t>→</a:t>
            </a:r>
            <a:endParaRPr lang="en-US" sz="1800" dirty="0"/>
          </a:p>
        </p:txBody>
      </p:sp>
      <p:sp>
        <p:nvSpPr>
          <p:cNvPr id="9" name="Shape 7"/>
          <p:cNvSpPr/>
          <p:nvPr/>
        </p:nvSpPr>
        <p:spPr>
          <a:xfrm>
            <a:off x="457200" y="3291840"/>
            <a:ext cx="11430000" cy="822960"/>
          </a:xfrm>
          <a:prstGeom prst="roundRect">
            <a:avLst>
              <a:gd name="adj" fmla="val 11111"/>
            </a:avLst>
          </a:prstGeom>
          <a:solidFill>
            <a:srgbClr val="F5F7FA"/>
          </a:solidFill>
          <a:ln w="19050">
            <a:solidFill>
              <a:srgbClr val="101C3F"/>
            </a:solidFill>
            <a:prstDash val="solid"/>
          </a:ln>
        </p:spPr>
      </p:sp>
      <p:sp>
        <p:nvSpPr>
          <p:cNvPr id="10" name="Text 8"/>
          <p:cNvSpPr/>
          <p:nvPr/>
        </p:nvSpPr>
        <p:spPr>
          <a:xfrm>
            <a:off x="640080" y="3429000"/>
            <a:ext cx="3200400" cy="45720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2  APM Traces Pinpoint the Origin</a:t>
            </a:r>
            <a:endParaRPr lang="en-US" sz="1400" dirty="0"/>
          </a:p>
        </p:txBody>
      </p:sp>
      <p:sp>
        <p:nvSpPr>
          <p:cNvPr id="11" name="Text 9"/>
          <p:cNvSpPr/>
          <p:nvPr/>
        </p:nvSpPr>
        <p:spPr>
          <a:xfrm>
            <a:off x="3931920" y="3429000"/>
            <a:ext cx="7772400" cy="45720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Distributed tracing reveals new spans in 40 services — all from a shared dependency 'internal-utils' v3.1.2 updated 6 hours ago. Trace waterfall shows env var reads before each outbound call.</a:t>
            </a:r>
            <a:endParaRPr lang="en-US" sz="1100" dirty="0"/>
          </a:p>
        </p:txBody>
      </p:sp>
      <p:sp>
        <p:nvSpPr>
          <p:cNvPr id="12" name="Text 10"/>
          <p:cNvSpPr/>
          <p:nvPr/>
        </p:nvSpPr>
        <p:spPr>
          <a:xfrm>
            <a:off x="5669280" y="4160520"/>
            <a:ext cx="731520" cy="365760"/>
          </a:xfrm>
          <a:prstGeom prst="rect">
            <a:avLst/>
          </a:prstGeom>
          <a:noFill/>
          <a:ln/>
        </p:spPr>
        <p:txBody>
          <a:bodyPr wrap="square" rtlCol="0" anchor="ctr"/>
          <a:lstStyle/>
          <a:p>
            <a:pPr algn="ctr" indent="0" marL="0">
              <a:buNone/>
            </a:pPr>
            <a:r>
              <a:rPr lang="en-US" sz="1800" dirty="0">
                <a:solidFill>
                  <a:srgbClr val="48EFCF"/>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457200" y="4297680"/>
            <a:ext cx="11430000" cy="822960"/>
          </a:xfrm>
          <a:prstGeom prst="roundRect">
            <a:avLst>
              <a:gd name="adj" fmla="val 11111"/>
            </a:avLst>
          </a:prstGeom>
          <a:solidFill>
            <a:srgbClr val="F5F7FA"/>
          </a:solidFill>
          <a:ln w="19050">
            <a:solidFill>
              <a:srgbClr val="101C3F"/>
            </a:solidFill>
            <a:prstDash val="solid"/>
          </a:ln>
        </p:spPr>
      </p:sp>
      <p:sp>
        <p:nvSpPr>
          <p:cNvPr id="14" name="Text 12"/>
          <p:cNvSpPr/>
          <p:nvPr/>
        </p:nvSpPr>
        <p:spPr>
          <a:xfrm>
            <a:off x="640080" y="4434840"/>
            <a:ext cx="3474720" cy="45720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3  Security Confirms + Knowledge Maps Impact</a:t>
            </a:r>
            <a:endParaRPr lang="en-US" sz="1400" dirty="0"/>
          </a:p>
        </p:txBody>
      </p:sp>
      <p:sp>
        <p:nvSpPr>
          <p:cNvPr id="15" name="Text 13"/>
          <p:cNvSpPr/>
          <p:nvPr/>
        </p:nvSpPr>
        <p:spPr>
          <a:xfrm>
            <a:off x="4206240" y="4434840"/>
            <a:ext cx="7498080" cy="457200"/>
          </a:xfrm>
          <a:prstGeom prst="rect">
            <a:avLst/>
          </a:prstGeom>
          <a:noFill/>
          <a:ln/>
        </p:spPr>
        <p:txBody>
          <a:bodyPr wrap="square" rtlCol="0" anchor="ctr"/>
          <a:lstStyle/>
          <a:p>
            <a:pPr algn="l" indent="0" marL="0">
              <a:buNone/>
            </a:pPr>
            <a:r>
              <a:rPr lang="en-US" sz="1100" dirty="0">
                <a:solidFill>
                  <a:srgbClr val="343741"/>
                </a:solidFill>
                <a:latin typeface="Inter" pitchFamily="34" charset="0"/>
                <a:ea typeface="Inter" pitchFamily="34" charset="-122"/>
                <a:cs typeface="Inter" pitchFamily="34" charset="-120"/>
              </a:rPr>
              <a:t>Threat intel: destination IP is a known C2 server registered 4 days ago. AI Assistant: 'MITRE ATT&amp;CK T1195. 40 affected services: [APM topology list]. Recommended: rollback v3.1.1, rotate all env vars.'</a:t>
            </a:r>
            <a:endParaRPr lang="en-US" sz="1100" dirty="0"/>
          </a:p>
        </p:txBody>
      </p:sp>
      <p:sp>
        <p:nvSpPr>
          <p:cNvPr id="16" name="Text 14"/>
          <p:cNvSpPr/>
          <p:nvPr/>
        </p:nvSpPr>
        <p:spPr>
          <a:xfrm>
            <a:off x="5669280" y="5166360"/>
            <a:ext cx="731520" cy="365760"/>
          </a:xfrm>
          <a:prstGeom prst="rect">
            <a:avLst/>
          </a:prstGeom>
          <a:noFill/>
          <a:ln/>
        </p:spPr>
        <p:txBody>
          <a:bodyPr wrap="square" rtlCol="0" anchor="ctr"/>
          <a:lstStyle/>
          <a:p>
            <a:pPr algn="ctr" indent="0" marL="0">
              <a:buNone/>
            </a:pPr>
            <a:r>
              <a:rPr lang="en-US" sz="1800" dirty="0">
                <a:solidFill>
                  <a:srgbClr val="48EFCF"/>
                </a:solidFill>
                <a:latin typeface="Inter" pitchFamily="34" charset="0"/>
                <a:ea typeface="Inter" pitchFamily="34" charset="-122"/>
                <a:cs typeface="Inter" pitchFamily="34" charset="-120"/>
              </a:rPr>
              <a:t>→</a:t>
            </a:r>
            <a:endParaRPr lang="en-US" sz="1800" dirty="0"/>
          </a:p>
        </p:txBody>
      </p:sp>
      <p:sp>
        <p:nvSpPr>
          <p:cNvPr id="17" name="Shape 15"/>
          <p:cNvSpPr/>
          <p:nvPr/>
        </p:nvSpPr>
        <p:spPr>
          <a:xfrm>
            <a:off x="457200" y="5303520"/>
            <a:ext cx="11430000" cy="1188720"/>
          </a:xfrm>
          <a:prstGeom prst="roundRect">
            <a:avLst>
              <a:gd name="adj" fmla="val 7692"/>
            </a:avLst>
          </a:prstGeom>
          <a:solidFill>
            <a:srgbClr val="48EFCF"/>
          </a:solidFill>
          <a:ln/>
        </p:spPr>
      </p:sp>
      <p:sp>
        <p:nvSpPr>
          <p:cNvPr id="18" name="Text 16"/>
          <p:cNvSpPr/>
          <p:nvPr/>
        </p:nvSpPr>
        <p:spPr>
          <a:xfrm>
            <a:off x="640080" y="5440680"/>
            <a:ext cx="4572000" cy="365760"/>
          </a:xfrm>
          <a:prstGeom prst="rect">
            <a:avLst/>
          </a:prstGeom>
          <a:noFill/>
          <a:ln/>
        </p:spPr>
        <p:txBody>
          <a:bodyPr wrap="square" rtlCol="0" anchor="ctr"/>
          <a:lstStyle/>
          <a:p>
            <a:pPr algn="l" indent="0" marL="0">
              <a:buNone/>
            </a:pPr>
            <a:r>
              <a:rPr lang="en-US" sz="1600" b="1" dirty="0">
                <a:solidFill>
                  <a:srgbClr val="1C1E23"/>
                </a:solidFill>
                <a:latin typeface="Inter" pitchFamily="34" charset="0"/>
                <a:ea typeface="Inter" pitchFamily="34" charset="-122"/>
                <a:cs typeface="Inter" pitchFamily="34" charset="-120"/>
              </a:rPr>
              <a:t>4  Containment in 25 Minutes</a:t>
            </a:r>
            <a:endParaRPr lang="en-US" sz="1600" dirty="0"/>
          </a:p>
        </p:txBody>
      </p:sp>
      <p:sp>
        <p:nvSpPr>
          <p:cNvPr id="19" name="Text 17"/>
          <p:cNvSpPr/>
          <p:nvPr/>
        </p:nvSpPr>
        <p:spPr>
          <a:xfrm>
            <a:off x="640080" y="5833872"/>
            <a:ext cx="11064240" cy="502920"/>
          </a:xfrm>
          <a:prstGeom prst="rect">
            <a:avLst/>
          </a:prstGeom>
          <a:noFill/>
          <a:ln/>
        </p:spPr>
        <p:txBody>
          <a:bodyPr wrap="square" rtlCol="0" anchor="ctr"/>
          <a:lstStyle/>
          <a:p>
            <a:pPr algn="l" indent="0" marL="0">
              <a:buNone/>
            </a:pPr>
            <a:r>
              <a:rPr lang="en-US" sz="1100" dirty="0">
                <a:solidFill>
                  <a:srgbClr val="1C1E23"/>
                </a:solidFill>
                <a:latin typeface="Inter" pitchFamily="34" charset="0"/>
                <a:ea typeface="Inter" pitchFamily="34" charset="-122"/>
                <a:cs typeface="Inter" pitchFamily="34" charset="-120"/>
              </a:rPr>
              <a:t>Case links Streams + APM + SIEM evidence. Security workflow isolates affected services. SREs roll back to v3.1.1. O11y confirms all 40 services healthy in 8 min after rollback. MTTD: 5 min. MTTR: 25 min. Without unified platform: 6-12 hours across 40 individual service investigations.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4: Ransomware — Detected Before Encryption</a:t>
            </a:r>
            <a:endParaRPr lang="en-US" sz="28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Infrastructure Monitoring + Endpoint Security — catching ransomware in the recon phase, not after files are encrypted</a:t>
            </a:r>
            <a:endParaRPr lang="en-US" sz="1300" dirty="0"/>
          </a:p>
        </p:txBody>
      </p:sp>
      <p:sp>
        <p:nvSpPr>
          <p:cNvPr id="5" name="Shape 3"/>
          <p:cNvSpPr/>
          <p:nvPr/>
        </p:nvSpPr>
        <p:spPr>
          <a:xfrm>
            <a:off x="457200" y="2286000"/>
            <a:ext cx="5486400" cy="1463040"/>
          </a:xfrm>
          <a:prstGeom prst="roundRect">
            <a:avLst>
              <a:gd name="adj" fmla="val 6250"/>
            </a:avLst>
          </a:prstGeom>
          <a:solidFill>
            <a:srgbClr val="F5F7FA"/>
          </a:solidFill>
          <a:ln w="19050">
            <a:solidFill>
              <a:srgbClr val="101C3F"/>
            </a:solidFill>
            <a:prstDash val="solid"/>
          </a:ln>
        </p:spPr>
      </p:sp>
      <p:sp>
        <p:nvSpPr>
          <p:cNvPr id="6" name="Text 4"/>
          <p:cNvSpPr/>
          <p:nvPr/>
        </p:nvSpPr>
        <p:spPr>
          <a:xfrm>
            <a:off x="640080" y="2468880"/>
            <a:ext cx="5120640" cy="365760"/>
          </a:xfrm>
          <a:prstGeom prst="rect">
            <a:avLst/>
          </a:prstGeom>
          <a:noFill/>
          <a:ln/>
        </p:spPr>
        <p:txBody>
          <a:bodyPr wrap="square" rtlCol="0" anchor="ctr"/>
          <a:lstStyle/>
          <a:p>
            <a:pPr algn="l" indent="0" marL="0">
              <a:buNone/>
            </a:pPr>
            <a:r>
              <a:rPr lang="en-US" sz="1300" b="1" dirty="0">
                <a:solidFill>
                  <a:srgbClr val="F04E98"/>
                </a:solidFill>
                <a:latin typeface="Inter" pitchFamily="34" charset="0"/>
                <a:ea typeface="Inter" pitchFamily="34" charset="-122"/>
                <a:cs typeface="Inter" pitchFamily="34" charset="-120"/>
              </a:rPr>
              <a:t>O11y: Disk I/O &amp; Process Anomalies</a:t>
            </a:r>
            <a:endParaRPr lang="en-US" sz="1300" dirty="0"/>
          </a:p>
        </p:txBody>
      </p:sp>
      <p:sp>
        <p:nvSpPr>
          <p:cNvPr id="7" name="Text 5"/>
          <p:cNvSpPr/>
          <p:nvPr/>
        </p:nvSpPr>
        <p:spPr>
          <a:xfrm>
            <a:off x="640080" y="2880360"/>
            <a:ext cx="512064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Infra metrics show sudden spike in disk reads on a file server — 850% above baseline. Universal Profiling shows a process recursively traversing directory trees and reading file contents at high speed — classic ransomware recon pattern.</a:t>
            </a:r>
            <a:endParaRPr lang="en-US" sz="1000" dirty="0"/>
          </a:p>
        </p:txBody>
      </p:sp>
      <p:sp>
        <p:nvSpPr>
          <p:cNvPr id="8" name="Shape 6"/>
          <p:cNvSpPr/>
          <p:nvPr/>
        </p:nvSpPr>
        <p:spPr>
          <a:xfrm>
            <a:off x="6400800" y="2286000"/>
            <a:ext cx="5486400" cy="1463040"/>
          </a:xfrm>
          <a:prstGeom prst="roundRect">
            <a:avLst>
              <a:gd name="adj" fmla="val 6250"/>
            </a:avLst>
          </a:prstGeom>
          <a:solidFill>
            <a:srgbClr val="F5F7FA"/>
          </a:solidFill>
          <a:ln w="19050">
            <a:solidFill>
              <a:srgbClr val="101C3F"/>
            </a:solidFill>
            <a:prstDash val="solid"/>
          </a:ln>
        </p:spPr>
      </p:sp>
      <p:sp>
        <p:nvSpPr>
          <p:cNvPr id="9" name="Text 7"/>
          <p:cNvSpPr/>
          <p:nvPr/>
        </p:nvSpPr>
        <p:spPr>
          <a:xfrm>
            <a:off x="6583680" y="2468880"/>
            <a:ext cx="5120640" cy="365760"/>
          </a:xfrm>
          <a:prstGeom prst="rect">
            <a:avLst/>
          </a:prstGeom>
          <a:noFill/>
          <a:ln/>
        </p:spPr>
        <p:txBody>
          <a:bodyPr wrap="square" rtlCol="0" anchor="ctr"/>
          <a:lstStyle/>
          <a:p>
            <a:pPr algn="l" indent="0" marL="0">
              <a:buNone/>
            </a:pPr>
            <a:r>
              <a:rPr lang="en-US" sz="1300" b="1" dirty="0">
                <a:solidFill>
                  <a:srgbClr val="FA744E"/>
                </a:solidFill>
                <a:latin typeface="Inter" pitchFamily="34" charset="0"/>
                <a:ea typeface="Inter" pitchFamily="34" charset="-122"/>
                <a:cs typeface="Inter" pitchFamily="34" charset="-120"/>
              </a:rPr>
              <a:t>Security: Endpoint + Threat Intel</a:t>
            </a:r>
            <a:endParaRPr lang="en-US" sz="1300" dirty="0"/>
          </a:p>
        </p:txBody>
      </p:sp>
      <p:sp>
        <p:nvSpPr>
          <p:cNvPr id="10" name="Text 8"/>
          <p:cNvSpPr/>
          <p:nvPr/>
        </p:nvSpPr>
        <p:spPr>
          <a:xfrm>
            <a:off x="6583680" y="2880360"/>
            <a:ext cx="512064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Endpoint security detects the process was spawned from a malicious Office macro downloaded 4 minutes earlier. Threat intel matches the file hash to a known ransomware variant. Detection rule fires before any file is encrypted.</a:t>
            </a:r>
            <a:endParaRPr lang="en-US" sz="1000" dirty="0"/>
          </a:p>
        </p:txBody>
      </p:sp>
      <p:sp>
        <p:nvSpPr>
          <p:cNvPr id="11" name="Shape 9"/>
          <p:cNvSpPr/>
          <p:nvPr/>
        </p:nvSpPr>
        <p:spPr>
          <a:xfrm>
            <a:off x="457200" y="4023360"/>
            <a:ext cx="11430000" cy="2286000"/>
          </a:xfrm>
          <a:prstGeom prst="roundRect">
            <a:avLst>
              <a:gd name="adj" fmla="val 4000"/>
            </a:avLst>
          </a:prstGeom>
          <a:solidFill>
            <a:srgbClr val="F5F7FA"/>
          </a:solidFill>
          <a:ln w="19050">
            <a:solidFill>
              <a:srgbClr val="101C3F"/>
            </a:solidFill>
            <a:prstDash val="solid"/>
          </a:ln>
        </p:spPr>
      </p:sp>
      <p:sp>
        <p:nvSpPr>
          <p:cNvPr id="12" name="Text 10"/>
          <p:cNvSpPr/>
          <p:nvPr/>
        </p:nvSpPr>
        <p:spPr>
          <a:xfrm>
            <a:off x="640080" y="4206240"/>
            <a:ext cx="110642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Timeline: Pre-Encryption Detection</a:t>
            </a:r>
            <a:endParaRPr lang="en-US" sz="1300" dirty="0"/>
          </a:p>
        </p:txBody>
      </p:sp>
      <p:sp>
        <p:nvSpPr>
          <p:cNvPr id="13" name="Text 11"/>
          <p:cNvSpPr/>
          <p:nvPr/>
        </p:nvSpPr>
        <p:spPr>
          <a:xfrm>
            <a:off x="640080" y="4663440"/>
            <a:ext cx="11064240" cy="1463040"/>
          </a:xfrm>
          <a:prstGeom prst="rect">
            <a:avLst/>
          </a:prstGeom>
          <a:noFill/>
          <a:ln/>
        </p:spPr>
        <p:txBody>
          <a:bodyPr wrap="square" rtlCol="0" anchor="ctr"/>
          <a:lstStyle/>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T+0 min    User opens phishing attachment — malicious macro executes</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T+1 min    Endpoint Security: process spawned from macro, file hash matches known ransomware (auto-detection)</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T+2 min    Infra monitoring: disk read spike detected — 850% above baseline on file server (O11y anomaly alert)</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T+3 min    Universal Profiling: process recursively traversing directories, reading file contents (reconnaissance phase)</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T+4 min    AI Assistant correlates: O11y disk pattern + Security endpoint alert + threat intel = ransomware in recon phase</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T+5 min    Security workflow auto-isolates host, terminates malicious process, blocks outbound C2 traffic</a:t>
            </a:r>
            <a:endParaRPr lang="en-US" sz="1000" dirty="0"/>
          </a:p>
          <a:p>
            <a:pPr algn="l" indent="0" marL="0">
              <a:lnSpc>
                <a:spcPct val="140000"/>
              </a:lnSpc>
              <a:buNone/>
            </a:pPr>
            <a:r>
              <a:rPr lang="en-US" sz="1000" dirty="0">
                <a:solidFill>
                  <a:srgbClr val="343741"/>
                </a:solidFill>
                <a:latin typeface="Space Mono" pitchFamily="34" charset="0"/>
                <a:ea typeface="Space Mono" pitchFamily="34" charset="-122"/>
                <a:cs typeface="Space Mono" pitchFamily="34" charset="-120"/>
              </a:rPr>
              <a:t>T+6 min    O11y confirms disk I/O returns to baseline. Zero files encrypted.</a:t>
            </a:r>
            <a:endParaRPr lang="en-US" sz="1000" dirty="0"/>
          </a:p>
        </p:txBody>
      </p:sp>
      <p:sp>
        <p:nvSpPr>
          <p:cNvPr id="14" name="Shape 12"/>
          <p:cNvSpPr/>
          <p:nvPr/>
        </p:nvSpPr>
        <p:spPr>
          <a:xfrm>
            <a:off x="457200" y="3931920"/>
            <a:ext cx="11430000" cy="36576"/>
          </a:xfrm>
          <a:prstGeom prst="rect">
            <a:avLst/>
          </a:prstGeom>
          <a:solidFill>
            <a:srgbClr val="48EFCF"/>
          </a:solidFill>
          <a:ln/>
        </p:spPr>
      </p:sp>
      <p:sp>
        <p:nvSpPr>
          <p:cNvPr id="15" name="Text 13"/>
          <p:cNvSpPr/>
          <p:nvPr/>
        </p:nvSpPr>
        <p:spPr>
          <a:xfrm>
            <a:off x="640080" y="3886200"/>
            <a:ext cx="11064240" cy="274320"/>
          </a:xfrm>
          <a:prstGeom prst="rect">
            <a:avLst/>
          </a:prstGeom>
          <a:noFill/>
          <a:ln/>
        </p:spPr>
        <p:txBody>
          <a:bodyPr wrap="square" rtlCol="0" anchor="ctr"/>
          <a:lstStyle/>
          <a:p>
            <a:pPr algn="l" indent="0" marL="0">
              <a:buNone/>
            </a:pPr>
            <a:r>
              <a:rPr lang="en-US" sz="1100" b="1" dirty="0">
                <a:solidFill>
                  <a:srgbClr val="0B64DD"/>
                </a:solidFill>
                <a:latin typeface="Inter" pitchFamily="34" charset="0"/>
                <a:ea typeface="Inter" pitchFamily="34" charset="-122"/>
                <a:cs typeface="Inter" pitchFamily="34" charset="-120"/>
              </a:rPr>
              <a:t>Result: MTTD: 2 min. MTTR: 6 min. Zero files encrypted. Cost avoided: ~$1.2M average ransomware recovery cost.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5: Insider Threat — Legitimate Access, Malicious Intent</a:t>
            </a:r>
            <a:endParaRPr lang="en-US" sz="28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APM Database Monitoring + UEBA — the hardest threat to detect: someone who is supposed to be there</a:t>
            </a:r>
            <a:endParaRPr lang="en-US" sz="1300" dirty="0"/>
          </a:p>
        </p:txBody>
      </p:sp>
      <p:sp>
        <p:nvSpPr>
          <p:cNvPr id="5" name="Shape 3"/>
          <p:cNvSpPr/>
          <p:nvPr/>
        </p:nvSpPr>
        <p:spPr>
          <a:xfrm>
            <a:off x="457200" y="2103120"/>
            <a:ext cx="5303520" cy="1737360"/>
          </a:xfrm>
          <a:prstGeom prst="roundRect">
            <a:avLst>
              <a:gd name="adj" fmla="val 5263"/>
            </a:avLst>
          </a:prstGeom>
          <a:solidFill>
            <a:srgbClr val="F5F7FA"/>
          </a:solidFill>
          <a:ln w="19050">
            <a:solidFill>
              <a:srgbClr val="101C3F"/>
            </a:solidFill>
            <a:prstDash val="solid"/>
          </a:ln>
        </p:spPr>
      </p:sp>
      <p:sp>
        <p:nvSpPr>
          <p:cNvPr id="6" name="Text 4"/>
          <p:cNvSpPr/>
          <p:nvPr/>
        </p:nvSpPr>
        <p:spPr>
          <a:xfrm>
            <a:off x="640080" y="2286000"/>
            <a:ext cx="49377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The Challenge</a:t>
            </a:r>
            <a:endParaRPr lang="en-US" sz="1400" dirty="0"/>
          </a:p>
        </p:txBody>
      </p:sp>
      <p:sp>
        <p:nvSpPr>
          <p:cNvPr id="7" name="Text 5"/>
          <p:cNvSpPr/>
          <p:nvPr/>
        </p:nvSpPr>
        <p:spPr>
          <a:xfrm>
            <a:off x="640080" y="2697480"/>
            <a:ext cx="4937760" cy="1005840"/>
          </a:xfrm>
          <a:prstGeom prst="rect">
            <a:avLst/>
          </a:prstGeom>
          <a:noFill/>
          <a:ln/>
        </p:spPr>
        <p:txBody>
          <a:bodyPr wrap="square" rtlCol="0" anchor="ctr"/>
          <a:lstStyle/>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A senior engineer with legitimate database access is about to leave for a competitor. Over 2 weeks, they slowly query and export customer data. Each individual query looks normal — it's their job. But the pattern across time, volume, and context tells a different story.</a:t>
            </a:r>
            <a:endParaRPr lang="en-US" sz="1000" dirty="0"/>
          </a:p>
        </p:txBody>
      </p:sp>
      <p:sp>
        <p:nvSpPr>
          <p:cNvPr id="8" name="Shape 6"/>
          <p:cNvSpPr/>
          <p:nvPr/>
        </p:nvSpPr>
        <p:spPr>
          <a:xfrm>
            <a:off x="6400800" y="2103120"/>
            <a:ext cx="5303520" cy="1737360"/>
          </a:xfrm>
          <a:prstGeom prst="roundRect">
            <a:avLst>
              <a:gd name="adj" fmla="val 5263"/>
            </a:avLst>
          </a:prstGeom>
          <a:solidFill>
            <a:srgbClr val="F5F7FA"/>
          </a:solidFill>
          <a:ln w="19050">
            <a:solidFill>
              <a:srgbClr val="101C3F"/>
            </a:solidFill>
            <a:prstDash val="solid"/>
          </a:ln>
        </p:spPr>
      </p:sp>
      <p:sp>
        <p:nvSpPr>
          <p:cNvPr id="9" name="Text 7"/>
          <p:cNvSpPr/>
          <p:nvPr/>
        </p:nvSpPr>
        <p:spPr>
          <a:xfrm>
            <a:off x="6583680" y="2286000"/>
            <a:ext cx="493776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How Elastic Catches It</a:t>
            </a:r>
            <a:endParaRPr lang="en-US" sz="1400" dirty="0"/>
          </a:p>
        </p:txBody>
      </p:sp>
      <p:sp>
        <p:nvSpPr>
          <p:cNvPr id="10" name="Text 8"/>
          <p:cNvSpPr/>
          <p:nvPr/>
        </p:nvSpPr>
        <p:spPr>
          <a:xfrm>
            <a:off x="6583680" y="2697480"/>
            <a:ext cx="4937760" cy="100584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APM traces: 23x more SELECT queries than peer engineers. Query response sizes growing 15% day-over-day — exporting, not viewing</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UEBA: accessing customer tables never used before in 5-year history. Activity spikes on Sunday evenings</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HR data (knowledge): resignation submitted 10 days ago — notice period ends next week</a:t>
            </a:r>
            <a:endParaRPr lang="en-US" sz="1000" dirty="0"/>
          </a:p>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AI Assistant: 'Pattern matches data exfiltration by departing employee. 4.7 GB exported across 217 queries in 14 days.'</a:t>
            </a:r>
            <a:endParaRPr lang="en-US" sz="1000" dirty="0"/>
          </a:p>
        </p:txBody>
      </p:sp>
      <p:sp>
        <p:nvSpPr>
          <p:cNvPr id="11" name="Shape 9"/>
          <p:cNvSpPr/>
          <p:nvPr/>
        </p:nvSpPr>
        <p:spPr>
          <a:xfrm>
            <a:off x="457200" y="4114800"/>
            <a:ext cx="11430000" cy="2103120"/>
          </a:xfrm>
          <a:prstGeom prst="roundRect">
            <a:avLst>
              <a:gd name="adj" fmla="val 4348"/>
            </a:avLst>
          </a:prstGeom>
          <a:solidFill>
            <a:srgbClr val="F5F7FA"/>
          </a:solidFill>
          <a:ln w="19050">
            <a:solidFill>
              <a:srgbClr val="101C3F"/>
            </a:solidFill>
            <a:prstDash val="solid"/>
          </a:ln>
        </p:spPr>
      </p:sp>
      <p:sp>
        <p:nvSpPr>
          <p:cNvPr id="12" name="Text 10"/>
          <p:cNvSpPr/>
          <p:nvPr/>
        </p:nvSpPr>
        <p:spPr>
          <a:xfrm>
            <a:off x="640080" y="4297680"/>
            <a:ext cx="110642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Cross-Domain Signals That Only a Unified Platform Sees</a:t>
            </a:r>
            <a:endParaRPr lang="en-US" sz="1300" dirty="0"/>
          </a:p>
        </p:txBody>
      </p:sp>
      <p:sp>
        <p:nvSpPr>
          <p:cNvPr id="13" name="Shape 11"/>
          <p:cNvSpPr/>
          <p:nvPr/>
        </p:nvSpPr>
        <p:spPr>
          <a:xfrm>
            <a:off x="640080" y="4709160"/>
            <a:ext cx="10972800" cy="27432"/>
          </a:xfrm>
          <a:prstGeom prst="rect">
            <a:avLst/>
          </a:prstGeom>
          <a:solidFill>
            <a:srgbClr val="DCE2EA"/>
          </a:solidFill>
          <a:ln/>
        </p:spPr>
      </p:sp>
      <p:sp>
        <p:nvSpPr>
          <p:cNvPr id="14" name="Text 12"/>
          <p:cNvSpPr/>
          <p:nvPr/>
        </p:nvSpPr>
        <p:spPr>
          <a:xfrm>
            <a:off x="640080" y="4846320"/>
            <a:ext cx="11064240" cy="1188720"/>
          </a:xfrm>
          <a:prstGeom prst="rect">
            <a:avLst/>
          </a:prstGeom>
          <a:noFill/>
          <a:ln/>
        </p:spPr>
        <p:txBody>
          <a:bodyPr wrap="square" rtlCol="0" anchor="ctr"/>
          <a:lstStyle/>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Signal                          Source       Tool in Siloed World     Detected?</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Database query volume 23x norm   APM traces   Datadog / Dynatrace       Yes — looks like performance tuning</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Accessing new customer tables    UEBA         Splunk SIEM               Yes — low-priority anomaly</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Sunday evening activity          UEBA         Splunk SIEM               Yes — but who checks weekends?</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Query response size growing      APM traces   Datadog / Dynatrace       Yes — looks like a bug</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Resignation submitted 10 days    HR system    Workday (not integrated)   No — nobody connects the dots</a:t>
            </a:r>
            <a:endParaRPr lang="en-US" sz="900" dirty="0"/>
          </a:p>
          <a:p>
            <a:pPr algn="l" indent="0" marL="0">
              <a:lnSpc>
                <a:spcPct val="130000"/>
              </a:lnSpc>
              <a:buNone/>
            </a:pPr>
            <a:r>
              <a:rPr lang="en-US" sz="900" dirty="0">
                <a:solidFill>
                  <a:srgbClr val="343741"/>
                </a:solidFill>
                <a:latin typeface="Space Mono" pitchFamily="34" charset="0"/>
                <a:ea typeface="Space Mono" pitchFamily="34" charset="-122"/>
                <a:cs typeface="Space Mono" pitchFamily="34" charset="-120"/>
              </a:rPr>
              <a:t>All 5 signals together           —            —                         No — 4 different tools, no correlation</a:t>
            </a:r>
            <a:endParaRPr lang="en-US" sz="900" dirty="0"/>
          </a:p>
        </p:txBody>
      </p:sp>
      <p:sp>
        <p:nvSpPr>
          <p:cNvPr id="15" name="Shape 13"/>
          <p:cNvSpPr/>
          <p:nvPr/>
        </p:nvSpPr>
        <p:spPr>
          <a:xfrm>
            <a:off x="457200" y="1965960"/>
            <a:ext cx="11430000" cy="320040"/>
          </a:xfrm>
          <a:prstGeom prst="roundRect">
            <a:avLst>
              <a:gd name="adj" fmla="val 17143"/>
            </a:avLst>
          </a:prstGeom>
          <a:solidFill>
            <a:srgbClr val="48EFCF"/>
          </a:solidFill>
          <a:ln/>
        </p:spPr>
      </p:sp>
      <p:sp>
        <p:nvSpPr>
          <p:cNvPr id="16" name="Text 14"/>
          <p:cNvSpPr/>
          <p:nvPr/>
        </p:nvSpPr>
        <p:spPr>
          <a:xfrm>
            <a:off x="640080" y="1965960"/>
            <a:ext cx="11064240" cy="320040"/>
          </a:xfrm>
          <a:prstGeom prst="rect">
            <a:avLst/>
          </a:prstGeom>
          <a:noFill/>
          <a:ln/>
        </p:spPr>
        <p:txBody>
          <a:bodyPr wrap="square" rtlCol="0" anchor="ctr"/>
          <a:lstStyle/>
          <a:p>
            <a:pPr algn="ctr" indent="0" marL="0">
              <a:buNone/>
            </a:pPr>
            <a:r>
              <a:rPr lang="en-US" sz="1100" b="1" dirty="0">
                <a:solidFill>
                  <a:srgbClr val="1C1E23"/>
                </a:solidFill>
                <a:latin typeface="Inter" pitchFamily="34" charset="0"/>
                <a:ea typeface="Inter" pitchFamily="34" charset="-122"/>
                <a:cs typeface="Inter" pitchFamily="34" charset="-120"/>
              </a:rPr>
              <a:t>Result: MTTD: 9 days (vs. never detected in most orgs). Data recovered, legal hold placed before employee departure.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2800" b="1" dirty="0">
                <a:solidFill>
                  <a:srgbClr val="1C1E23"/>
                </a:solidFill>
                <a:latin typeface="Inter" pitchFamily="34" charset="0"/>
                <a:ea typeface="Inter" pitchFamily="34" charset="-122"/>
                <a:cs typeface="Inter" pitchFamily="34" charset="-120"/>
              </a:rPr>
              <a:t>Use Case 6: Cloud Misconfiguration → Data Breach Prevention</a:t>
            </a:r>
            <a:endParaRPr lang="en-US" sz="28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CSPM + Infra Monitoring + Threat Intel — finding the open door before anyone walks through it</a:t>
            </a:r>
            <a:endParaRPr lang="en-US" sz="1300" dirty="0"/>
          </a:p>
        </p:txBody>
      </p:sp>
      <p:sp>
        <p:nvSpPr>
          <p:cNvPr id="5" name="Shape 3"/>
          <p:cNvSpPr/>
          <p:nvPr/>
        </p:nvSpPr>
        <p:spPr>
          <a:xfrm>
            <a:off x="457200" y="2103120"/>
            <a:ext cx="3474720" cy="2011680"/>
          </a:xfrm>
          <a:prstGeom prst="roundRect">
            <a:avLst>
              <a:gd name="adj" fmla="val 4545"/>
            </a:avLst>
          </a:prstGeom>
          <a:solidFill>
            <a:srgbClr val="F5F7FA"/>
          </a:solidFill>
          <a:ln w="19050">
            <a:solidFill>
              <a:srgbClr val="101C3F"/>
            </a:solidFill>
            <a:prstDash val="solid"/>
          </a:ln>
        </p:spPr>
      </p:sp>
      <p:sp>
        <p:nvSpPr>
          <p:cNvPr id="6" name="Text 4"/>
          <p:cNvSpPr/>
          <p:nvPr/>
        </p:nvSpPr>
        <p:spPr>
          <a:xfrm>
            <a:off x="640080" y="2286000"/>
            <a:ext cx="310896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Step 1: CSPM Finds the Gap</a:t>
            </a:r>
            <a:endParaRPr lang="en-US" sz="1300" dirty="0"/>
          </a:p>
        </p:txBody>
      </p:sp>
      <p:sp>
        <p:nvSpPr>
          <p:cNvPr id="7" name="Text 5"/>
          <p:cNvSpPr/>
          <p:nvPr/>
        </p:nvSpPr>
        <p:spPr>
          <a:xfrm>
            <a:off x="640080" y="2697480"/>
            <a:ext cx="3108960" cy="128016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Cloud Security Posture Management scans AWS S3 buckets. Finding: 'backup-2024' bucket has public read access — violates CIS benchmark. Severity: Critical. Created 3 weeks ago by a Terraform run that omitted the 'private' ACL flag.</a:t>
            </a:r>
            <a:endParaRPr lang="en-US" sz="1000" dirty="0"/>
          </a:p>
        </p:txBody>
      </p:sp>
      <p:sp>
        <p:nvSpPr>
          <p:cNvPr id="8" name="Shape 6"/>
          <p:cNvSpPr/>
          <p:nvPr/>
        </p:nvSpPr>
        <p:spPr>
          <a:xfrm>
            <a:off x="4297680" y="2103120"/>
            <a:ext cx="3474720" cy="2011680"/>
          </a:xfrm>
          <a:prstGeom prst="roundRect">
            <a:avLst>
              <a:gd name="adj" fmla="val 4545"/>
            </a:avLst>
          </a:prstGeom>
          <a:solidFill>
            <a:srgbClr val="F5F7FA"/>
          </a:solidFill>
          <a:ln w="19050">
            <a:solidFill>
              <a:srgbClr val="101C3F"/>
            </a:solidFill>
            <a:prstDash val="solid"/>
          </a:ln>
        </p:spPr>
      </p:sp>
      <p:sp>
        <p:nvSpPr>
          <p:cNvPr id="9" name="Text 7"/>
          <p:cNvSpPr/>
          <p:nvPr/>
        </p:nvSpPr>
        <p:spPr>
          <a:xfrm>
            <a:off x="4480560" y="2286000"/>
            <a:ext cx="310896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Step 2: O11y Sees the Access</a:t>
            </a:r>
            <a:endParaRPr lang="en-US" sz="1300" dirty="0"/>
          </a:p>
        </p:txBody>
      </p:sp>
      <p:sp>
        <p:nvSpPr>
          <p:cNvPr id="10" name="Text 8"/>
          <p:cNvSpPr/>
          <p:nvPr/>
        </p:nvSpPr>
        <p:spPr>
          <a:xfrm>
            <a:off x="4480560" y="2697480"/>
            <a:ext cx="3108960" cy="128016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S3 access logs streamed to Elastic show 47 GET requests from unknown IPs in the last 48 hours. Infra monitoring: outbound data transfer from that bucket is 3.1 GB (normal: near zero). Streams flags the IP addresses as never-before-seen in 2 years of logs.</a:t>
            </a:r>
            <a:endParaRPr lang="en-US" sz="1000" dirty="0"/>
          </a:p>
        </p:txBody>
      </p:sp>
      <p:sp>
        <p:nvSpPr>
          <p:cNvPr id="11" name="Shape 9"/>
          <p:cNvSpPr/>
          <p:nvPr/>
        </p:nvSpPr>
        <p:spPr>
          <a:xfrm>
            <a:off x="8138160" y="2103120"/>
            <a:ext cx="3474720" cy="2011680"/>
          </a:xfrm>
          <a:prstGeom prst="roundRect">
            <a:avLst>
              <a:gd name="adj" fmla="val 4545"/>
            </a:avLst>
          </a:prstGeom>
          <a:solidFill>
            <a:srgbClr val="F5F7FA"/>
          </a:solidFill>
          <a:ln w="19050">
            <a:solidFill>
              <a:srgbClr val="101C3F"/>
            </a:solidFill>
            <a:prstDash val="solid"/>
          </a:ln>
        </p:spPr>
      </p:sp>
      <p:sp>
        <p:nvSpPr>
          <p:cNvPr id="12" name="Text 10"/>
          <p:cNvSpPr/>
          <p:nvPr/>
        </p:nvSpPr>
        <p:spPr>
          <a:xfrm>
            <a:off x="8321040" y="2286000"/>
            <a:ext cx="310896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Step 3: Security Confirms Breach</a:t>
            </a:r>
            <a:endParaRPr lang="en-US" sz="1300" dirty="0"/>
          </a:p>
        </p:txBody>
      </p:sp>
      <p:sp>
        <p:nvSpPr>
          <p:cNvPr id="13" name="Text 11"/>
          <p:cNvSpPr/>
          <p:nvPr/>
        </p:nvSpPr>
        <p:spPr>
          <a:xfrm>
            <a:off x="8321040" y="2697480"/>
            <a:ext cx="3108960" cy="128016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Threat intel: 3 of the 47 requesting IPs belong to a known data-scraping group. AI Assistant: 'Public S3 bucket backup-2024 accessed by known threat actors. 3.1 GB exfiltrated. 847 customer records exposed. PII data confirmed in bucket contents.'</a:t>
            </a:r>
            <a:endParaRPr lang="en-US" sz="1000" dirty="0"/>
          </a:p>
        </p:txBody>
      </p:sp>
      <p:sp>
        <p:nvSpPr>
          <p:cNvPr id="14" name="Shape 12"/>
          <p:cNvSpPr/>
          <p:nvPr/>
        </p:nvSpPr>
        <p:spPr>
          <a:xfrm>
            <a:off x="457200" y="4389120"/>
            <a:ext cx="5486400" cy="1828800"/>
          </a:xfrm>
          <a:prstGeom prst="roundRect">
            <a:avLst>
              <a:gd name="adj" fmla="val 5000"/>
            </a:avLst>
          </a:prstGeom>
          <a:solidFill>
            <a:srgbClr val="F5F7FA"/>
          </a:solidFill>
          <a:ln w="19050">
            <a:solidFill>
              <a:srgbClr val="101C3F"/>
            </a:solidFill>
            <a:prstDash val="solid"/>
          </a:ln>
        </p:spPr>
      </p:sp>
      <p:sp>
        <p:nvSpPr>
          <p:cNvPr id="15" name="Text 13"/>
          <p:cNvSpPr/>
          <p:nvPr/>
        </p:nvSpPr>
        <p:spPr>
          <a:xfrm>
            <a:off x="640080" y="4572000"/>
            <a:ext cx="5120640" cy="36576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Immediate Response</a:t>
            </a:r>
            <a:endParaRPr lang="en-US" sz="1400" dirty="0"/>
          </a:p>
        </p:txBody>
      </p:sp>
      <p:sp>
        <p:nvSpPr>
          <p:cNvPr id="16" name="Text 14"/>
          <p:cNvSpPr/>
          <p:nvPr/>
        </p:nvSpPr>
        <p:spPr>
          <a:xfrm>
            <a:off x="640080" y="4983480"/>
            <a:ext cx="5120640" cy="1097280"/>
          </a:xfrm>
          <a:prstGeom prst="rect">
            <a:avLst/>
          </a:prstGeom>
          <a:noFill/>
          <a:ln/>
        </p:spPr>
        <p:txBody>
          <a:bodyPr wrap="square" rtlCol="0" anchor="ctr"/>
          <a:lstStyle/>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Security workflow auto-applies private ACL to bucket</a:t>
            </a:r>
            <a:endParaRPr lang="en-US" sz="1000" dirty="0"/>
          </a:p>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Case opened linking CSPM finding + S3 access logs + threat intel</a:t>
            </a:r>
            <a:endParaRPr lang="en-US" sz="1000" dirty="0"/>
          </a:p>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O11y confirms data transfer stops within 90 seconds</a:t>
            </a:r>
            <a:endParaRPr lang="en-US" sz="1000" dirty="0"/>
          </a:p>
          <a:p>
            <a:pPr algn="l" indent="0" marL="0">
              <a:lnSpc>
                <a:spcPct val="150000"/>
              </a:lnSpc>
              <a:buNone/>
            </a:pPr>
            <a:r>
              <a:rPr lang="en-US" sz="1000" dirty="0">
                <a:solidFill>
                  <a:srgbClr val="343741"/>
                </a:solidFill>
                <a:latin typeface="Inter" pitchFamily="34" charset="0"/>
                <a:ea typeface="Inter" pitchFamily="34" charset="-122"/>
                <a:cs typeface="Inter" pitchFamily="34" charset="-120"/>
              </a:rPr>
              <a:t>Compliance team uses ES|QL to identify all 847 exposed records in a single cross-index query</a:t>
            </a:r>
            <a:endParaRPr lang="en-US" sz="1000" dirty="0"/>
          </a:p>
        </p:txBody>
      </p:sp>
      <p:sp>
        <p:nvSpPr>
          <p:cNvPr id="17" name="Shape 15"/>
          <p:cNvSpPr/>
          <p:nvPr/>
        </p:nvSpPr>
        <p:spPr>
          <a:xfrm>
            <a:off x="6400800" y="4389120"/>
            <a:ext cx="5486400" cy="1828800"/>
          </a:xfrm>
          <a:prstGeom prst="roundRect">
            <a:avLst>
              <a:gd name="adj" fmla="val 5000"/>
            </a:avLst>
          </a:prstGeom>
          <a:solidFill>
            <a:srgbClr val="48EFCF"/>
          </a:solidFill>
          <a:ln/>
        </p:spPr>
      </p:sp>
      <p:sp>
        <p:nvSpPr>
          <p:cNvPr id="18" name="Text 16"/>
          <p:cNvSpPr/>
          <p:nvPr/>
        </p:nvSpPr>
        <p:spPr>
          <a:xfrm>
            <a:off x="6583680" y="4572000"/>
            <a:ext cx="5120640" cy="365760"/>
          </a:xfrm>
          <a:prstGeom prst="rect">
            <a:avLst/>
          </a:prstGeom>
          <a:noFill/>
          <a:ln/>
        </p:spPr>
        <p:txBody>
          <a:bodyPr wrap="square" rtlCol="0" anchor="ctr"/>
          <a:lstStyle/>
          <a:p>
            <a:pPr algn="l" indent="0" marL="0">
              <a:buNone/>
            </a:pPr>
            <a:r>
              <a:rPr lang="en-US" sz="1400" b="1" dirty="0">
                <a:solidFill>
                  <a:srgbClr val="1C1E23"/>
                </a:solidFill>
                <a:latin typeface="Inter" pitchFamily="34" charset="0"/>
                <a:ea typeface="Inter" pitchFamily="34" charset="-122"/>
                <a:cs typeface="Inter" pitchFamily="34" charset="-120"/>
              </a:rPr>
              <a:t>Prevention for the Future</a:t>
            </a:r>
            <a:endParaRPr lang="en-US" sz="1400" dirty="0"/>
          </a:p>
        </p:txBody>
      </p:sp>
      <p:sp>
        <p:nvSpPr>
          <p:cNvPr id="19" name="Text 17"/>
          <p:cNvSpPr/>
          <p:nvPr/>
        </p:nvSpPr>
        <p:spPr>
          <a:xfrm>
            <a:off x="6583680" y="4983480"/>
            <a:ext cx="5120640" cy="1097280"/>
          </a:xfrm>
          <a:prstGeom prst="rect">
            <a:avLst/>
          </a:prstGeom>
          <a:noFill/>
          <a:ln/>
        </p:spPr>
        <p:txBody>
          <a:bodyPr wrap="square" rtlCol="0" anchor="ctr"/>
          <a:lstStyle/>
          <a:p>
            <a:pPr algn="l" indent="0" marL="0">
              <a:lnSpc>
                <a:spcPct val="150000"/>
              </a:lnSpc>
              <a:buNone/>
            </a:pPr>
            <a:r>
              <a:rPr lang="en-US" sz="1000" dirty="0">
                <a:solidFill>
                  <a:srgbClr val="1C1E23"/>
                </a:solidFill>
                <a:latin typeface="Inter" pitchFamily="34" charset="0"/>
                <a:ea typeface="Inter" pitchFamily="34" charset="-122"/>
                <a:cs typeface="Inter" pitchFamily="34" charset="-120"/>
              </a:rPr>
              <a:t>CSPM continuous scanning detects and alerts on any future public bucket within 60 seconds</a:t>
            </a:r>
            <a:endParaRPr lang="en-US" sz="1000" dirty="0"/>
          </a:p>
          <a:p>
            <a:pPr algn="l" indent="0" marL="0">
              <a:lnSpc>
                <a:spcPct val="150000"/>
              </a:lnSpc>
              <a:buNone/>
            </a:pPr>
            <a:r>
              <a:rPr lang="en-US" sz="1000" dirty="0">
                <a:solidFill>
                  <a:srgbClr val="1C1E23"/>
                </a:solidFill>
                <a:latin typeface="Inter" pitchFamily="34" charset="0"/>
                <a:ea typeface="Inter" pitchFamily="34" charset="-122"/>
                <a:cs typeface="Inter" pitchFamily="34" charset="-120"/>
              </a:rPr>
              <a:t>Terraform policy updated to block 'public-read' ACL in production</a:t>
            </a:r>
            <a:endParaRPr lang="en-US" sz="1000" dirty="0"/>
          </a:p>
          <a:p>
            <a:pPr algn="l" indent="0" marL="0">
              <a:lnSpc>
                <a:spcPct val="150000"/>
              </a:lnSpc>
              <a:buNone/>
            </a:pPr>
            <a:r>
              <a:rPr lang="en-US" sz="1000" dirty="0">
                <a:solidFill>
                  <a:srgbClr val="1C1E23"/>
                </a:solidFill>
                <a:latin typeface="Inter" pitchFamily="34" charset="0"/>
                <a:ea typeface="Inter" pitchFamily="34" charset="-122"/>
                <a:cs typeface="Inter" pitchFamily="34" charset="-120"/>
              </a:rPr>
              <a:t>O11y anomaly alert: any S3 bucket with &gt;100 MB outbound in 1 hour triggers automatic Security review</a:t>
            </a:r>
            <a:endParaRPr lang="en-US" sz="1000" dirty="0"/>
          </a:p>
          <a:p>
            <a:pPr algn="l" indent="0" marL="0">
              <a:lnSpc>
                <a:spcPct val="150000"/>
              </a:lnSpc>
              <a:buNone/>
            </a:pPr>
            <a:r>
              <a:rPr lang="en-US" sz="1000" dirty="0">
                <a:solidFill>
                  <a:srgbClr val="1C1E23"/>
                </a:solidFill>
                <a:latin typeface="Inter" pitchFamily="34" charset="0"/>
                <a:ea typeface="Inter" pitchFamily="34" charset="-122"/>
                <a:cs typeface="Inter" pitchFamily="34" charset="-120"/>
              </a:rPr>
              <a:t>MTTD: 60 sec (CSPM). MTTR: 5 min. Mandatory breach notification avoided.</a:t>
            </a:r>
            <a:endParaRPr lang="en-US" sz="1000" dirty="0"/>
          </a:p>
        </p:txBody>
      </p:sp>
      <p:sp>
        <p:nvSpPr>
          <p:cNvPr id="20" name="Shape 18"/>
          <p:cNvSpPr/>
          <p:nvPr/>
        </p:nvSpPr>
        <p:spPr>
          <a:xfrm>
            <a:off x="457200" y="1965960"/>
            <a:ext cx="11430000" cy="320040"/>
          </a:xfrm>
          <a:prstGeom prst="roundRect">
            <a:avLst>
              <a:gd name="adj" fmla="val 17143"/>
            </a:avLst>
          </a:prstGeom>
          <a:solidFill>
            <a:srgbClr val="F04E98"/>
          </a:solidFill>
          <a:ln/>
        </p:spPr>
      </p:sp>
      <p:sp>
        <p:nvSpPr>
          <p:cNvPr id="21" name="Text 19"/>
          <p:cNvSpPr/>
          <p:nvPr/>
        </p:nvSpPr>
        <p:spPr>
          <a:xfrm>
            <a:off x="640080" y="1965960"/>
            <a:ext cx="11064240" cy="320040"/>
          </a:xfrm>
          <a:prstGeom prst="rect">
            <a:avLst/>
          </a:prstGeom>
          <a:noFill/>
          <a:ln/>
        </p:spPr>
        <p:txBody>
          <a:bodyPr wrap="square"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Without unified platform: CSPM finding sits in a cloud security tool with no context. O11y never sees the access logs. Data exfiltrated for weeks before audit discovers it.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640080"/>
          </a:xfrm>
          <a:prstGeom prst="rect">
            <a:avLst/>
          </a:prstGeom>
          <a:noFill/>
          <a:ln/>
        </p:spPr>
        <p:txBody>
          <a:bodyPr wrap="square" rtlCol="0" anchor="ctr"/>
          <a:lstStyle/>
          <a:p>
            <a:pPr algn="l" indent="0" marL="0">
              <a:buNone/>
            </a:pPr>
            <a:r>
              <a:rPr lang="en-US" sz="2700" b="1" dirty="0">
                <a:solidFill>
                  <a:srgbClr val="1C1E23"/>
                </a:solidFill>
                <a:latin typeface="Inter" pitchFamily="34" charset="0"/>
                <a:ea typeface="Inter" pitchFamily="34" charset="-122"/>
                <a:cs typeface="Inter" pitchFamily="34" charset="-120"/>
              </a:rPr>
              <a:t>Use Case 7: DDoS Attack — Detected and Mitigated in 2 Minutes</a:t>
            </a:r>
            <a:endParaRPr lang="en-US" sz="2700" dirty="0"/>
          </a:p>
        </p:txBody>
      </p:sp>
      <p:sp>
        <p:nvSpPr>
          <p:cNvPr id="3" name="Shape 1"/>
          <p:cNvSpPr/>
          <p:nvPr/>
        </p:nvSpPr>
        <p:spPr>
          <a:xfrm>
            <a:off x="731520" y="1143000"/>
            <a:ext cx="1097280" cy="32004"/>
          </a:xfrm>
          <a:prstGeom prst="rect">
            <a:avLst/>
          </a:prstGeom>
          <a:solidFill>
            <a:srgbClr val="48EFCF"/>
          </a:solidFill>
          <a:ln/>
        </p:spPr>
      </p:sp>
      <p:sp>
        <p:nvSpPr>
          <p:cNvPr id="4" name="Text 2"/>
          <p:cNvSpPr/>
          <p:nvPr/>
        </p:nvSpPr>
        <p:spPr>
          <a:xfrm>
            <a:off x="731520" y="1417320"/>
            <a:ext cx="10698480" cy="36576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Network Observability + ML Anomaly Detection + Security WAF — stopping the flood before users notice</a:t>
            </a:r>
            <a:endParaRPr lang="en-US" sz="1200" dirty="0"/>
          </a:p>
        </p:txBody>
      </p:sp>
      <p:sp>
        <p:nvSpPr>
          <p:cNvPr id="5" name="Shape 3"/>
          <p:cNvSpPr/>
          <p:nvPr/>
        </p:nvSpPr>
        <p:spPr>
          <a:xfrm>
            <a:off x="457200" y="2011680"/>
            <a:ext cx="5303520" cy="1645920"/>
          </a:xfrm>
          <a:prstGeom prst="roundRect">
            <a:avLst>
              <a:gd name="adj" fmla="val 5556"/>
            </a:avLst>
          </a:prstGeom>
          <a:solidFill>
            <a:srgbClr val="F5F7FA"/>
          </a:solidFill>
          <a:ln w="19050">
            <a:solidFill>
              <a:srgbClr val="101C3F"/>
            </a:solidFill>
            <a:prstDash val="solid"/>
          </a:ln>
        </p:spPr>
      </p:sp>
      <p:sp>
        <p:nvSpPr>
          <p:cNvPr id="6" name="Text 4"/>
          <p:cNvSpPr/>
          <p:nvPr/>
        </p:nvSpPr>
        <p:spPr>
          <a:xfrm>
            <a:off x="640080" y="2194560"/>
            <a:ext cx="4937760" cy="365760"/>
          </a:xfrm>
          <a:prstGeom prst="rect">
            <a:avLst/>
          </a:prstGeom>
          <a:noFill/>
          <a:ln/>
        </p:spPr>
        <p:txBody>
          <a:bodyPr wrap="square" rtlCol="0" anchor="ctr"/>
          <a:lstStyle/>
          <a:p>
            <a:pPr algn="l" indent="0" marL="0">
              <a:buNone/>
            </a:pPr>
            <a:r>
              <a:rPr lang="en-US" sz="1300" b="1" dirty="0">
                <a:solidFill>
                  <a:srgbClr val="F04E98"/>
                </a:solidFill>
                <a:latin typeface="Inter" pitchFamily="34" charset="0"/>
                <a:ea typeface="Inter" pitchFamily="34" charset="-122"/>
                <a:cs typeface="Inter" pitchFamily="34" charset="-120"/>
              </a:rPr>
              <a:t>O11y: Network Telemetry Sees the Surge</a:t>
            </a:r>
            <a:endParaRPr lang="en-US" sz="1300" dirty="0"/>
          </a:p>
        </p:txBody>
      </p:sp>
      <p:sp>
        <p:nvSpPr>
          <p:cNvPr id="7" name="Text 5"/>
          <p:cNvSpPr/>
          <p:nvPr/>
        </p:nvSpPr>
        <p:spPr>
          <a:xfrm>
            <a:off x="640080" y="2606040"/>
            <a:ext cx="4937760" cy="91440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SNMP metrics + NetFlow data unified in Elastic detect a sudden 40x spike in inbound UDP traffic to the API gateway. Interface saturation on core routers: 94% utilisation (baseline: 12%). Packet loss climbs to 8%. APM traces show API latency jumping from 45ms to 3,200ms — affecting checkout and login services.</a:t>
            </a:r>
            <a:endParaRPr lang="en-US" sz="1000" dirty="0"/>
          </a:p>
        </p:txBody>
      </p:sp>
      <p:sp>
        <p:nvSpPr>
          <p:cNvPr id="8" name="Shape 6"/>
          <p:cNvSpPr/>
          <p:nvPr/>
        </p:nvSpPr>
        <p:spPr>
          <a:xfrm>
            <a:off x="6400800" y="2011680"/>
            <a:ext cx="5303520" cy="1645920"/>
          </a:xfrm>
          <a:prstGeom prst="roundRect">
            <a:avLst>
              <a:gd name="adj" fmla="val 5556"/>
            </a:avLst>
          </a:prstGeom>
          <a:solidFill>
            <a:srgbClr val="F5F7FA"/>
          </a:solidFill>
          <a:ln w="19050">
            <a:solidFill>
              <a:srgbClr val="101C3F"/>
            </a:solidFill>
            <a:prstDash val="solid"/>
          </a:ln>
        </p:spPr>
      </p:sp>
      <p:sp>
        <p:nvSpPr>
          <p:cNvPr id="9" name="Text 7"/>
          <p:cNvSpPr/>
          <p:nvPr/>
        </p:nvSpPr>
        <p:spPr>
          <a:xfrm>
            <a:off x="6583680" y="2194560"/>
            <a:ext cx="4937760" cy="365760"/>
          </a:xfrm>
          <a:prstGeom prst="rect">
            <a:avLst/>
          </a:prstGeom>
          <a:noFill/>
          <a:ln/>
        </p:spPr>
        <p:txBody>
          <a:bodyPr wrap="square" rtlCol="0" anchor="ctr"/>
          <a:lstStyle/>
          <a:p>
            <a:pPr algn="l" indent="0" marL="0">
              <a:buNone/>
            </a:pPr>
            <a:r>
              <a:rPr lang="en-US" sz="1300" b="1" dirty="0">
                <a:solidFill>
                  <a:srgbClr val="FA744E"/>
                </a:solidFill>
                <a:latin typeface="Inter" pitchFamily="34" charset="0"/>
                <a:ea typeface="Inter" pitchFamily="34" charset="-122"/>
                <a:cs typeface="Inter" pitchFamily="34" charset="-120"/>
              </a:rPr>
              <a:t>Security: ML + WAF Confirm the Attack</a:t>
            </a:r>
            <a:endParaRPr lang="en-US" sz="1300" dirty="0"/>
          </a:p>
        </p:txBody>
      </p:sp>
      <p:sp>
        <p:nvSpPr>
          <p:cNvPr id="10" name="Text 8"/>
          <p:cNvSpPr/>
          <p:nvPr/>
        </p:nvSpPr>
        <p:spPr>
          <a:xfrm>
            <a:off x="6583680" y="2606040"/>
            <a:ext cx="4937760" cy="91440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ML anomaly job 'spike in traffic to a country' fires within 30 seconds — traffic sourced from 12,000 IPs across 3 countries, all targeting the same /api endpoint. Security detection rule confirms UDP amplification pattern. Attack Discovery triages 200+ related alerts into a single finding: 'DDoS — UDP Amplification on API Gateway'.</a:t>
            </a:r>
            <a:endParaRPr lang="en-US" sz="1000" dirty="0"/>
          </a:p>
        </p:txBody>
      </p:sp>
      <p:sp>
        <p:nvSpPr>
          <p:cNvPr id="11" name="Shape 9"/>
          <p:cNvSpPr/>
          <p:nvPr/>
        </p:nvSpPr>
        <p:spPr>
          <a:xfrm>
            <a:off x="457200" y="3931920"/>
            <a:ext cx="11430000" cy="2286000"/>
          </a:xfrm>
          <a:prstGeom prst="roundRect">
            <a:avLst>
              <a:gd name="adj" fmla="val 4000"/>
            </a:avLst>
          </a:prstGeom>
          <a:solidFill>
            <a:srgbClr val="F5F7FA"/>
          </a:solidFill>
          <a:ln w="19050">
            <a:solidFill>
              <a:srgbClr val="101C3F"/>
            </a:solidFill>
            <a:prstDash val="solid"/>
          </a:ln>
        </p:spPr>
      </p:sp>
      <p:sp>
        <p:nvSpPr>
          <p:cNvPr id="12" name="Text 10"/>
          <p:cNvSpPr/>
          <p:nvPr/>
        </p:nvSpPr>
        <p:spPr>
          <a:xfrm>
            <a:off x="640080" y="4114800"/>
            <a:ext cx="110642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Timeline: Zero-Touch Detection to Auto-Mitigation</a:t>
            </a:r>
            <a:endParaRPr lang="en-US" sz="1300" dirty="0"/>
          </a:p>
        </p:txBody>
      </p:sp>
      <p:sp>
        <p:nvSpPr>
          <p:cNvPr id="13" name="Text 11"/>
          <p:cNvSpPr/>
          <p:nvPr/>
        </p:nvSpPr>
        <p:spPr>
          <a:xfrm>
            <a:off x="640080" y="4572000"/>
            <a:ext cx="11064240" cy="1463040"/>
          </a:xfrm>
          <a:prstGeom prst="rect">
            <a:avLst/>
          </a:prstGeom>
          <a:noFill/>
          <a:ln/>
        </p:spPr>
        <p:txBody>
          <a:bodyPr wrap="square" rtlCol="0" anchor="ctr"/>
          <a:lstStyle/>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T+0 sec    NetFlow data: UDP traffic spike detected — 40x normal on API gateway ports</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T+15 sec   SNMP metrics: core router interfaces hit 94% utilisation, packet loss begins</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T+30 sec   ML anomaly job auto-fires: traffic from 12,000 IPs across 3 countries — classic amplification pattern</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T+45 sec   APM traces: API latency 3,200ms (baseline 45ms). AI Assistant explains: 'UDP amplification DDoS on /api endpoint'</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T+60 sec   Security workflow triggers: WAF rate-limiting rules deployed, traffic scrubbed at edge</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T+90 sec   O11y confirms: interface utilisation drops to 18%, packet loss to 0%, API latency back to 52ms</a:t>
            </a:r>
            <a:endParaRPr lang="en-US" sz="900" dirty="0"/>
          </a:p>
          <a:p>
            <a:pPr algn="l" indent="0" marL="0">
              <a:lnSpc>
                <a:spcPct val="150000"/>
              </a:lnSpc>
              <a:buNone/>
            </a:pPr>
            <a:r>
              <a:rPr lang="en-US" sz="900" dirty="0">
                <a:solidFill>
                  <a:srgbClr val="343741"/>
                </a:solidFill>
                <a:latin typeface="Space Mono" pitchFamily="34" charset="0"/>
                <a:ea typeface="Space Mono" pitchFamily="34" charset="-122"/>
                <a:cs typeface="Space Mono" pitchFamily="34" charset="-120"/>
              </a:rPr>
              <a:t>T+120 sec  Attack Discovery consolidates all alerts into one finding. MTTD: 30 sec. MTTR: 2 min.</a:t>
            </a:r>
            <a:endParaRPr lang="en-US" sz="900" dirty="0"/>
          </a:p>
        </p:txBody>
      </p:sp>
      <p:sp>
        <p:nvSpPr>
          <p:cNvPr id="14" name="Shape 12"/>
          <p:cNvSpPr/>
          <p:nvPr/>
        </p:nvSpPr>
        <p:spPr>
          <a:xfrm>
            <a:off x="457200" y="1874520"/>
            <a:ext cx="11430000" cy="274320"/>
          </a:xfrm>
          <a:prstGeom prst="roundRect">
            <a:avLst>
              <a:gd name="adj" fmla="val 20000"/>
            </a:avLst>
          </a:prstGeom>
          <a:solidFill>
            <a:srgbClr val="0B64DD"/>
          </a:solidFill>
          <a:ln/>
        </p:spPr>
      </p:sp>
      <p:sp>
        <p:nvSpPr>
          <p:cNvPr id="15" name="Text 13"/>
          <p:cNvSpPr/>
          <p:nvPr/>
        </p:nvSpPr>
        <p:spPr>
          <a:xfrm>
            <a:off x="640080" y="1874520"/>
            <a:ext cx="11064240" cy="274320"/>
          </a:xfrm>
          <a:prstGeom prst="rect">
            <a:avLst/>
          </a:prstGeom>
          <a:noFill/>
          <a:ln/>
        </p:spPr>
        <p:txBody>
          <a:bodyPr wrap="square"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Siloed world: network team sees traffic spike in one tool, security team sees attack pattern in another — 36+ min to correlate manually. Elastic: one platform, one datastore, 30 sec detection.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640080"/>
          </a:xfrm>
          <a:prstGeom prst="rect">
            <a:avLst/>
          </a:prstGeom>
          <a:noFill/>
          <a:ln/>
        </p:spPr>
        <p:txBody>
          <a:bodyPr wrap="square" rtlCol="0" anchor="ctr"/>
          <a:lstStyle/>
          <a:p>
            <a:pPr algn="l" indent="0" marL="0">
              <a:buNone/>
            </a:pPr>
            <a:r>
              <a:rPr lang="en-US" sz="2700" b="1" dirty="0">
                <a:solidFill>
                  <a:srgbClr val="1C1E23"/>
                </a:solidFill>
                <a:latin typeface="Inter" pitchFamily="34" charset="0"/>
                <a:ea typeface="Inter" pitchFamily="34" charset="-122"/>
                <a:cs typeface="Inter" pitchFamily="34" charset="-120"/>
              </a:rPr>
              <a:t>Use Case 8: Credential Stuffing — Caught at the Auth Endpoint</a:t>
            </a:r>
            <a:endParaRPr lang="en-US" sz="2700" dirty="0"/>
          </a:p>
        </p:txBody>
      </p:sp>
      <p:sp>
        <p:nvSpPr>
          <p:cNvPr id="3" name="Shape 1"/>
          <p:cNvSpPr/>
          <p:nvPr/>
        </p:nvSpPr>
        <p:spPr>
          <a:xfrm>
            <a:off x="731520" y="1143000"/>
            <a:ext cx="1097280" cy="32004"/>
          </a:xfrm>
          <a:prstGeom prst="rect">
            <a:avLst/>
          </a:prstGeom>
          <a:solidFill>
            <a:srgbClr val="48EFCF"/>
          </a:solidFill>
          <a:ln/>
        </p:spPr>
      </p:sp>
      <p:sp>
        <p:nvSpPr>
          <p:cNvPr id="4" name="Text 2"/>
          <p:cNvSpPr/>
          <p:nvPr/>
        </p:nvSpPr>
        <p:spPr>
          <a:xfrm>
            <a:off x="731520" y="1417320"/>
            <a:ext cx="10698480" cy="36576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APM Auth Traces + Brute Force Detection + UEBA — stopping account takeover before the first successful login</a:t>
            </a:r>
            <a:endParaRPr lang="en-US" sz="1200" dirty="0"/>
          </a:p>
        </p:txBody>
      </p:sp>
      <p:sp>
        <p:nvSpPr>
          <p:cNvPr id="5" name="Shape 3"/>
          <p:cNvSpPr/>
          <p:nvPr/>
        </p:nvSpPr>
        <p:spPr>
          <a:xfrm>
            <a:off x="457200" y="2011680"/>
            <a:ext cx="5486400" cy="1463040"/>
          </a:xfrm>
          <a:prstGeom prst="roundRect">
            <a:avLst>
              <a:gd name="adj" fmla="val 6250"/>
            </a:avLst>
          </a:prstGeom>
          <a:solidFill>
            <a:srgbClr val="F5F7FA"/>
          </a:solidFill>
          <a:ln w="19050">
            <a:solidFill>
              <a:srgbClr val="101C3F"/>
            </a:solidFill>
            <a:prstDash val="solid"/>
          </a:ln>
        </p:spPr>
      </p:sp>
      <p:sp>
        <p:nvSpPr>
          <p:cNvPr id="6" name="Text 4"/>
          <p:cNvSpPr/>
          <p:nvPr/>
        </p:nvSpPr>
        <p:spPr>
          <a:xfrm>
            <a:off x="640080" y="2194560"/>
            <a:ext cx="5120640" cy="365760"/>
          </a:xfrm>
          <a:prstGeom prst="rect">
            <a:avLst/>
          </a:prstGeom>
          <a:noFill/>
          <a:ln/>
        </p:spPr>
        <p:txBody>
          <a:bodyPr wrap="square" rtlCol="0" anchor="ctr"/>
          <a:lstStyle/>
          <a:p>
            <a:pPr algn="l" indent="0" marL="0">
              <a:buNone/>
            </a:pPr>
            <a:r>
              <a:rPr lang="en-US" sz="1300" b="1" dirty="0">
                <a:solidFill>
                  <a:srgbClr val="F04E98"/>
                </a:solidFill>
                <a:latin typeface="Inter" pitchFamily="34" charset="0"/>
                <a:ea typeface="Inter" pitchFamily="34" charset="-122"/>
                <a:cs typeface="Inter" pitchFamily="34" charset="-120"/>
              </a:rPr>
              <a:t>APM Sees the Attack at the Auth Layer</a:t>
            </a:r>
            <a:endParaRPr lang="en-US" sz="1300" dirty="0"/>
          </a:p>
        </p:txBody>
      </p:sp>
      <p:sp>
        <p:nvSpPr>
          <p:cNvPr id="7" name="Text 5"/>
          <p:cNvSpPr/>
          <p:nvPr/>
        </p:nvSpPr>
        <p:spPr>
          <a:xfrm>
            <a:off x="640080" y="2606040"/>
            <a:ext cx="512064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APM traces on /api/auth/login show transaction rate spiking from 8/sec to 340/sec. 98% returning HTTP 401. Latency p95 jumping from 120ms to 890ms — the auth database is being hammered. Traces reveal requests coming from 8,400 unique IPs, each trying 3-5 different username/password combinations.</a:t>
            </a:r>
            <a:endParaRPr lang="en-US" sz="1000" dirty="0"/>
          </a:p>
        </p:txBody>
      </p:sp>
      <p:sp>
        <p:nvSpPr>
          <p:cNvPr id="8" name="Shape 6"/>
          <p:cNvSpPr/>
          <p:nvPr/>
        </p:nvSpPr>
        <p:spPr>
          <a:xfrm>
            <a:off x="6400800" y="2011680"/>
            <a:ext cx="5486400" cy="1463040"/>
          </a:xfrm>
          <a:prstGeom prst="roundRect">
            <a:avLst>
              <a:gd name="adj" fmla="val 6250"/>
            </a:avLst>
          </a:prstGeom>
          <a:solidFill>
            <a:srgbClr val="F5F7FA"/>
          </a:solidFill>
          <a:ln w="19050">
            <a:solidFill>
              <a:srgbClr val="101C3F"/>
            </a:solidFill>
            <a:prstDash val="solid"/>
          </a:ln>
        </p:spPr>
      </p:sp>
      <p:sp>
        <p:nvSpPr>
          <p:cNvPr id="9" name="Text 7"/>
          <p:cNvSpPr/>
          <p:nvPr/>
        </p:nvSpPr>
        <p:spPr>
          <a:xfrm>
            <a:off x="6583680" y="2194560"/>
            <a:ext cx="5120640" cy="365760"/>
          </a:xfrm>
          <a:prstGeom prst="rect">
            <a:avLst/>
          </a:prstGeom>
          <a:noFill/>
          <a:ln/>
        </p:spPr>
        <p:txBody>
          <a:bodyPr wrap="square" rtlCol="0" anchor="ctr"/>
          <a:lstStyle/>
          <a:p>
            <a:pPr algn="l" indent="0" marL="0">
              <a:buNone/>
            </a:pPr>
            <a:r>
              <a:rPr lang="en-US" sz="1300" b="1" dirty="0">
                <a:solidFill>
                  <a:srgbClr val="FA744E"/>
                </a:solidFill>
                <a:latin typeface="Inter" pitchFamily="34" charset="0"/>
                <a:ea typeface="Inter" pitchFamily="34" charset="-122"/>
                <a:cs typeface="Inter" pitchFamily="34" charset="-120"/>
              </a:rPr>
              <a:t>Security Confirms Credential Stuffing</a:t>
            </a:r>
            <a:endParaRPr lang="en-US" sz="1300" dirty="0"/>
          </a:p>
        </p:txBody>
      </p:sp>
      <p:sp>
        <p:nvSpPr>
          <p:cNvPr id="10" name="Text 8"/>
          <p:cNvSpPr/>
          <p:nvPr/>
        </p:nvSpPr>
        <p:spPr>
          <a:xfrm>
            <a:off x="6583680" y="2606040"/>
            <a:ext cx="5120640" cy="7315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Brute force detection rule fires: 340 attempts/sec from distributed IPs with low per-IP attempt counts — classic credential stuffing (not brute force). 12 accounts show successful logins from new IPs. UEBA flags: those same 12 accounts were in a known breach database from 2 weeks ago. AI Assistant: 'Credential stuffing attack using leaked credentials. 12 accounts compromised.'</a:t>
            </a:r>
            <a:endParaRPr lang="en-US" sz="1000" dirty="0"/>
          </a:p>
        </p:txBody>
      </p:sp>
      <p:sp>
        <p:nvSpPr>
          <p:cNvPr id="11" name="Shape 9"/>
          <p:cNvSpPr/>
          <p:nvPr/>
        </p:nvSpPr>
        <p:spPr>
          <a:xfrm>
            <a:off x="457200" y="3749040"/>
            <a:ext cx="5303520" cy="1188720"/>
          </a:xfrm>
          <a:prstGeom prst="roundRect">
            <a:avLst>
              <a:gd name="adj" fmla="val 7692"/>
            </a:avLst>
          </a:prstGeom>
          <a:solidFill>
            <a:srgbClr val="F5F7FA"/>
          </a:solidFill>
          <a:ln w="19050">
            <a:solidFill>
              <a:srgbClr val="101C3F"/>
            </a:solidFill>
            <a:prstDash val="solid"/>
          </a:ln>
        </p:spPr>
      </p:sp>
      <p:sp>
        <p:nvSpPr>
          <p:cNvPr id="12" name="Text 10"/>
          <p:cNvSpPr/>
          <p:nvPr/>
        </p:nvSpPr>
        <p:spPr>
          <a:xfrm>
            <a:off x="640080" y="3931920"/>
            <a:ext cx="493776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Response &amp; Hardening</a:t>
            </a:r>
            <a:endParaRPr lang="en-US" sz="1300" dirty="0"/>
          </a:p>
        </p:txBody>
      </p:sp>
      <p:sp>
        <p:nvSpPr>
          <p:cNvPr id="13" name="Text 11"/>
          <p:cNvSpPr/>
          <p:nvPr/>
        </p:nvSpPr>
        <p:spPr>
          <a:xfrm>
            <a:off x="640080" y="4343400"/>
            <a:ext cx="4937760" cy="50292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Auto-response: rate limiting deployed on /api/auth/login. 12 compromised accounts force-password-reset. MFA enforced. WAF blocks known attacker IPs. O11y confirms: auth latency returns to 120ms, transaction rate to 8/sec.</a:t>
            </a:r>
            <a:endParaRPr lang="en-US" sz="1000" dirty="0"/>
          </a:p>
        </p:txBody>
      </p:sp>
      <p:sp>
        <p:nvSpPr>
          <p:cNvPr id="14" name="Shape 12"/>
          <p:cNvSpPr/>
          <p:nvPr/>
        </p:nvSpPr>
        <p:spPr>
          <a:xfrm>
            <a:off x="6400800" y="3749040"/>
            <a:ext cx="5486400" cy="1188720"/>
          </a:xfrm>
          <a:prstGeom prst="roundRect">
            <a:avLst>
              <a:gd name="adj" fmla="val 7692"/>
            </a:avLst>
          </a:prstGeom>
          <a:solidFill>
            <a:srgbClr val="48EFCF"/>
          </a:solidFill>
          <a:ln/>
        </p:spPr>
      </p:sp>
      <p:sp>
        <p:nvSpPr>
          <p:cNvPr id="15" name="Text 13"/>
          <p:cNvSpPr/>
          <p:nvPr/>
        </p:nvSpPr>
        <p:spPr>
          <a:xfrm>
            <a:off x="6583680" y="3931920"/>
            <a:ext cx="51206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Results</a:t>
            </a:r>
            <a:endParaRPr lang="en-US" sz="1300" dirty="0"/>
          </a:p>
        </p:txBody>
      </p:sp>
      <p:sp>
        <p:nvSpPr>
          <p:cNvPr id="16" name="Text 14"/>
          <p:cNvSpPr/>
          <p:nvPr/>
        </p:nvSpPr>
        <p:spPr>
          <a:xfrm>
            <a:off x="6583680" y="4343400"/>
            <a:ext cx="5120640" cy="502920"/>
          </a:xfrm>
          <a:prstGeom prst="rect">
            <a:avLst/>
          </a:prstGeom>
          <a:noFill/>
          <a:ln/>
        </p:spPr>
        <p:txBody>
          <a:bodyPr wrap="square" rtlCol="0" anchor="ctr"/>
          <a:lstStyle/>
          <a:p>
            <a:pPr algn="l" indent="0" marL="0">
              <a:lnSpc>
                <a:spcPct val="140000"/>
              </a:lnSpc>
              <a:buNone/>
            </a:pPr>
            <a:r>
              <a:rPr lang="en-US" sz="1000" dirty="0">
                <a:solidFill>
                  <a:srgbClr val="1C1E23"/>
                </a:solidFill>
                <a:latin typeface="Inter" pitchFamily="34" charset="0"/>
                <a:ea typeface="Inter" pitchFamily="34" charset="-122"/>
                <a:cs typeface="Inter" pitchFamily="34" charset="-120"/>
              </a:rPr>
              <a:t>MTTD: 3 min. MTTR: 10 min. 12 accounts compromised but contained before data accessed. Attack Discovery consolidated 47 related alerts into 1 finding. APM traces + SIEM alerts + UEBA in one Case. No tool switching.</a:t>
            </a:r>
            <a:endParaRPr lang="en-US" sz="1000" dirty="0"/>
          </a:p>
        </p:txBody>
      </p:sp>
      <p:sp>
        <p:nvSpPr>
          <p:cNvPr id="17" name="Shape 15"/>
          <p:cNvSpPr/>
          <p:nvPr/>
        </p:nvSpPr>
        <p:spPr>
          <a:xfrm>
            <a:off x="457200" y="5212080"/>
            <a:ext cx="11430000" cy="1097280"/>
          </a:xfrm>
          <a:prstGeom prst="roundRect">
            <a:avLst>
              <a:gd name="adj" fmla="val 8333"/>
            </a:avLst>
          </a:prstGeom>
          <a:solidFill>
            <a:srgbClr val="F5F7FA"/>
          </a:solidFill>
          <a:ln w="19050">
            <a:solidFill>
              <a:srgbClr val="101C3F"/>
            </a:solidFill>
            <a:prstDash val="solid"/>
          </a:ln>
        </p:spPr>
      </p:sp>
      <p:sp>
        <p:nvSpPr>
          <p:cNvPr id="18" name="Text 16"/>
          <p:cNvSpPr/>
          <p:nvPr/>
        </p:nvSpPr>
        <p:spPr>
          <a:xfrm>
            <a:off x="640080" y="5349240"/>
            <a:ext cx="5303520" cy="274320"/>
          </a:xfrm>
          <a:prstGeom prst="rect">
            <a:avLst/>
          </a:prstGeom>
          <a:noFill/>
          <a:ln/>
        </p:spPr>
        <p:txBody>
          <a:bodyPr wrap="square" rtlCol="0" anchor="ctr"/>
          <a:lstStyle/>
          <a:p>
            <a:pPr algn="l" indent="0" marL="0">
              <a:buNone/>
            </a:pPr>
            <a:r>
              <a:rPr lang="en-US" sz="1100" b="1" dirty="0">
                <a:solidFill>
                  <a:srgbClr val="1C1E23"/>
                </a:solidFill>
                <a:latin typeface="Inter" pitchFamily="34" charset="0"/>
                <a:ea typeface="Inter" pitchFamily="34" charset="-122"/>
                <a:cs typeface="Inter" pitchFamily="34" charset="-120"/>
              </a:rPr>
              <a:t>Why siloed tools miss this:</a:t>
            </a:r>
            <a:endParaRPr lang="en-US" sz="1100" dirty="0"/>
          </a:p>
        </p:txBody>
      </p:sp>
      <p:sp>
        <p:nvSpPr>
          <p:cNvPr id="19" name="Text 17"/>
          <p:cNvSpPr/>
          <p:nvPr/>
        </p:nvSpPr>
        <p:spPr>
          <a:xfrm>
            <a:off x="6583680" y="5349240"/>
            <a:ext cx="5029200" cy="274320"/>
          </a:xfrm>
          <a:prstGeom prst="rect">
            <a:avLst/>
          </a:prstGeom>
          <a:noFill/>
          <a:ln/>
        </p:spPr>
        <p:txBody>
          <a:bodyPr wrap="square" rtlCol="0" anchor="ctr"/>
          <a:lstStyle/>
          <a:p>
            <a:pPr algn="l" indent="0" marL="0">
              <a:buNone/>
            </a:pPr>
            <a:r>
              <a:rPr lang="en-US" sz="1100" b="1" dirty="0">
                <a:solidFill>
                  <a:srgbClr val="1C1E23"/>
                </a:solidFill>
                <a:latin typeface="Inter" pitchFamily="34" charset="0"/>
                <a:ea typeface="Inter" pitchFamily="34" charset="-122"/>
                <a:cs typeface="Inter" pitchFamily="34" charset="-120"/>
              </a:rPr>
              <a:t>Without Elastic:</a:t>
            </a:r>
            <a:endParaRPr lang="en-US" sz="1100" dirty="0"/>
          </a:p>
        </p:txBody>
      </p:sp>
      <p:sp>
        <p:nvSpPr>
          <p:cNvPr id="20" name="Text 18"/>
          <p:cNvSpPr/>
          <p:nvPr/>
        </p:nvSpPr>
        <p:spPr>
          <a:xfrm>
            <a:off x="640080" y="5669280"/>
            <a:ext cx="5303520" cy="594360"/>
          </a:xfrm>
          <a:prstGeom prst="rect">
            <a:avLst/>
          </a:prstGeom>
          <a:noFill/>
          <a:ln/>
        </p:spPr>
        <p:txBody>
          <a:bodyPr wrap="square" rtlCol="0" anchor="ctr"/>
          <a:lstStyle/>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APM team sees 'high auth latency' — looks like a performance issue</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Security team sees failed logins — but distributed IPs evade threshold rules</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Breach DB team has the leaked credential list — but it's in a different tool</a:t>
            </a:r>
            <a:endParaRPr lang="en-US" sz="900" dirty="0"/>
          </a:p>
          <a:p>
            <a:pPr algn="l" indent="0" marL="0">
              <a:lnSpc>
                <a:spcPct val="140000"/>
              </a:lnSpc>
              <a:buNone/>
            </a:pPr>
            <a:r>
              <a:rPr lang="en-US" sz="900" dirty="0">
                <a:solidFill>
                  <a:srgbClr val="343741"/>
                </a:solidFill>
                <a:latin typeface="Inter" pitchFamily="34" charset="0"/>
                <a:ea typeface="Inter" pitchFamily="34" charset="-122"/>
                <a:cs typeface="Inter" pitchFamily="34" charset="-120"/>
              </a:rPr>
              <a:t>Nobody connects: high latency + failed logins + breached accounts = attack underway</a:t>
            </a:r>
            <a:endParaRPr lang="en-US" sz="900" dirty="0"/>
          </a:p>
        </p:txBody>
      </p:sp>
      <p:sp>
        <p:nvSpPr>
          <p:cNvPr id="21" name="Text 19"/>
          <p:cNvSpPr/>
          <p:nvPr/>
        </p:nvSpPr>
        <p:spPr>
          <a:xfrm>
            <a:off x="6583680" y="5669280"/>
            <a:ext cx="5029200" cy="594360"/>
          </a:xfrm>
          <a:prstGeom prst="rect">
            <a:avLst/>
          </a:prstGeom>
          <a:noFill/>
          <a:ln/>
        </p:spPr>
        <p:txBody>
          <a:bodyPr wrap="square" rtlCol="0" anchor="ctr"/>
          <a:lstStyle/>
          <a:p>
            <a:pPr algn="l" indent="0" marL="0">
              <a:lnSpc>
                <a:spcPct val="130000"/>
              </a:lnSpc>
              <a:buNone/>
            </a:pPr>
            <a:r>
              <a:rPr lang="en-US" sz="900" dirty="0">
                <a:solidFill>
                  <a:srgbClr val="343741"/>
                </a:solidFill>
                <a:latin typeface="Inter" pitchFamily="34" charset="0"/>
                <a:ea typeface="Inter" pitchFamily="34" charset="-122"/>
                <a:cs typeface="Inter" pitchFamily="34" charset="-120"/>
              </a:rPr>
              <a:t>Elastic unified platform:</a:t>
            </a:r>
            <a:endParaRPr lang="en-US" sz="900" dirty="0"/>
          </a:p>
          <a:p>
            <a:pPr algn="l" indent="0" marL="0">
              <a:lnSpc>
                <a:spcPct val="130000"/>
              </a:lnSpc>
              <a:buNone/>
            </a:pPr>
            <a:r>
              <a:rPr lang="en-US" sz="900" dirty="0">
                <a:solidFill>
                  <a:srgbClr val="343741"/>
                </a:solidFill>
                <a:latin typeface="Inter" pitchFamily="34" charset="0"/>
                <a:ea typeface="Inter" pitchFamily="34" charset="-122"/>
                <a:cs typeface="Inter" pitchFamily="34" charset="-120"/>
              </a:rPr>
              <a:t>Same APM traces feed both performance dashboards and SIEM detection rules</a:t>
            </a:r>
            <a:endParaRPr lang="en-US" sz="900" dirty="0"/>
          </a:p>
          <a:p>
            <a:pPr algn="l" indent="0" marL="0">
              <a:lnSpc>
                <a:spcPct val="130000"/>
              </a:lnSpc>
              <a:buNone/>
            </a:pPr>
            <a:r>
              <a:rPr lang="en-US" sz="900" dirty="0">
                <a:solidFill>
                  <a:srgbClr val="343741"/>
                </a:solidFill>
                <a:latin typeface="Inter" pitchFamily="34" charset="0"/>
                <a:ea typeface="Inter" pitchFamily="34" charset="-122"/>
                <a:cs typeface="Inter" pitchFamily="34" charset="-120"/>
              </a:rPr>
              <a:t>UEBA correlates IP diversity with known breach data</a:t>
            </a:r>
            <a:endParaRPr lang="en-US" sz="900" dirty="0"/>
          </a:p>
          <a:p>
            <a:pPr algn="l" indent="0" marL="0">
              <a:lnSpc>
                <a:spcPct val="130000"/>
              </a:lnSpc>
              <a:buNone/>
            </a:pPr>
            <a:r>
              <a:rPr lang="en-US" sz="900" dirty="0">
                <a:solidFill>
                  <a:srgbClr val="343741"/>
                </a:solidFill>
                <a:latin typeface="Inter" pitchFamily="34" charset="0"/>
                <a:ea typeface="Inter" pitchFamily="34" charset="-122"/>
                <a:cs typeface="Inter" pitchFamily="34" charset="-120"/>
              </a:rPr>
              <a:t>AI Assistant synthesises all three signals into one recommendation</a:t>
            </a:r>
            <a:endParaRPr lang="en-US" sz="900" dirty="0"/>
          </a:p>
          <a:p>
            <a:pPr algn="l" indent="0" marL="0">
              <a:lnSpc>
                <a:spcPct val="130000"/>
              </a:lnSpc>
              <a:buNone/>
            </a:pPr>
            <a:r>
              <a:rPr lang="en-US" sz="900" dirty="0">
                <a:solidFill>
                  <a:srgbClr val="343741"/>
                </a:solidFill>
                <a:latin typeface="Inter" pitchFamily="34" charset="0"/>
                <a:ea typeface="Inter" pitchFamily="34" charset="-122"/>
                <a:cs typeface="Inter" pitchFamily="34" charset="-120"/>
              </a:rPr>
              <a:t>Attack Discovery collapses 47 alerts into a single triageable finding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640080"/>
          </a:xfrm>
          <a:prstGeom prst="rect">
            <a:avLst/>
          </a:prstGeom>
          <a:noFill/>
          <a:ln/>
        </p:spPr>
        <p:txBody>
          <a:bodyPr wrap="square" rtlCol="0" anchor="ctr"/>
          <a:lstStyle/>
          <a:p>
            <a:pPr algn="l" indent="0" marL="0">
              <a:buNone/>
            </a:pPr>
            <a:r>
              <a:rPr lang="en-US" sz="2700" b="1" dirty="0">
                <a:solidFill>
                  <a:srgbClr val="1C1E23"/>
                </a:solidFill>
                <a:latin typeface="Inter" pitchFamily="34" charset="0"/>
                <a:ea typeface="Inter" pitchFamily="34" charset="-122"/>
                <a:cs typeface="Inter" pitchFamily="34" charset="-120"/>
              </a:rPr>
              <a:t>Use Case 9: Kubernetes Container Escape — Detected in 10 Seconds</a:t>
            </a:r>
            <a:endParaRPr lang="en-US" sz="2700" dirty="0"/>
          </a:p>
        </p:txBody>
      </p:sp>
      <p:sp>
        <p:nvSpPr>
          <p:cNvPr id="3" name="Shape 1"/>
          <p:cNvSpPr/>
          <p:nvPr/>
        </p:nvSpPr>
        <p:spPr>
          <a:xfrm>
            <a:off x="731520" y="1143000"/>
            <a:ext cx="1097280" cy="32004"/>
          </a:xfrm>
          <a:prstGeom prst="rect">
            <a:avLst/>
          </a:prstGeom>
          <a:solidFill>
            <a:srgbClr val="48EFCF"/>
          </a:solidFill>
          <a:ln/>
        </p:spPr>
      </p:sp>
      <p:sp>
        <p:nvSpPr>
          <p:cNvPr id="4" name="Text 2"/>
          <p:cNvSpPr/>
          <p:nvPr/>
        </p:nvSpPr>
        <p:spPr>
          <a:xfrm>
            <a:off x="731520" y="1417320"/>
            <a:ext cx="10698480" cy="36576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K8s Monitoring + Falco/CWP Runtime Detection + SIEM — catching the escape before the attacker reaches the host</a:t>
            </a:r>
            <a:endParaRPr lang="en-US" sz="1200" dirty="0"/>
          </a:p>
        </p:txBody>
      </p:sp>
      <p:sp>
        <p:nvSpPr>
          <p:cNvPr id="5" name="Shape 3"/>
          <p:cNvSpPr/>
          <p:nvPr/>
        </p:nvSpPr>
        <p:spPr>
          <a:xfrm>
            <a:off x="457200" y="2011680"/>
            <a:ext cx="11430000" cy="777240"/>
          </a:xfrm>
          <a:prstGeom prst="roundRect">
            <a:avLst>
              <a:gd name="adj" fmla="val 11765"/>
            </a:avLst>
          </a:prstGeom>
          <a:solidFill>
            <a:srgbClr val="F5F7FA"/>
          </a:solidFill>
          <a:ln w="19050">
            <a:solidFill>
              <a:srgbClr val="101C3F"/>
            </a:solidFill>
            <a:prstDash val="solid"/>
          </a:ln>
        </p:spPr>
      </p:sp>
      <p:sp>
        <p:nvSpPr>
          <p:cNvPr id="6" name="Text 4"/>
          <p:cNvSpPr/>
          <p:nvPr/>
        </p:nvSpPr>
        <p:spPr>
          <a:xfrm>
            <a:off x="640080" y="2148840"/>
            <a:ext cx="2286000" cy="41148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1  Initial Access</a:t>
            </a:r>
            <a:endParaRPr lang="en-US" sz="1400" dirty="0"/>
          </a:p>
        </p:txBody>
      </p:sp>
      <p:sp>
        <p:nvSpPr>
          <p:cNvPr id="7" name="Text 5"/>
          <p:cNvSpPr/>
          <p:nvPr/>
        </p:nvSpPr>
        <p:spPr>
          <a:xfrm>
            <a:off x="3017520" y="2148840"/>
            <a:ext cx="8686800" cy="502920"/>
          </a:xfrm>
          <a:prstGeom prst="rect">
            <a:avLst/>
          </a:prstGeom>
          <a:noFill/>
          <a:ln/>
        </p:spPr>
        <p:txBody>
          <a:bodyPr wrap="square" rtlCol="0" anchor="ctr"/>
          <a:lstStyle/>
          <a:p>
            <a:pPr algn="l" indent="0" marL="0">
              <a:buNone/>
            </a:pPr>
            <a:r>
              <a:rPr lang="en-US" sz="1000" dirty="0">
                <a:solidFill>
                  <a:srgbClr val="343741"/>
                </a:solidFill>
                <a:latin typeface="Inter" pitchFamily="34" charset="0"/>
                <a:ea typeface="Inter" pitchFamily="34" charset="-122"/>
                <a:cs typeface="Inter" pitchFamily="34" charset="-120"/>
              </a:rPr>
              <a:t>Attacker exploits RCE in a web app running in a Kubernetes pod. Reverse shell obtained via netcat. O11y: APM traces show spike in errors on /search endpoint. Streams: unexpected process execution in container 'web-app-7d9c' surfaces as Significant Event.</a:t>
            </a:r>
            <a:endParaRPr lang="en-US" sz="1000" dirty="0"/>
          </a:p>
        </p:txBody>
      </p:sp>
      <p:sp>
        <p:nvSpPr>
          <p:cNvPr id="8" name="Text 6"/>
          <p:cNvSpPr/>
          <p:nvPr/>
        </p:nvSpPr>
        <p:spPr>
          <a:xfrm>
            <a:off x="5669280" y="2834640"/>
            <a:ext cx="731520" cy="365760"/>
          </a:xfrm>
          <a:prstGeom prst="rect">
            <a:avLst/>
          </a:prstGeom>
          <a:noFill/>
          <a:ln/>
        </p:spPr>
        <p:txBody>
          <a:bodyPr wrap="square" rtlCol="0" anchor="ctr"/>
          <a:lstStyle/>
          <a:p>
            <a:pPr algn="ctr" indent="0" marL="0">
              <a:buNone/>
            </a:pPr>
            <a:r>
              <a:rPr lang="en-US" sz="1600" dirty="0">
                <a:solidFill>
                  <a:srgbClr val="48EFCF"/>
                </a:solidFill>
                <a:latin typeface="Inter" pitchFamily="34" charset="0"/>
                <a:ea typeface="Inter" pitchFamily="34" charset="-122"/>
                <a:cs typeface="Inter" pitchFamily="34" charset="-120"/>
              </a:rPr>
              <a:t>→</a:t>
            </a:r>
            <a:endParaRPr lang="en-US" sz="1600" dirty="0"/>
          </a:p>
        </p:txBody>
      </p:sp>
      <p:sp>
        <p:nvSpPr>
          <p:cNvPr id="9" name="Shape 7"/>
          <p:cNvSpPr/>
          <p:nvPr/>
        </p:nvSpPr>
        <p:spPr>
          <a:xfrm>
            <a:off x="457200" y="2971800"/>
            <a:ext cx="11430000" cy="777240"/>
          </a:xfrm>
          <a:prstGeom prst="roundRect">
            <a:avLst>
              <a:gd name="adj" fmla="val 11765"/>
            </a:avLst>
          </a:prstGeom>
          <a:solidFill>
            <a:srgbClr val="F5F7FA"/>
          </a:solidFill>
          <a:ln w="19050">
            <a:solidFill>
              <a:srgbClr val="101C3F"/>
            </a:solidFill>
            <a:prstDash val="solid"/>
          </a:ln>
        </p:spPr>
      </p:sp>
      <p:sp>
        <p:nvSpPr>
          <p:cNvPr id="10" name="Text 8"/>
          <p:cNvSpPr/>
          <p:nvPr/>
        </p:nvSpPr>
        <p:spPr>
          <a:xfrm>
            <a:off x="640080" y="3108960"/>
            <a:ext cx="2286000" cy="41148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2  Discovery &amp; Recon</a:t>
            </a:r>
            <a:endParaRPr lang="en-US" sz="1400" dirty="0"/>
          </a:p>
        </p:txBody>
      </p:sp>
      <p:sp>
        <p:nvSpPr>
          <p:cNvPr id="11" name="Text 9"/>
          <p:cNvSpPr/>
          <p:nvPr/>
        </p:nvSpPr>
        <p:spPr>
          <a:xfrm>
            <a:off x="3017520" y="3108960"/>
            <a:ext cx="8686800" cy="502920"/>
          </a:xfrm>
          <a:prstGeom prst="rect">
            <a:avLst/>
          </a:prstGeom>
          <a:noFill/>
          <a:ln/>
        </p:spPr>
        <p:txBody>
          <a:bodyPr wrap="square" rtlCol="0" anchor="ctr"/>
          <a:lstStyle/>
          <a:p>
            <a:pPr algn="l" indent="0" marL="0">
              <a:buNone/>
            </a:pPr>
            <a:r>
              <a:rPr lang="en-US" sz="1000" dirty="0">
                <a:solidFill>
                  <a:srgbClr val="343741"/>
                </a:solidFill>
                <a:latin typeface="Inter" pitchFamily="34" charset="0"/>
                <a:ea typeface="Inter" pitchFamily="34" charset="-122"/>
                <a:cs typeface="Inter" pitchFamily="34" charset="-120"/>
              </a:rPr>
              <a:t>Attacker probes K8s API from inside pod, enumerates mounted volumes. Falco/CWP detects: 'Contact K8S API Server From Container.' O11y: K8s metrics show unusual API call patterns from a single pod. AI Assistant cross-references: 'Pod web-app-7d9c is querying K8s API — unexpected for a frontend workload.'</a:t>
            </a:r>
            <a:endParaRPr lang="en-US" sz="1000" dirty="0"/>
          </a:p>
        </p:txBody>
      </p:sp>
      <p:sp>
        <p:nvSpPr>
          <p:cNvPr id="12" name="Text 10"/>
          <p:cNvSpPr/>
          <p:nvPr/>
        </p:nvSpPr>
        <p:spPr>
          <a:xfrm>
            <a:off x="5669280" y="3794760"/>
            <a:ext cx="731520" cy="365760"/>
          </a:xfrm>
          <a:prstGeom prst="rect">
            <a:avLst/>
          </a:prstGeom>
          <a:noFill/>
          <a:ln/>
        </p:spPr>
        <p:txBody>
          <a:bodyPr wrap="square" rtlCol="0" anchor="ctr"/>
          <a:lstStyle/>
          <a:p>
            <a:pPr algn="ctr" indent="0" marL="0">
              <a:buNone/>
            </a:pPr>
            <a:r>
              <a:rPr lang="en-US" sz="1600" dirty="0">
                <a:solidFill>
                  <a:srgbClr val="48EFCF"/>
                </a:solidFill>
                <a:latin typeface="Inter" pitchFamily="34" charset="0"/>
                <a:ea typeface="Inter" pitchFamily="34" charset="-122"/>
                <a:cs typeface="Inter" pitchFamily="34" charset="-120"/>
              </a:rPr>
              <a:t>→</a:t>
            </a:r>
            <a:endParaRPr lang="en-US" sz="1600" dirty="0"/>
          </a:p>
        </p:txBody>
      </p:sp>
      <p:sp>
        <p:nvSpPr>
          <p:cNvPr id="13" name="Shape 11"/>
          <p:cNvSpPr/>
          <p:nvPr/>
        </p:nvSpPr>
        <p:spPr>
          <a:xfrm>
            <a:off x="457200" y="3931920"/>
            <a:ext cx="11430000" cy="777240"/>
          </a:xfrm>
          <a:prstGeom prst="roundRect">
            <a:avLst>
              <a:gd name="adj" fmla="val 11765"/>
            </a:avLst>
          </a:prstGeom>
          <a:solidFill>
            <a:srgbClr val="F5F7FA"/>
          </a:solidFill>
          <a:ln w="19050">
            <a:solidFill>
              <a:srgbClr val="101C3F"/>
            </a:solidFill>
            <a:prstDash val="solid"/>
          </a:ln>
        </p:spPr>
      </p:sp>
      <p:sp>
        <p:nvSpPr>
          <p:cNvPr id="14" name="Text 12"/>
          <p:cNvSpPr/>
          <p:nvPr/>
        </p:nvSpPr>
        <p:spPr>
          <a:xfrm>
            <a:off x="640080" y="4069080"/>
            <a:ext cx="2286000" cy="411480"/>
          </a:xfrm>
          <a:prstGeom prst="rect">
            <a:avLst/>
          </a:prstGeom>
          <a:noFill/>
          <a:ln/>
        </p:spPr>
        <p:txBody>
          <a:bodyPr wrap="square" rtlCol="0" anchor="ctr"/>
          <a:lstStyle/>
          <a:p>
            <a:pPr algn="l" indent="0" marL="0">
              <a:buNone/>
            </a:pPr>
            <a:r>
              <a:rPr lang="en-US" sz="1400" b="1" dirty="0">
                <a:solidFill>
                  <a:srgbClr val="0B64DD"/>
                </a:solidFill>
                <a:latin typeface="Inter" pitchFamily="34" charset="0"/>
                <a:ea typeface="Inter" pitchFamily="34" charset="-122"/>
                <a:cs typeface="Inter" pitchFamily="34" charset="-120"/>
              </a:rPr>
              <a:t>3  Escape Attempt</a:t>
            </a:r>
            <a:endParaRPr lang="en-US" sz="1400" dirty="0"/>
          </a:p>
        </p:txBody>
      </p:sp>
      <p:sp>
        <p:nvSpPr>
          <p:cNvPr id="15" name="Text 13"/>
          <p:cNvSpPr/>
          <p:nvPr/>
        </p:nvSpPr>
        <p:spPr>
          <a:xfrm>
            <a:off x="3017520" y="4069080"/>
            <a:ext cx="8686800" cy="502920"/>
          </a:xfrm>
          <a:prstGeom prst="rect">
            <a:avLst/>
          </a:prstGeom>
          <a:noFill/>
          <a:ln/>
        </p:spPr>
        <p:txBody>
          <a:bodyPr wrap="square" rtlCol="0" anchor="ctr"/>
          <a:lstStyle/>
          <a:p>
            <a:pPr algn="l" indent="0" marL="0">
              <a:buNone/>
            </a:pPr>
            <a:r>
              <a:rPr lang="en-US" sz="1000" dirty="0">
                <a:solidFill>
                  <a:srgbClr val="343741"/>
                </a:solidFill>
                <a:latin typeface="Inter" pitchFamily="34" charset="0"/>
                <a:ea typeface="Inter" pitchFamily="34" charset="-122"/>
                <a:cs typeface="Inter" pitchFamily="34" charset="-120"/>
              </a:rPr>
              <a:t>Attacker uses nsenter to break out of container to host. Falco detects: 'Change thread namespace' — a privileged namespace escape. CWP immediately flags this as a critical runtime threat. O11y: host-level Universal Profiling catches the new process executing outside any container cgroup. SIEM alert fires within 10 seconds of the escape syscall.</a:t>
            </a:r>
            <a:endParaRPr lang="en-US" sz="1000" dirty="0"/>
          </a:p>
        </p:txBody>
      </p:sp>
      <p:sp>
        <p:nvSpPr>
          <p:cNvPr id="16" name="Text 14"/>
          <p:cNvSpPr/>
          <p:nvPr/>
        </p:nvSpPr>
        <p:spPr>
          <a:xfrm>
            <a:off x="5669280" y="4754880"/>
            <a:ext cx="731520" cy="365760"/>
          </a:xfrm>
          <a:prstGeom prst="rect">
            <a:avLst/>
          </a:prstGeom>
          <a:noFill/>
          <a:ln/>
        </p:spPr>
        <p:txBody>
          <a:bodyPr wrap="square" rtlCol="0" anchor="ctr"/>
          <a:lstStyle/>
          <a:p>
            <a:pPr algn="ctr" indent="0" marL="0">
              <a:buNone/>
            </a:pPr>
            <a:r>
              <a:rPr lang="en-US" sz="1600" dirty="0">
                <a:solidFill>
                  <a:srgbClr val="48EFCF"/>
                </a:solidFill>
                <a:latin typeface="Inter" pitchFamily="34" charset="0"/>
                <a:ea typeface="Inter" pitchFamily="34" charset="-122"/>
                <a:cs typeface="Inter" pitchFamily="34" charset="-120"/>
              </a:rPr>
              <a:t>→</a:t>
            </a:r>
            <a:endParaRPr lang="en-US" sz="1600" dirty="0"/>
          </a:p>
        </p:txBody>
      </p:sp>
      <p:sp>
        <p:nvSpPr>
          <p:cNvPr id="17" name="Shape 15"/>
          <p:cNvSpPr/>
          <p:nvPr/>
        </p:nvSpPr>
        <p:spPr>
          <a:xfrm>
            <a:off x="457200" y="4892040"/>
            <a:ext cx="11430000" cy="1188720"/>
          </a:xfrm>
          <a:prstGeom prst="roundRect">
            <a:avLst>
              <a:gd name="adj" fmla="val 7692"/>
            </a:avLst>
          </a:prstGeom>
          <a:solidFill>
            <a:srgbClr val="48EFCF"/>
          </a:solidFill>
          <a:ln/>
        </p:spPr>
      </p:sp>
      <p:sp>
        <p:nvSpPr>
          <p:cNvPr id="18" name="Text 16"/>
          <p:cNvSpPr/>
          <p:nvPr/>
        </p:nvSpPr>
        <p:spPr>
          <a:xfrm>
            <a:off x="640080" y="5029200"/>
            <a:ext cx="3657600" cy="365760"/>
          </a:xfrm>
          <a:prstGeom prst="rect">
            <a:avLst/>
          </a:prstGeom>
          <a:noFill/>
          <a:ln/>
        </p:spPr>
        <p:txBody>
          <a:bodyPr wrap="square" rtlCol="0" anchor="ctr"/>
          <a:lstStyle/>
          <a:p>
            <a:pPr algn="l" indent="0" marL="0">
              <a:buNone/>
            </a:pPr>
            <a:r>
              <a:rPr lang="en-US" sz="1400" b="1" dirty="0">
                <a:solidFill>
                  <a:srgbClr val="1C1E23"/>
                </a:solidFill>
                <a:latin typeface="Inter" pitchFamily="34" charset="0"/>
                <a:ea typeface="Inter" pitchFamily="34" charset="-122"/>
                <a:cs typeface="Inter" pitchFamily="34" charset="-120"/>
              </a:rPr>
              <a:t>4  Containment &amp; Response</a:t>
            </a:r>
            <a:endParaRPr lang="en-US" sz="1400" dirty="0"/>
          </a:p>
        </p:txBody>
      </p:sp>
      <p:sp>
        <p:nvSpPr>
          <p:cNvPr id="19" name="Text 17"/>
          <p:cNvSpPr/>
          <p:nvPr/>
        </p:nvSpPr>
        <p:spPr>
          <a:xfrm>
            <a:off x="640080" y="5394960"/>
            <a:ext cx="11064240" cy="548640"/>
          </a:xfrm>
          <a:prstGeom prst="rect">
            <a:avLst/>
          </a:prstGeom>
          <a:noFill/>
          <a:ln/>
        </p:spPr>
        <p:txBody>
          <a:bodyPr wrap="square" rtlCol="0" anchor="ctr"/>
          <a:lstStyle/>
          <a:p>
            <a:pPr algn="l" indent="0" marL="0">
              <a:buNone/>
            </a:pPr>
            <a:r>
              <a:rPr lang="en-US" sz="1000" dirty="0">
                <a:solidFill>
                  <a:srgbClr val="1C1E23"/>
                </a:solidFill>
                <a:latin typeface="Inter" pitchFamily="34" charset="0"/>
                <a:ea typeface="Inter" pitchFamily="34" charset="-122"/>
                <a:cs typeface="Inter" pitchFamily="34" charset="-120"/>
              </a:rPr>
              <a:t>Security workflow auto-isolates the compromised pod. CWP blocks the nsenter syscall on all pods via policy update. Case links: Falco alerts + K8s metrics + APM traces + SIEM timeline. AI Assistant maps the full attack chain: RCE → pod access → K8s API recon → nsenter escape. Compromised image identified: 'web-app:v2.4.1'. All 14 pods using this image quarantined. 4 minutes from escape attempt to full containment.</a:t>
            </a:r>
            <a:endParaRPr lang="en-US" sz="1000" dirty="0"/>
          </a:p>
        </p:txBody>
      </p:sp>
      <p:sp>
        <p:nvSpPr>
          <p:cNvPr id="20" name="Shape 18"/>
          <p:cNvSpPr/>
          <p:nvPr/>
        </p:nvSpPr>
        <p:spPr>
          <a:xfrm>
            <a:off x="457200" y="1874520"/>
            <a:ext cx="11430000" cy="274320"/>
          </a:xfrm>
          <a:prstGeom prst="roundRect">
            <a:avLst>
              <a:gd name="adj" fmla="val 20000"/>
            </a:avLst>
          </a:prstGeom>
          <a:solidFill>
            <a:srgbClr val="F04E98"/>
          </a:solidFill>
          <a:ln/>
        </p:spPr>
      </p:sp>
      <p:sp>
        <p:nvSpPr>
          <p:cNvPr id="21" name="Text 19"/>
          <p:cNvSpPr/>
          <p:nvPr/>
        </p:nvSpPr>
        <p:spPr>
          <a:xfrm>
            <a:off x="640080" y="1874520"/>
            <a:ext cx="11064240" cy="274320"/>
          </a:xfrm>
          <a:prstGeom prst="rect">
            <a:avLst/>
          </a:prstGeom>
          <a:noFill/>
          <a:ln/>
        </p:spPr>
        <p:txBody>
          <a:bodyPr wrap="square"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MTTD: 10 sec (Falco syscall detection). MTTR: 4 min. Without unified platform: attacker reaches host, establishes persistence, and exfiltrates data before separate tools correlate the signals.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640080"/>
          </a:xfrm>
          <a:prstGeom prst="rect">
            <a:avLst/>
          </a:prstGeom>
          <a:noFill/>
          <a:ln/>
        </p:spPr>
        <p:txBody>
          <a:bodyPr wrap="square" rtlCol="0" anchor="ctr"/>
          <a:lstStyle/>
          <a:p>
            <a:pPr algn="l" indent="0" marL="0">
              <a:buNone/>
            </a:pPr>
            <a:r>
              <a:rPr lang="en-US" sz="2700" b="1" dirty="0">
                <a:solidFill>
                  <a:srgbClr val="1C1E23"/>
                </a:solidFill>
                <a:latin typeface="Inter" pitchFamily="34" charset="0"/>
                <a:ea typeface="Inter" pitchFamily="34" charset="-122"/>
                <a:cs typeface="Inter" pitchFamily="34" charset="-120"/>
              </a:rPr>
              <a:t>Use Case 10: Lateral Movement — Traced Across the Attack Path</a:t>
            </a:r>
            <a:endParaRPr lang="en-US" sz="2700" dirty="0"/>
          </a:p>
        </p:txBody>
      </p:sp>
      <p:sp>
        <p:nvSpPr>
          <p:cNvPr id="3" name="Shape 1"/>
          <p:cNvSpPr/>
          <p:nvPr/>
        </p:nvSpPr>
        <p:spPr>
          <a:xfrm>
            <a:off x="731520" y="1143000"/>
            <a:ext cx="1097280" cy="32004"/>
          </a:xfrm>
          <a:prstGeom prst="rect">
            <a:avLst/>
          </a:prstGeom>
          <a:solidFill>
            <a:srgbClr val="48EFCF"/>
          </a:solidFill>
          <a:ln/>
        </p:spPr>
      </p:sp>
      <p:sp>
        <p:nvSpPr>
          <p:cNvPr id="4" name="Text 2"/>
          <p:cNvSpPr/>
          <p:nvPr/>
        </p:nvSpPr>
        <p:spPr>
          <a:xfrm>
            <a:off x="731520" y="1417320"/>
            <a:ext cx="10698480" cy="365760"/>
          </a:xfrm>
          <a:prstGeom prst="rect">
            <a:avLst/>
          </a:prstGeom>
          <a:noFill/>
          <a:ln/>
        </p:spPr>
        <p:txBody>
          <a:bodyPr wrap="square" rtlCol="0" anchor="ctr"/>
          <a:lstStyle/>
          <a:p>
            <a:pPr algn="l" indent="0" marL="0">
              <a:buNone/>
            </a:pPr>
            <a:r>
              <a:rPr lang="en-US" sz="1200" dirty="0">
                <a:solidFill>
                  <a:srgbClr val="343741"/>
                </a:solidFill>
                <a:latin typeface="Inter" pitchFamily="34" charset="0"/>
                <a:ea typeface="Inter" pitchFamily="34" charset="-122"/>
                <a:cs typeface="Inter" pitchFamily="34" charset="-120"/>
              </a:rPr>
              <a:t>APM Service Topology + Network Detection + Trace Correlation — following the attacker hop by hop</a:t>
            </a:r>
            <a:endParaRPr lang="en-US" sz="1200" dirty="0"/>
          </a:p>
        </p:txBody>
      </p:sp>
      <p:sp>
        <p:nvSpPr>
          <p:cNvPr id="5" name="Shape 3"/>
          <p:cNvSpPr/>
          <p:nvPr/>
        </p:nvSpPr>
        <p:spPr>
          <a:xfrm>
            <a:off x="457200" y="2011680"/>
            <a:ext cx="5486400" cy="1645920"/>
          </a:xfrm>
          <a:prstGeom prst="roundRect">
            <a:avLst>
              <a:gd name="adj" fmla="val 5556"/>
            </a:avLst>
          </a:prstGeom>
          <a:solidFill>
            <a:srgbClr val="F5F7FA"/>
          </a:solidFill>
          <a:ln w="19050">
            <a:solidFill>
              <a:srgbClr val="101C3F"/>
            </a:solidFill>
            <a:prstDash val="solid"/>
          </a:ln>
        </p:spPr>
      </p:sp>
      <p:sp>
        <p:nvSpPr>
          <p:cNvPr id="6" name="Text 4"/>
          <p:cNvSpPr/>
          <p:nvPr/>
        </p:nvSpPr>
        <p:spPr>
          <a:xfrm>
            <a:off x="640080" y="2194560"/>
            <a:ext cx="512064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The Attack Pattern</a:t>
            </a:r>
            <a:endParaRPr lang="en-US" sz="1300" dirty="0"/>
          </a:p>
        </p:txBody>
      </p:sp>
      <p:sp>
        <p:nvSpPr>
          <p:cNvPr id="7" name="Text 5"/>
          <p:cNvSpPr/>
          <p:nvPr/>
        </p:nvSpPr>
        <p:spPr>
          <a:xfrm>
            <a:off x="640080" y="2606040"/>
            <a:ext cx="5120640" cy="914400"/>
          </a:xfrm>
          <a:prstGeom prst="rect">
            <a:avLst/>
          </a:prstGeom>
          <a:noFill/>
          <a:ln/>
        </p:spPr>
        <p:txBody>
          <a:bodyPr wrap="square" rtlCol="0" anchor="ctr"/>
          <a:lstStyle/>
          <a:p>
            <a:pPr algn="l" indent="0" marL="0">
              <a:lnSpc>
                <a:spcPct val="140000"/>
              </a:lnSpc>
              <a:buNone/>
            </a:pPr>
            <a:r>
              <a:rPr lang="en-US" sz="1000" dirty="0">
                <a:solidFill>
                  <a:srgbClr val="343741"/>
                </a:solidFill>
                <a:latin typeface="Inter" pitchFamily="34" charset="0"/>
                <a:ea typeface="Inter" pitchFamily="34" charset="-122"/>
                <a:cs typeface="Inter" pitchFamily="34" charset="-120"/>
              </a:rPr>
              <a:t>An attacker compromises a public-facing web server via an unpatched CVE. From there, they pivot through 4 internal services over 90 minutes: web → auth-service → config-service → database → S3 data export. Each hop uses legitimate credentials harvested from the previous service's environment variables. Individually, each connection looks like normal east-west traffic.</a:t>
            </a:r>
            <a:endParaRPr lang="en-US" sz="1000" dirty="0"/>
          </a:p>
        </p:txBody>
      </p:sp>
      <p:sp>
        <p:nvSpPr>
          <p:cNvPr id="8" name="Shape 6"/>
          <p:cNvSpPr/>
          <p:nvPr/>
        </p:nvSpPr>
        <p:spPr>
          <a:xfrm>
            <a:off x="6400800" y="2011680"/>
            <a:ext cx="5486400" cy="1645920"/>
          </a:xfrm>
          <a:prstGeom prst="roundRect">
            <a:avLst>
              <a:gd name="adj" fmla="val 5556"/>
            </a:avLst>
          </a:prstGeom>
          <a:solidFill>
            <a:srgbClr val="F5F7FA"/>
          </a:solidFill>
          <a:ln w="19050">
            <a:solidFill>
              <a:srgbClr val="101C3F"/>
            </a:solidFill>
            <a:prstDash val="solid"/>
          </a:ln>
        </p:spPr>
      </p:sp>
      <p:sp>
        <p:nvSpPr>
          <p:cNvPr id="9" name="Text 7"/>
          <p:cNvSpPr/>
          <p:nvPr/>
        </p:nvSpPr>
        <p:spPr>
          <a:xfrm>
            <a:off x="6583680" y="2194560"/>
            <a:ext cx="5120640" cy="365760"/>
          </a:xfrm>
          <a:prstGeom prst="rect">
            <a:avLst/>
          </a:prstGeom>
          <a:noFill/>
          <a:ln/>
        </p:spPr>
        <p:txBody>
          <a:bodyPr wrap="square" rtlCol="0" anchor="ctr"/>
          <a:lstStyle/>
          <a:p>
            <a:pPr algn="l" indent="0" marL="0">
              <a:buNone/>
            </a:pPr>
            <a:r>
              <a:rPr lang="en-US" sz="1300" b="1" dirty="0">
                <a:solidFill>
                  <a:srgbClr val="0B64DD"/>
                </a:solidFill>
                <a:latin typeface="Inter" pitchFamily="34" charset="0"/>
                <a:ea typeface="Inter" pitchFamily="34" charset="-122"/>
                <a:cs typeface="Inter" pitchFamily="34" charset="-120"/>
              </a:rPr>
              <a:t>How Elastic Sees the Full Path</a:t>
            </a:r>
            <a:endParaRPr lang="en-US" sz="1300" dirty="0"/>
          </a:p>
        </p:txBody>
      </p:sp>
      <p:sp>
        <p:nvSpPr>
          <p:cNvPr id="10" name="Text 8"/>
          <p:cNvSpPr/>
          <p:nvPr/>
        </p:nvSpPr>
        <p:spPr>
          <a:xfrm>
            <a:off x="6583680" y="2606040"/>
            <a:ext cx="5120640" cy="914400"/>
          </a:xfrm>
          <a:prstGeom prst="rect">
            <a:avLst/>
          </a:prstGeom>
          <a:noFill/>
          <a:ln/>
        </p:spPr>
        <p:txBody>
          <a:bodyPr wrap="square" rtlCol="0" anchor="ctr"/>
          <a:lstStyle/>
          <a:p>
            <a:pPr algn="l" indent="0" marL="0">
              <a:lnSpc>
                <a:spcPct val="135000"/>
              </a:lnSpc>
              <a:buNone/>
            </a:pPr>
            <a:r>
              <a:rPr lang="en-US" sz="1000" dirty="0">
                <a:solidFill>
                  <a:srgbClr val="343741"/>
                </a:solidFill>
                <a:latin typeface="Inter" pitchFamily="34" charset="0"/>
                <a:ea typeface="Inter" pitchFamily="34" charset="-122"/>
                <a:cs typeface="Inter" pitchFamily="34" charset="-120"/>
              </a:rPr>
              <a:t>APM service map shows the topology: web → auth → config → DB. Traces reveal that these 4 services, which rarely communicate directly, are now chained in sequence. Network detection flags unusual port 5432 traffic from config-service (a web app) to the database — it normally only calls REST APIs. AI Assistant: 'Lateral movement pattern detected. Attack path: web-01 → auth-02 → config-01 → db-primary. The attacker is pivoting using harvested credentials.'</a:t>
            </a:r>
            <a:endParaRPr lang="en-US" sz="1000" dirty="0"/>
          </a:p>
        </p:txBody>
      </p:sp>
      <p:sp>
        <p:nvSpPr>
          <p:cNvPr id="11" name="Shape 9"/>
          <p:cNvSpPr/>
          <p:nvPr/>
        </p:nvSpPr>
        <p:spPr>
          <a:xfrm>
            <a:off x="457200" y="3931920"/>
            <a:ext cx="11430000" cy="2286000"/>
          </a:xfrm>
          <a:prstGeom prst="roundRect">
            <a:avLst>
              <a:gd name="adj" fmla="val 4000"/>
            </a:avLst>
          </a:prstGeom>
          <a:solidFill>
            <a:srgbClr val="F5F7FA"/>
          </a:solidFill>
          <a:ln w="19050">
            <a:solidFill>
              <a:srgbClr val="101C3F"/>
            </a:solidFill>
            <a:prstDash val="solid"/>
          </a:ln>
        </p:spPr>
      </p:sp>
      <p:sp>
        <p:nvSpPr>
          <p:cNvPr id="12" name="Text 10"/>
          <p:cNvSpPr/>
          <p:nvPr/>
        </p:nvSpPr>
        <p:spPr>
          <a:xfrm>
            <a:off x="640080" y="4114800"/>
            <a:ext cx="11064240" cy="365760"/>
          </a:xfrm>
          <a:prstGeom prst="rect">
            <a:avLst/>
          </a:prstGeom>
          <a:noFill/>
          <a:ln/>
        </p:spPr>
        <p:txBody>
          <a:bodyPr wrap="square" rtlCol="0" anchor="ctr"/>
          <a:lstStyle/>
          <a:p>
            <a:pPr algn="l" indent="0" marL="0">
              <a:buNone/>
            </a:pPr>
            <a:r>
              <a:rPr lang="en-US" sz="1300" b="1" dirty="0">
                <a:solidFill>
                  <a:srgbClr val="1C1E23"/>
                </a:solidFill>
                <a:latin typeface="Inter" pitchFamily="34" charset="0"/>
                <a:ea typeface="Inter" pitchFamily="34" charset="-122"/>
                <a:cs typeface="Inter" pitchFamily="34" charset="-120"/>
              </a:rPr>
              <a:t>Attack Path Visualisation (single platform, automatic correlation)</a:t>
            </a:r>
            <a:endParaRPr lang="en-US" sz="1300" dirty="0"/>
          </a:p>
        </p:txBody>
      </p:sp>
      <p:sp>
        <p:nvSpPr>
          <p:cNvPr id="13" name="Text 11"/>
          <p:cNvSpPr/>
          <p:nvPr/>
        </p:nvSpPr>
        <p:spPr>
          <a:xfrm>
            <a:off x="640080" y="4572000"/>
            <a:ext cx="11064240" cy="1463040"/>
          </a:xfrm>
          <a:prstGeom prst="rect">
            <a:avLst/>
          </a:prstGeom>
          <a:noFill/>
          <a:ln/>
        </p:spPr>
        <p:txBody>
          <a:bodyPr wrap="square" rtlCol="0" anchor="ctr"/>
          <a:lstStyle/>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web-01                  auth-02                  config-01               db-primary              S3-export</a:t>
            </a: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[Initial Compromise] → [Credential Harvest] → [Privilege Escalation] → [Data Exfiltration] → [2.8 GB Exported]</a:t>
            </a: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  CVE-2025-XXXX           env var: AUTH_TOKEN       env var: DB_PASS           SELECT * FROM            s3://exfil-bucket</a:t>
            </a: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  RCE via /upload          lateral: web→auth         lateral: auth→config       customers WHERE 1=1       external IP</a:t>
            </a:r>
            <a:endParaRPr lang="en-US" sz="900" dirty="0"/>
          </a:p>
          <a:p>
            <a:pPr algn="l" indent="0" marL="0">
              <a:lnSpc>
                <a:spcPct val="140000"/>
              </a:lnSpc>
              <a:buNone/>
            </a:pP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O11y: APM traces          O11y: APM service map     Security: Network rule    Security: UEBA anomaly    Security: Threat intel</a:t>
            </a: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RCE error spike           new edge: web→auth         port 5432 from web app    massive SELECT query      destination IP = C2</a:t>
            </a:r>
            <a:endParaRPr lang="en-US" sz="900" dirty="0"/>
          </a:p>
          <a:p>
            <a:pPr algn="l" indent="0" marL="0">
              <a:lnSpc>
                <a:spcPct val="140000"/>
              </a:lnSpc>
              <a:buNone/>
            </a:pPr>
            <a:r>
              <a:rPr lang="en-US" sz="900" dirty="0">
                <a:solidFill>
                  <a:srgbClr val="343741"/>
                </a:solidFill>
                <a:latin typeface="Space Mono" pitchFamily="34" charset="0"/>
                <a:ea typeface="Space Mono" pitchFamily="34" charset="-122"/>
                <a:cs typeface="Space Mono" pitchFamily="34" charset="-120"/>
              </a:rPr>
              <a:t>                           AI Assistant: 'Attack path web-01 → auth-02 → config-01 → db-primary. 2.8 GB exfiltrated to known-malicious IP.'</a:t>
            </a:r>
            <a:endParaRPr lang="en-US" sz="900" dirty="0"/>
          </a:p>
        </p:txBody>
      </p:sp>
      <p:sp>
        <p:nvSpPr>
          <p:cNvPr id="14" name="Shape 12"/>
          <p:cNvSpPr/>
          <p:nvPr/>
        </p:nvSpPr>
        <p:spPr>
          <a:xfrm>
            <a:off x="457200" y="1874520"/>
            <a:ext cx="11430000" cy="274320"/>
          </a:xfrm>
          <a:prstGeom prst="roundRect">
            <a:avLst>
              <a:gd name="adj" fmla="val 20000"/>
            </a:avLst>
          </a:prstGeom>
          <a:solidFill>
            <a:srgbClr val="0B64DD"/>
          </a:solidFill>
          <a:ln/>
        </p:spPr>
      </p:sp>
      <p:sp>
        <p:nvSpPr>
          <p:cNvPr id="15" name="Text 13"/>
          <p:cNvSpPr/>
          <p:nvPr/>
        </p:nvSpPr>
        <p:spPr>
          <a:xfrm>
            <a:off x="640080" y="1874520"/>
            <a:ext cx="11064240" cy="274320"/>
          </a:xfrm>
          <a:prstGeom prst="rect">
            <a:avLst/>
          </a:prstGeom>
          <a:noFill/>
          <a:ln/>
        </p:spPr>
        <p:txBody>
          <a:bodyPr wrap="square"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MTTD: 8 min (from first lateral hop). MTTR: 20 min. 4 compromised services isolated, credentials rotated, S3 bucket locked. Attack path permanently recorded in Case for forensic review.</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000" b="1" dirty="0">
                <a:solidFill>
                  <a:srgbClr val="1C1E23"/>
                </a:solidFill>
                <a:latin typeface="Inter" pitchFamily="34" charset="0"/>
                <a:ea typeface="Inter" pitchFamily="34" charset="-122"/>
                <a:cs typeface="Inter" pitchFamily="34" charset="-120"/>
              </a:rPr>
              <a:t>AI Assistant: Bridging Knowledge Across Domains</a:t>
            </a:r>
            <a:endParaRPr lang="en-US" sz="30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300" dirty="0">
                <a:solidFill>
                  <a:srgbClr val="343741"/>
                </a:solidFill>
                <a:latin typeface="Inter" pitchFamily="34" charset="0"/>
                <a:ea typeface="Inter" pitchFamily="34" charset="-122"/>
                <a:cs typeface="Inter" pitchFamily="34" charset="-120"/>
              </a:rPr>
              <a:t>The Elastic AI Assistant connects to LLMs and uses function calling to query, analyse, and visualise data — with full awareness of both O11y and Security contexts</a:t>
            </a:r>
            <a:endParaRPr lang="en-US" sz="1300" dirty="0"/>
          </a:p>
        </p:txBody>
      </p:sp>
      <p:sp>
        <p:nvSpPr>
          <p:cNvPr id="5" name="Shape 3"/>
          <p:cNvSpPr/>
          <p:nvPr/>
        </p:nvSpPr>
        <p:spPr>
          <a:xfrm>
            <a:off x="457200" y="2286000"/>
            <a:ext cx="5486400" cy="1371600"/>
          </a:xfrm>
          <a:prstGeom prst="roundRect">
            <a:avLst>
              <a:gd name="adj" fmla="val 6667"/>
            </a:avLst>
          </a:prstGeom>
          <a:solidFill>
            <a:srgbClr val="F5F7FA"/>
          </a:solidFill>
          <a:ln w="19050">
            <a:solidFill>
              <a:srgbClr val="101C3F"/>
            </a:solidFill>
            <a:prstDash val="solid"/>
          </a:ln>
        </p:spPr>
      </p:sp>
      <p:sp>
        <p:nvSpPr>
          <p:cNvPr id="6" name="Text 4"/>
          <p:cNvSpPr/>
          <p:nvPr/>
        </p:nvSpPr>
        <p:spPr>
          <a:xfrm>
            <a:off x="640080" y="2468880"/>
            <a:ext cx="5120640" cy="365760"/>
          </a:xfrm>
          <a:prstGeom prst="rect">
            <a:avLst/>
          </a:prstGeom>
          <a:noFill/>
          <a:ln/>
        </p:spPr>
        <p:txBody>
          <a:bodyPr wrap="square" rtlCol="0" anchor="ctr"/>
          <a:lstStyle/>
          <a:p>
            <a:pPr algn="l" indent="0" marL="0">
              <a:buNone/>
            </a:pPr>
            <a:r>
              <a:rPr lang="en-US" sz="1600" b="1" dirty="0">
                <a:solidFill>
                  <a:srgbClr val="F04E98"/>
                </a:solidFill>
                <a:latin typeface="Inter" pitchFamily="34" charset="0"/>
                <a:ea typeface="Inter" pitchFamily="34" charset="-122"/>
                <a:cs typeface="Inter" pitchFamily="34" charset="-120"/>
              </a:rPr>
              <a:t>For Observability</a:t>
            </a:r>
            <a:endParaRPr lang="en-US" sz="16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5120640" cy="59436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Decode error messages and stack traces</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Identify performance bottlenecks</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Generate alert summaries and incident timelines</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Build ES|QL queries from natural language</a:t>
            </a:r>
            <a:endParaRPr lang="en-US" sz="1100" dirty="0"/>
          </a:p>
        </p:txBody>
      </p:sp>
      <p:sp>
        <p:nvSpPr>
          <p:cNvPr id="9" name="Shape 7"/>
          <p:cNvSpPr/>
          <p:nvPr/>
        </p:nvSpPr>
        <p:spPr>
          <a:xfrm>
            <a:off x="6400800" y="2286000"/>
            <a:ext cx="5486400" cy="1371600"/>
          </a:xfrm>
          <a:prstGeom prst="roundRect">
            <a:avLst>
              <a:gd name="adj" fmla="val 6667"/>
            </a:avLst>
          </a:prstGeom>
          <a:solidFill>
            <a:srgbClr val="F5F7FA"/>
          </a:solidFill>
          <a:ln w="19050">
            <a:solidFill>
              <a:srgbClr val="101C3F"/>
            </a:solidFill>
            <a:prstDash val="solid"/>
          </a:ln>
        </p:spPr>
      </p:sp>
      <p:sp>
        <p:nvSpPr>
          <p:cNvPr id="10" name="Text 8"/>
          <p:cNvSpPr/>
          <p:nvPr/>
        </p:nvSpPr>
        <p:spPr>
          <a:xfrm>
            <a:off x="6583680" y="2468880"/>
            <a:ext cx="5120640" cy="365760"/>
          </a:xfrm>
          <a:prstGeom prst="rect">
            <a:avLst/>
          </a:prstGeom>
          <a:noFill/>
          <a:ln/>
        </p:spPr>
        <p:txBody>
          <a:bodyPr wrap="square" rtlCol="0" anchor="ctr"/>
          <a:lstStyle/>
          <a:p>
            <a:pPr algn="l" indent="0" marL="0">
              <a:buNone/>
            </a:pPr>
            <a:r>
              <a:rPr lang="en-US" sz="1600" b="1" dirty="0">
                <a:solidFill>
                  <a:srgbClr val="FA744E"/>
                </a:solidFill>
                <a:latin typeface="Inter" pitchFamily="34" charset="0"/>
                <a:ea typeface="Inter" pitchFamily="34" charset="-122"/>
                <a:cs typeface="Inter" pitchFamily="34" charset="-120"/>
              </a:rPr>
              <a:t>For Security</a:t>
            </a:r>
            <a:endParaRPr lang="en-US" sz="1600" dirty="0"/>
          </a:p>
        </p:txBody>
      </p:sp>
      <p:sp>
        <p:nvSpPr>
          <p:cNvPr id="11" name="Shape 9"/>
          <p:cNvSpPr/>
          <p:nvPr/>
        </p:nvSpPr>
        <p:spPr>
          <a:xfrm>
            <a:off x="6583680" y="2880360"/>
            <a:ext cx="914400" cy="27432"/>
          </a:xfrm>
          <a:prstGeom prst="rect">
            <a:avLst/>
          </a:prstGeom>
          <a:solidFill>
            <a:srgbClr val="48EFCF"/>
          </a:solidFill>
          <a:ln/>
        </p:spPr>
      </p:sp>
      <p:sp>
        <p:nvSpPr>
          <p:cNvPr id="12" name="Text 10"/>
          <p:cNvSpPr/>
          <p:nvPr/>
        </p:nvSpPr>
        <p:spPr>
          <a:xfrm>
            <a:off x="6583680" y="3017520"/>
            <a:ext cx="5120640" cy="59436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Assist with alert triage and investigation</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Generate detection rule suggestions</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Explain threat indicators in context</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Guide incident response workflows</a:t>
            </a:r>
            <a:endParaRPr lang="en-US" sz="1100" dirty="0"/>
          </a:p>
        </p:txBody>
      </p:sp>
      <p:sp>
        <p:nvSpPr>
          <p:cNvPr id="13" name="Shape 11"/>
          <p:cNvSpPr/>
          <p:nvPr/>
        </p:nvSpPr>
        <p:spPr>
          <a:xfrm>
            <a:off x="457200" y="3931920"/>
            <a:ext cx="11430000" cy="1828800"/>
          </a:xfrm>
          <a:prstGeom prst="roundRect">
            <a:avLst>
              <a:gd name="adj" fmla="val 5000"/>
            </a:avLst>
          </a:prstGeom>
          <a:solidFill>
            <a:srgbClr val="F5F7FA"/>
          </a:solidFill>
          <a:ln w="19050">
            <a:solidFill>
              <a:srgbClr val="101C3F"/>
            </a:solidFill>
            <a:prstDash val="solid"/>
          </a:ln>
        </p:spPr>
      </p:sp>
      <p:sp>
        <p:nvSpPr>
          <p:cNvPr id="14" name="Text 12"/>
          <p:cNvSpPr/>
          <p:nvPr/>
        </p:nvSpPr>
        <p:spPr>
          <a:xfrm>
            <a:off x="640080" y="4114800"/>
            <a:ext cx="1106424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Documentation &amp; Knowledge Ecosystem</a:t>
            </a:r>
            <a:endParaRPr lang="en-US" sz="1600" dirty="0"/>
          </a:p>
        </p:txBody>
      </p:sp>
      <p:sp>
        <p:nvSpPr>
          <p:cNvPr id="15" name="Shape 13"/>
          <p:cNvSpPr/>
          <p:nvPr/>
        </p:nvSpPr>
        <p:spPr>
          <a:xfrm>
            <a:off x="640080" y="4526280"/>
            <a:ext cx="914400" cy="27432"/>
          </a:xfrm>
          <a:prstGeom prst="rect">
            <a:avLst/>
          </a:prstGeom>
          <a:solidFill>
            <a:srgbClr val="48EFCF"/>
          </a:solidFill>
          <a:ln/>
        </p:spPr>
      </p:sp>
      <p:sp>
        <p:nvSpPr>
          <p:cNvPr id="16" name="Text 14"/>
          <p:cNvSpPr/>
          <p:nvPr/>
        </p:nvSpPr>
        <p:spPr>
          <a:xfrm>
            <a:off x="640080" y="4663440"/>
            <a:ext cx="11064240" cy="1005840"/>
          </a:xfrm>
          <a:prstGeom prst="rect">
            <a:avLst/>
          </a:prstGeom>
          <a:noFill/>
          <a:ln/>
        </p:spPr>
        <p:txBody>
          <a:bodyPr wrap="square" rtlCol="0" anchor="ctr"/>
          <a:lstStyle/>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ECS Reference — complete field definitions with types, descriptions, and usage levels for both O11y and Security contexts</a:t>
            </a:r>
            <a:endParaRPr lang="en-US" sz="1100" dirty="0"/>
          </a:p>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Elastic Docs — unified solution documentation covering O11y and Security with shared integration guides</a:t>
            </a:r>
            <a:endParaRPr lang="en-US" sz="1100" dirty="0"/>
          </a:p>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Elastic Integrations — 400+ prebuilt integrations with dashboards, all ECS-mapped, one-click deploy</a:t>
            </a:r>
            <a:endParaRPr lang="en-US" sz="1100" dirty="0"/>
          </a:p>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Elastic Security Labs + Observability Labs — threat research, detection engineering, monitoring best practices</a:t>
            </a:r>
            <a:endParaRPr lang="en-US" sz="1100" dirty="0"/>
          </a:p>
          <a:p>
            <a:pPr algn="l" indent="0" marL="0">
              <a:lnSpc>
                <a:spcPct val="160000"/>
              </a:lnSpc>
              <a:buNone/>
            </a:pPr>
            <a:r>
              <a:rPr lang="en-US" sz="1100" dirty="0">
                <a:solidFill>
                  <a:srgbClr val="343741"/>
                </a:solidFill>
                <a:latin typeface="Inter" pitchFamily="34" charset="0"/>
                <a:ea typeface="Inter" pitchFamily="34" charset="-122"/>
                <a:cs typeface="Inter" pitchFamily="34" charset="-120"/>
              </a:rPr>
              <a:t>Fleet-Managed Agent Policies — documented policy composition for combined O11y + Security deployment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000" b="1" dirty="0">
                <a:solidFill>
                  <a:srgbClr val="1C1E23"/>
                </a:solidFill>
                <a:latin typeface="Inter" pitchFamily="34" charset="0"/>
                <a:ea typeface="Inter" pitchFamily="34" charset="-122"/>
                <a:cs typeface="Inter" pitchFamily="34" charset="-120"/>
              </a:rPr>
              <a:t>Shared Analytics: ML, Detection &amp; Dashboards</a:t>
            </a:r>
            <a:endParaRPr lang="en-US" sz="3000" dirty="0"/>
          </a:p>
        </p:txBody>
      </p:sp>
      <p:sp>
        <p:nvSpPr>
          <p:cNvPr id="3" name="Shape 1"/>
          <p:cNvSpPr/>
          <p:nvPr/>
        </p:nvSpPr>
        <p:spPr>
          <a:xfrm>
            <a:off x="731520" y="1234440"/>
            <a:ext cx="1097280" cy="32004"/>
          </a:xfrm>
          <a:prstGeom prst="rect">
            <a:avLst/>
          </a:prstGeom>
          <a:solidFill>
            <a:srgbClr val="48EFCF"/>
          </a:solidFill>
          <a:ln/>
        </p:spPr>
      </p:sp>
      <p:sp>
        <p:nvSpPr>
          <p:cNvPr id="4" name="Text 2"/>
          <p:cNvSpPr/>
          <p:nvPr/>
        </p:nvSpPr>
        <p:spPr>
          <a:xfrm>
            <a:off x="731520" y="1554480"/>
            <a:ext cx="10698480" cy="457200"/>
          </a:xfrm>
          <a:prstGeom prst="rect">
            <a:avLst/>
          </a:prstGeom>
          <a:noFill/>
          <a:ln/>
        </p:spPr>
        <p:txBody>
          <a:bodyPr wrap="square" rtlCol="0" anchor="ctr"/>
          <a:lstStyle/>
          <a:p>
            <a:pPr algn="l" indent="0" marL="0">
              <a:buNone/>
            </a:pPr>
            <a:r>
              <a:rPr lang="en-US" sz="1400" dirty="0">
                <a:solidFill>
                  <a:srgbClr val="343741"/>
                </a:solidFill>
                <a:latin typeface="Inter" pitchFamily="34" charset="0"/>
                <a:ea typeface="Inter" pitchFamily="34" charset="-122"/>
                <a:cs typeface="Inter" pitchFamily="34" charset="-120"/>
              </a:rPr>
              <a:t>Analytics content built on ECS works across both O11y and Security data — write once, apply everywhere</a:t>
            </a:r>
            <a:endParaRPr lang="en-US" sz="1400" dirty="0"/>
          </a:p>
        </p:txBody>
      </p:sp>
      <p:sp>
        <p:nvSpPr>
          <p:cNvPr id="5" name="Shape 3"/>
          <p:cNvSpPr/>
          <p:nvPr/>
        </p:nvSpPr>
        <p:spPr>
          <a:xfrm>
            <a:off x="457200" y="2286000"/>
            <a:ext cx="3474720" cy="2011680"/>
          </a:xfrm>
          <a:prstGeom prst="roundRect">
            <a:avLst>
              <a:gd name="adj" fmla="val 4545"/>
            </a:avLst>
          </a:prstGeom>
          <a:solidFill>
            <a:srgbClr val="F5F7FA"/>
          </a:solidFill>
          <a:ln w="19050">
            <a:solidFill>
              <a:srgbClr val="101C3F"/>
            </a:solidFill>
            <a:prstDash val="solid"/>
          </a:ln>
        </p:spPr>
      </p:sp>
      <p:sp>
        <p:nvSpPr>
          <p:cNvPr id="6" name="Text 4"/>
          <p:cNvSpPr/>
          <p:nvPr/>
        </p:nvSpPr>
        <p:spPr>
          <a:xfrm>
            <a:off x="64008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Machine Learning</a:t>
            </a:r>
            <a:endParaRPr lang="en-US" sz="1600" dirty="0"/>
          </a:p>
        </p:txBody>
      </p:sp>
      <p:sp>
        <p:nvSpPr>
          <p:cNvPr id="7" name="Shape 5"/>
          <p:cNvSpPr/>
          <p:nvPr/>
        </p:nvSpPr>
        <p:spPr>
          <a:xfrm>
            <a:off x="640080" y="2880360"/>
            <a:ext cx="914400" cy="27432"/>
          </a:xfrm>
          <a:prstGeom prst="rect">
            <a:avLst/>
          </a:prstGeom>
          <a:solidFill>
            <a:srgbClr val="48EFCF"/>
          </a:solidFill>
          <a:ln/>
        </p:spPr>
      </p:sp>
      <p:sp>
        <p:nvSpPr>
          <p:cNvPr id="8" name="Text 6"/>
          <p:cNvSpPr/>
          <p:nvPr/>
        </p:nvSpPr>
        <p:spPr>
          <a:xfrm>
            <a:off x="640080" y="3017520"/>
            <a:ext cx="3108960" cy="109728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Built-in ML jobs for anomaly detection run on any ECS data</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O11y: latency anomalies, error rate spikes, resource exhaustion</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Security: unusual login patterns, rare process executions, data exfiltration</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Same ML framework, same ECS fields, different use cases</a:t>
            </a:r>
            <a:endParaRPr lang="en-US" sz="1100" dirty="0"/>
          </a:p>
        </p:txBody>
      </p:sp>
      <p:sp>
        <p:nvSpPr>
          <p:cNvPr id="9" name="Shape 7"/>
          <p:cNvSpPr/>
          <p:nvPr/>
        </p:nvSpPr>
        <p:spPr>
          <a:xfrm>
            <a:off x="4297680" y="2286000"/>
            <a:ext cx="3474720" cy="2011680"/>
          </a:xfrm>
          <a:prstGeom prst="roundRect">
            <a:avLst>
              <a:gd name="adj" fmla="val 4545"/>
            </a:avLst>
          </a:prstGeom>
          <a:solidFill>
            <a:srgbClr val="F5F7FA"/>
          </a:solidFill>
          <a:ln w="19050">
            <a:solidFill>
              <a:srgbClr val="101C3F"/>
            </a:solidFill>
            <a:prstDash val="solid"/>
          </a:ln>
        </p:spPr>
      </p:sp>
      <p:sp>
        <p:nvSpPr>
          <p:cNvPr id="10" name="Text 8"/>
          <p:cNvSpPr/>
          <p:nvPr/>
        </p:nvSpPr>
        <p:spPr>
          <a:xfrm>
            <a:off x="448056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Detection Rules</a:t>
            </a:r>
            <a:endParaRPr lang="en-US" sz="1600" dirty="0"/>
          </a:p>
        </p:txBody>
      </p:sp>
      <p:sp>
        <p:nvSpPr>
          <p:cNvPr id="11" name="Shape 9"/>
          <p:cNvSpPr/>
          <p:nvPr/>
        </p:nvSpPr>
        <p:spPr>
          <a:xfrm>
            <a:off x="4480560" y="2880360"/>
            <a:ext cx="914400" cy="27432"/>
          </a:xfrm>
          <a:prstGeom prst="rect">
            <a:avLst/>
          </a:prstGeom>
          <a:solidFill>
            <a:srgbClr val="48EFCF"/>
          </a:solidFill>
          <a:ln/>
        </p:spPr>
      </p:sp>
      <p:sp>
        <p:nvSpPr>
          <p:cNvPr id="12" name="Text 10"/>
          <p:cNvSpPr/>
          <p:nvPr/>
        </p:nvSpPr>
        <p:spPr>
          <a:xfrm>
            <a:off x="4480560" y="3017520"/>
            <a:ext cx="3108960" cy="109728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700+ prebuilt detection rules in Elastic Security</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Rules query ECS fields — any ECS-compliant data is automatically covered</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O11y alerting rules share the same Kibana alerting framework</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Cross-domain: an O11y threshold alert can trigger a Security case</a:t>
            </a:r>
            <a:endParaRPr lang="en-US" sz="1100" dirty="0"/>
          </a:p>
        </p:txBody>
      </p:sp>
      <p:sp>
        <p:nvSpPr>
          <p:cNvPr id="13" name="Shape 11"/>
          <p:cNvSpPr/>
          <p:nvPr/>
        </p:nvSpPr>
        <p:spPr>
          <a:xfrm>
            <a:off x="8138160" y="2286000"/>
            <a:ext cx="3474720" cy="2011680"/>
          </a:xfrm>
          <a:prstGeom prst="roundRect">
            <a:avLst>
              <a:gd name="adj" fmla="val 4545"/>
            </a:avLst>
          </a:prstGeom>
          <a:solidFill>
            <a:srgbClr val="F5F7FA"/>
          </a:solidFill>
          <a:ln w="19050">
            <a:solidFill>
              <a:srgbClr val="101C3F"/>
            </a:solidFill>
            <a:prstDash val="solid"/>
          </a:ln>
        </p:spPr>
      </p:sp>
      <p:sp>
        <p:nvSpPr>
          <p:cNvPr id="14" name="Text 12"/>
          <p:cNvSpPr/>
          <p:nvPr/>
        </p:nvSpPr>
        <p:spPr>
          <a:xfrm>
            <a:off x="8321040" y="2468880"/>
            <a:ext cx="310896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Dashboards &amp; Visualisations</a:t>
            </a:r>
            <a:endParaRPr lang="en-US" sz="1600" dirty="0"/>
          </a:p>
        </p:txBody>
      </p:sp>
      <p:sp>
        <p:nvSpPr>
          <p:cNvPr id="15" name="Shape 13"/>
          <p:cNvSpPr/>
          <p:nvPr/>
        </p:nvSpPr>
        <p:spPr>
          <a:xfrm>
            <a:off x="8321040" y="2880360"/>
            <a:ext cx="914400" cy="27432"/>
          </a:xfrm>
          <a:prstGeom prst="rect">
            <a:avLst/>
          </a:prstGeom>
          <a:solidFill>
            <a:srgbClr val="48EFCF"/>
          </a:solidFill>
          <a:ln/>
        </p:spPr>
      </p:sp>
      <p:sp>
        <p:nvSpPr>
          <p:cNvPr id="16" name="Text 14"/>
          <p:cNvSpPr/>
          <p:nvPr/>
        </p:nvSpPr>
        <p:spPr>
          <a:xfrm>
            <a:off x="8321040" y="3017520"/>
            <a:ext cx="3108960" cy="1097280"/>
          </a:xfrm>
          <a:prstGeom prst="rect">
            <a:avLst/>
          </a:prstGeom>
          <a:noFill/>
          <a:ln/>
        </p:spPr>
        <p:txBody>
          <a:bodyPr wrap="square" rtlCol="0" anchor="ctr"/>
          <a:lstStyle/>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Kibana dashboards combine data from any ECS index</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O11y dashboards can include security context (vulnerability status, threat intel)</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Security dashboards can show operational metrics (host health, service status)</a:t>
            </a:r>
            <a:endParaRPr lang="en-US" sz="1100" dirty="0"/>
          </a:p>
          <a:p>
            <a:pPr algn="l" indent="0" marL="0">
              <a:lnSpc>
                <a:spcPct val="150000"/>
              </a:lnSpc>
              <a:buNone/>
            </a:pPr>
            <a:r>
              <a:rPr lang="en-US" sz="1100" dirty="0">
                <a:solidFill>
                  <a:srgbClr val="343741"/>
                </a:solidFill>
                <a:latin typeface="Inter" pitchFamily="34" charset="0"/>
                <a:ea typeface="Inter" pitchFamily="34" charset="-122"/>
                <a:cs typeface="Inter" pitchFamily="34" charset="-120"/>
              </a:rPr>
              <a:t>ES|QL enables cross-index queries without pre-joining</a:t>
            </a:r>
            <a:endParaRPr lang="en-US" sz="1100" dirty="0"/>
          </a:p>
        </p:txBody>
      </p:sp>
      <p:sp>
        <p:nvSpPr>
          <p:cNvPr id="17" name="Shape 15"/>
          <p:cNvSpPr/>
          <p:nvPr/>
        </p:nvSpPr>
        <p:spPr>
          <a:xfrm>
            <a:off x="457200" y="4572000"/>
            <a:ext cx="11430000" cy="1188720"/>
          </a:xfrm>
          <a:prstGeom prst="roundRect">
            <a:avLst>
              <a:gd name="adj" fmla="val 7692"/>
            </a:avLst>
          </a:prstGeom>
          <a:solidFill>
            <a:srgbClr val="0B64DD"/>
          </a:solidFill>
          <a:ln/>
        </p:spPr>
      </p:sp>
      <p:sp>
        <p:nvSpPr>
          <p:cNvPr id="18" name="Text 16"/>
          <p:cNvSpPr/>
          <p:nvPr/>
        </p:nvSpPr>
        <p:spPr>
          <a:xfrm>
            <a:off x="640080" y="4709160"/>
            <a:ext cx="11064240" cy="365760"/>
          </a:xfrm>
          <a:prstGeom prst="rect">
            <a:avLst/>
          </a:prstGeom>
          <a:no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ECS is the multiplier: one schema means every dashboard, rule, and ML job works on any compliant data source</a:t>
            </a:r>
            <a:endParaRPr lang="en-US" sz="1500" dirty="0"/>
          </a:p>
        </p:txBody>
      </p:sp>
      <p:sp>
        <p:nvSpPr>
          <p:cNvPr id="19" name="Text 17"/>
          <p:cNvSpPr/>
          <p:nvPr/>
        </p:nvSpPr>
        <p:spPr>
          <a:xfrm>
            <a:off x="640080" y="5120640"/>
            <a:ext cx="11064240" cy="457200"/>
          </a:xfrm>
          <a:prstGeom prst="rect">
            <a:avLst/>
          </a:prstGeom>
          <a:noFill/>
          <a:ln/>
        </p:spPr>
        <p:txBody>
          <a:bodyPr wrap="square" rtlCol="0" anchor="ctr"/>
          <a:lstStyle/>
          <a:p>
            <a:pPr algn="ctr" indent="0" marL="0">
              <a:buNone/>
            </a:pPr>
            <a:r>
              <a:rPr lang="en-US" sz="1200" dirty="0">
                <a:solidFill>
                  <a:srgbClr val="DCE2EA"/>
                </a:solidFill>
                <a:latin typeface="Inter" pitchFamily="34" charset="0"/>
                <a:ea typeface="Inter" pitchFamily="34" charset="-122"/>
                <a:cs typeface="Inter" pitchFamily="34" charset="-120"/>
              </a:rPr>
              <a:t>Without ECS: N data sources × M analytics = N×M configurations. With ECS: N data sources + M analytics = 1 schema. Analytics content from Elastic, partners, or community works immediately on your data.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1C1E23"/>
                </a:solidFill>
                <a:latin typeface="Inter" pitchFamily="34" charset="0"/>
                <a:ea typeface="Inter" pitchFamily="34" charset="-122"/>
                <a:cs typeface="Inter" pitchFamily="34" charset="-120"/>
              </a:rPr>
              <a:t>Strategic Value</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Why this convergence matters for your organisation</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698480" cy="731520"/>
          </a:xfrm>
          <a:prstGeom prst="rect">
            <a:avLst/>
          </a:prstGeom>
          <a:noFill/>
          <a:ln/>
        </p:spPr>
        <p:txBody>
          <a:bodyPr wrap="square" rtlCol="0" anchor="ctr"/>
          <a:lstStyle/>
          <a:p>
            <a:pPr algn="l" indent="0" marL="0">
              <a:buNone/>
            </a:pPr>
            <a:r>
              <a:rPr lang="en-US" sz="3200" b="1" dirty="0">
                <a:solidFill>
                  <a:srgbClr val="1C1E23"/>
                </a:solidFill>
                <a:latin typeface="Inter" pitchFamily="34" charset="0"/>
                <a:ea typeface="Inter" pitchFamily="34" charset="-122"/>
                <a:cs typeface="Inter" pitchFamily="34" charset="-120"/>
              </a:rPr>
              <a:t>Key Takeaways</a:t>
            </a:r>
            <a:endParaRPr lang="en-US" sz="3200" dirty="0"/>
          </a:p>
        </p:txBody>
      </p:sp>
      <p:sp>
        <p:nvSpPr>
          <p:cNvPr id="3" name="Shape 1"/>
          <p:cNvSpPr/>
          <p:nvPr/>
        </p:nvSpPr>
        <p:spPr>
          <a:xfrm>
            <a:off x="731520" y="1234440"/>
            <a:ext cx="1097280" cy="32004"/>
          </a:xfrm>
          <a:prstGeom prst="rect">
            <a:avLst/>
          </a:prstGeom>
          <a:solidFill>
            <a:srgbClr val="48EFCF"/>
          </a:solidFill>
          <a:ln/>
        </p:spPr>
      </p:sp>
      <p:sp>
        <p:nvSpPr>
          <p:cNvPr id="4" name="Shape 2"/>
          <p:cNvSpPr/>
          <p:nvPr/>
        </p:nvSpPr>
        <p:spPr>
          <a:xfrm>
            <a:off x="457200" y="1645920"/>
            <a:ext cx="5303520" cy="2286000"/>
          </a:xfrm>
          <a:prstGeom prst="roundRect">
            <a:avLst>
              <a:gd name="adj" fmla="val 4000"/>
            </a:avLst>
          </a:prstGeom>
          <a:solidFill>
            <a:srgbClr val="0B64DD"/>
          </a:solidFill>
          <a:ln/>
        </p:spPr>
      </p:sp>
      <p:sp>
        <p:nvSpPr>
          <p:cNvPr id="5" name="Text 3"/>
          <p:cNvSpPr/>
          <p:nvPr/>
        </p:nvSpPr>
        <p:spPr>
          <a:xfrm>
            <a:off x="457200" y="1737360"/>
            <a:ext cx="548640" cy="548640"/>
          </a:xfrm>
          <a:prstGeom prst="rect">
            <a:avLst/>
          </a:prstGeom>
          <a:noFill/>
          <a:ln/>
        </p:spPr>
        <p:txBody>
          <a:bodyPr wrap="square" rtlCol="0" anchor="ctr"/>
          <a:lstStyle/>
          <a:p>
            <a:pPr algn="ctr" indent="0" marL="0">
              <a:buNone/>
            </a:pPr>
            <a:r>
              <a:rPr lang="en-US" sz="3600" b="1" dirty="0">
                <a:solidFill>
                  <a:srgbClr val="48EFCF"/>
                </a:solidFill>
                <a:latin typeface="Inter" pitchFamily="34" charset="0"/>
                <a:ea typeface="Inter" pitchFamily="34" charset="-122"/>
                <a:cs typeface="Inter" pitchFamily="34" charset="-120"/>
              </a:rPr>
              <a:t>1</a:t>
            </a:r>
            <a:endParaRPr lang="en-US" sz="3600" dirty="0"/>
          </a:p>
        </p:txBody>
      </p:sp>
      <p:sp>
        <p:nvSpPr>
          <p:cNvPr id="6" name="Text 4"/>
          <p:cNvSpPr/>
          <p:nvPr/>
        </p:nvSpPr>
        <p:spPr>
          <a:xfrm>
            <a:off x="1005840" y="1828800"/>
            <a:ext cx="4572000" cy="365760"/>
          </a:xfrm>
          <a:prstGeom prst="rect">
            <a:avLst/>
          </a:prstGeom>
          <a:noFill/>
          <a:ln/>
        </p:spPr>
        <p:txBody>
          <a:bodyPr wrap="square" rtlCol="0" anchor="ctr"/>
          <a:lstStyle/>
          <a:p>
            <a:pPr algn="l" indent="0" marL="0">
              <a:buNone/>
            </a:pPr>
            <a:r>
              <a:rPr lang="en-US" sz="1600" b="1" dirty="0">
                <a:solidFill>
                  <a:srgbClr val="FFFFFF"/>
                </a:solidFill>
                <a:latin typeface="Inter" pitchFamily="34" charset="0"/>
                <a:ea typeface="Inter" pitchFamily="34" charset="-122"/>
                <a:cs typeface="Inter" pitchFamily="34" charset="-120"/>
              </a:rPr>
              <a:t>Single Platform</a:t>
            </a:r>
            <a:endParaRPr lang="en-US" sz="1600" dirty="0"/>
          </a:p>
        </p:txBody>
      </p:sp>
      <p:sp>
        <p:nvSpPr>
          <p:cNvPr id="7" name="Text 5"/>
          <p:cNvSpPr/>
          <p:nvPr/>
        </p:nvSpPr>
        <p:spPr>
          <a:xfrm>
            <a:off x="1005840" y="2286000"/>
            <a:ext cx="4572000" cy="1280160"/>
          </a:xfrm>
          <a:prstGeom prst="rect">
            <a:avLst/>
          </a:prstGeom>
          <a:noFill/>
          <a:ln/>
        </p:spPr>
        <p:txBody>
          <a:bodyPr wrap="square" rtlCol="0" anchor="ctr"/>
          <a:lstStyle/>
          <a:p>
            <a:pPr algn="l" indent="0" marL="0">
              <a:lnSpc>
                <a:spcPct val="160000"/>
              </a:lnSpc>
              <a:buNone/>
            </a:pPr>
            <a:r>
              <a:rPr lang="en-US" sz="1200" dirty="0">
                <a:solidFill>
                  <a:srgbClr val="DCE2EA"/>
                </a:solidFill>
                <a:latin typeface="Inter" pitchFamily="34" charset="0"/>
                <a:ea typeface="Inter" pitchFamily="34" charset="-122"/>
                <a:cs typeface="Inter" pitchFamily="34" charset="-120"/>
              </a:rPr>
              <a:t>One Elasticsearch cluster serves O11y, Security, and Search. Data ingested once, available to all solutions. No data duplication, no tool sprawl.</a:t>
            </a:r>
            <a:endParaRPr lang="en-US" sz="1200" dirty="0"/>
          </a:p>
        </p:txBody>
      </p:sp>
      <p:sp>
        <p:nvSpPr>
          <p:cNvPr id="8" name="Shape 6"/>
          <p:cNvSpPr/>
          <p:nvPr/>
        </p:nvSpPr>
        <p:spPr>
          <a:xfrm>
            <a:off x="6400800" y="1645920"/>
            <a:ext cx="5303520" cy="2286000"/>
          </a:xfrm>
          <a:prstGeom prst="roundRect">
            <a:avLst>
              <a:gd name="adj" fmla="val 4000"/>
            </a:avLst>
          </a:prstGeom>
          <a:solidFill>
            <a:srgbClr val="F5F7FA"/>
          </a:solidFill>
          <a:ln w="19050">
            <a:solidFill>
              <a:srgbClr val="101C3F"/>
            </a:solidFill>
            <a:prstDash val="solid"/>
          </a:ln>
        </p:spPr>
      </p:sp>
      <p:sp>
        <p:nvSpPr>
          <p:cNvPr id="9" name="Text 7"/>
          <p:cNvSpPr/>
          <p:nvPr/>
        </p:nvSpPr>
        <p:spPr>
          <a:xfrm>
            <a:off x="6400800" y="1737360"/>
            <a:ext cx="548640" cy="54864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2</a:t>
            </a:r>
            <a:endParaRPr lang="en-US" sz="3600" dirty="0"/>
          </a:p>
        </p:txBody>
      </p:sp>
      <p:sp>
        <p:nvSpPr>
          <p:cNvPr id="10" name="Text 8"/>
          <p:cNvSpPr/>
          <p:nvPr/>
        </p:nvSpPr>
        <p:spPr>
          <a:xfrm>
            <a:off x="6949440" y="1828800"/>
            <a:ext cx="457200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Unified Schema</a:t>
            </a:r>
            <a:endParaRPr lang="en-US" sz="1600" dirty="0"/>
          </a:p>
        </p:txBody>
      </p:sp>
      <p:sp>
        <p:nvSpPr>
          <p:cNvPr id="11" name="Text 9"/>
          <p:cNvSpPr/>
          <p:nvPr/>
        </p:nvSpPr>
        <p:spPr>
          <a:xfrm>
            <a:off x="6949440" y="2286000"/>
            <a:ext cx="4572000" cy="128016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ECS normalises all data. Dashboards, rules, and ML jobs work across domains. OpenTelemetry convergence ensures future-proof open standards.</a:t>
            </a:r>
            <a:endParaRPr lang="en-US" sz="1200" dirty="0"/>
          </a:p>
        </p:txBody>
      </p:sp>
      <p:sp>
        <p:nvSpPr>
          <p:cNvPr id="12" name="Shape 10"/>
          <p:cNvSpPr/>
          <p:nvPr/>
        </p:nvSpPr>
        <p:spPr>
          <a:xfrm>
            <a:off x="457200" y="4114800"/>
            <a:ext cx="5303520" cy="2286000"/>
          </a:xfrm>
          <a:prstGeom prst="roundRect">
            <a:avLst>
              <a:gd name="adj" fmla="val 4000"/>
            </a:avLst>
          </a:prstGeom>
          <a:solidFill>
            <a:srgbClr val="F5F7FA"/>
          </a:solidFill>
          <a:ln w="19050">
            <a:solidFill>
              <a:srgbClr val="101C3F"/>
            </a:solidFill>
            <a:prstDash val="solid"/>
          </a:ln>
        </p:spPr>
      </p:sp>
      <p:sp>
        <p:nvSpPr>
          <p:cNvPr id="13" name="Text 11"/>
          <p:cNvSpPr/>
          <p:nvPr/>
        </p:nvSpPr>
        <p:spPr>
          <a:xfrm>
            <a:off x="457200" y="4206240"/>
            <a:ext cx="548640" cy="54864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3</a:t>
            </a:r>
            <a:endParaRPr lang="en-US" sz="3600" dirty="0"/>
          </a:p>
        </p:txBody>
      </p:sp>
      <p:sp>
        <p:nvSpPr>
          <p:cNvPr id="14" name="Text 12"/>
          <p:cNvSpPr/>
          <p:nvPr/>
        </p:nvSpPr>
        <p:spPr>
          <a:xfrm>
            <a:off x="1005840" y="4297680"/>
            <a:ext cx="457200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AI-Powered Efficiency</a:t>
            </a:r>
            <a:endParaRPr lang="en-US" sz="1600" dirty="0"/>
          </a:p>
        </p:txBody>
      </p:sp>
      <p:sp>
        <p:nvSpPr>
          <p:cNvPr id="15" name="Text 13"/>
          <p:cNvSpPr/>
          <p:nvPr/>
        </p:nvSpPr>
        <p:spPr>
          <a:xfrm>
            <a:off x="1005840" y="4754880"/>
            <a:ext cx="4572000" cy="128016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Streams uses agentic AI to structure logs. AI Assistant provides contextual insights in both O11y and Security. Significant Events surfaces critical signals automatically.</a:t>
            </a:r>
            <a:endParaRPr lang="en-US" sz="1200" dirty="0"/>
          </a:p>
        </p:txBody>
      </p:sp>
      <p:sp>
        <p:nvSpPr>
          <p:cNvPr id="16" name="Shape 14"/>
          <p:cNvSpPr/>
          <p:nvPr/>
        </p:nvSpPr>
        <p:spPr>
          <a:xfrm>
            <a:off x="6400800" y="4114800"/>
            <a:ext cx="5303520" cy="2286000"/>
          </a:xfrm>
          <a:prstGeom prst="roundRect">
            <a:avLst>
              <a:gd name="adj" fmla="val 4000"/>
            </a:avLst>
          </a:prstGeom>
          <a:solidFill>
            <a:srgbClr val="F5F7FA"/>
          </a:solidFill>
          <a:ln w="19050">
            <a:solidFill>
              <a:srgbClr val="101C3F"/>
            </a:solidFill>
            <a:prstDash val="solid"/>
          </a:ln>
        </p:spPr>
      </p:sp>
      <p:sp>
        <p:nvSpPr>
          <p:cNvPr id="17" name="Text 15"/>
          <p:cNvSpPr/>
          <p:nvPr/>
        </p:nvSpPr>
        <p:spPr>
          <a:xfrm>
            <a:off x="6400800" y="4206240"/>
            <a:ext cx="548640" cy="54864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4</a:t>
            </a:r>
            <a:endParaRPr lang="en-US" sz="3600" dirty="0"/>
          </a:p>
        </p:txBody>
      </p:sp>
      <p:sp>
        <p:nvSpPr>
          <p:cNvPr id="18" name="Text 16"/>
          <p:cNvSpPr/>
          <p:nvPr/>
        </p:nvSpPr>
        <p:spPr>
          <a:xfrm>
            <a:off x="6949440" y="4297680"/>
            <a:ext cx="4572000" cy="365760"/>
          </a:xfrm>
          <a:prstGeom prst="rect">
            <a:avLst/>
          </a:prstGeom>
          <a:noFill/>
          <a:ln/>
        </p:spPr>
        <p:txBody>
          <a:bodyPr wrap="square" rtlCol="0" anchor="ctr"/>
          <a:lstStyle/>
          <a:p>
            <a:pPr algn="l" indent="0" marL="0">
              <a:buNone/>
            </a:pPr>
            <a:r>
              <a:rPr lang="en-US" sz="1600" b="1" dirty="0">
                <a:solidFill>
                  <a:srgbClr val="0B64DD"/>
                </a:solidFill>
                <a:latin typeface="Inter" pitchFamily="34" charset="0"/>
                <a:ea typeface="Inter" pitchFamily="34" charset="-122"/>
                <a:cs typeface="Inter" pitchFamily="34" charset="-120"/>
              </a:rPr>
              <a:t>Cross-Team Collaboration</a:t>
            </a:r>
            <a:endParaRPr lang="en-US" sz="1600" dirty="0"/>
          </a:p>
        </p:txBody>
      </p:sp>
      <p:sp>
        <p:nvSpPr>
          <p:cNvPr id="19" name="Text 17"/>
          <p:cNvSpPr/>
          <p:nvPr/>
        </p:nvSpPr>
        <p:spPr>
          <a:xfrm>
            <a:off x="6949440" y="4754880"/>
            <a:ext cx="4572000" cy="1280160"/>
          </a:xfrm>
          <a:prstGeom prst="rect">
            <a:avLst/>
          </a:prstGeom>
          <a:noFill/>
          <a:ln/>
        </p:spPr>
        <p:txBody>
          <a:bodyPr wrap="square" rtlCol="0" anchor="ctr"/>
          <a:lstStyle/>
          <a:p>
            <a:pPr algn="l" indent="0" marL="0">
              <a:lnSpc>
                <a:spcPct val="160000"/>
              </a:lnSpc>
              <a:buNone/>
            </a:pPr>
            <a:r>
              <a:rPr lang="en-US" sz="1200" dirty="0">
                <a:solidFill>
                  <a:srgbClr val="343741"/>
                </a:solidFill>
                <a:latin typeface="Inter" pitchFamily="34" charset="0"/>
                <a:ea typeface="Inter" pitchFamily="34" charset="-122"/>
                <a:cs typeface="Inter" pitchFamily="34" charset="-120"/>
              </a:rPr>
              <a:t>SREs and SOC analysts share the same data, same platform, same tools. Cases span both domains. Context flows from alert to investigation without tool switching.</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64DD"/>
          </a:solidFill>
          <a:ln/>
        </p:spPr>
      </p:sp>
      <p:sp>
        <p:nvSpPr>
          <p:cNvPr id="3" name="Text 1"/>
          <p:cNvSpPr/>
          <p:nvPr/>
        </p:nvSpPr>
        <p:spPr>
          <a:xfrm>
            <a:off x="731520" y="1645920"/>
            <a:ext cx="10698480" cy="1280160"/>
          </a:xfrm>
          <a:prstGeom prst="rect">
            <a:avLst/>
          </a:prstGeom>
          <a:noFill/>
          <a:ln/>
        </p:spPr>
        <p:txBody>
          <a:bodyPr wrap="square" rtlCol="0" anchor="ctr"/>
          <a:lstStyle/>
          <a:p>
            <a:pPr algn="l" indent="0" marL="0">
              <a:buNone/>
            </a:pPr>
            <a:r>
              <a:rPr lang="en-US" sz="4800" b="1" dirty="0">
                <a:solidFill>
                  <a:srgbClr val="FFFFFF"/>
                </a:solidFill>
                <a:latin typeface="Inter" pitchFamily="34" charset="0"/>
                <a:ea typeface="Inter" pitchFamily="34" charset="-122"/>
                <a:cs typeface="Inter" pitchFamily="34" charset="-120"/>
              </a:rPr>
              <a:t>Thank You</a:t>
            </a:r>
            <a:endParaRPr lang="en-US" sz="4800" dirty="0"/>
          </a:p>
        </p:txBody>
      </p:sp>
      <p:sp>
        <p:nvSpPr>
          <p:cNvPr id="4" name="Shape 2"/>
          <p:cNvSpPr/>
          <p:nvPr/>
        </p:nvSpPr>
        <p:spPr>
          <a:xfrm>
            <a:off x="731520" y="3108960"/>
            <a:ext cx="2286000" cy="36576"/>
          </a:xfrm>
          <a:prstGeom prst="rect">
            <a:avLst/>
          </a:prstGeom>
          <a:solidFill>
            <a:srgbClr val="48EFCF"/>
          </a:solidFill>
          <a:ln/>
        </p:spPr>
      </p:sp>
      <p:sp>
        <p:nvSpPr>
          <p:cNvPr id="5" name="Text 3"/>
          <p:cNvSpPr/>
          <p:nvPr/>
        </p:nvSpPr>
        <p:spPr>
          <a:xfrm>
            <a:off x="731520" y="3383280"/>
            <a:ext cx="9144000" cy="548640"/>
          </a:xfrm>
          <a:prstGeom prst="rect">
            <a:avLst/>
          </a:prstGeom>
          <a:noFill/>
          <a:ln/>
        </p:spPr>
        <p:txBody>
          <a:bodyPr wrap="square" rtlCol="0" anchor="ctr"/>
          <a:lstStyle/>
          <a:p>
            <a:pPr algn="l" indent="0" marL="0">
              <a:buNone/>
            </a:pPr>
            <a:r>
              <a:rPr lang="en-US" sz="1800" dirty="0">
                <a:solidFill>
                  <a:srgbClr val="48EFCF"/>
                </a:solidFill>
                <a:latin typeface="Inter" pitchFamily="34" charset="0"/>
                <a:ea typeface="Inter" pitchFamily="34" charset="-122"/>
                <a:cs typeface="Inter" pitchFamily="34" charset="-120"/>
              </a:rPr>
              <a:t>Observability and Security — better together on the Elastic Platform</a:t>
            </a:r>
            <a:endParaRPr lang="en-US" sz="1800" dirty="0"/>
          </a:p>
        </p:txBody>
      </p:sp>
      <p:sp>
        <p:nvSpPr>
          <p:cNvPr id="6" name="Text 4"/>
          <p:cNvSpPr/>
          <p:nvPr/>
        </p:nvSpPr>
        <p:spPr>
          <a:xfrm>
            <a:off x="731520" y="4206240"/>
            <a:ext cx="4572000" cy="365760"/>
          </a:xfrm>
          <a:prstGeom prst="rect">
            <a:avLst/>
          </a:prstGeom>
          <a:noFill/>
          <a:ln/>
        </p:spPr>
        <p:txBody>
          <a:bodyPr wrap="square" rtlCol="0" anchor="ctr"/>
          <a:lstStyle/>
          <a:p>
            <a:pPr algn="l" indent="0" marL="0">
              <a:buNone/>
            </a:pPr>
            <a:r>
              <a:rPr lang="en-US" sz="1400" b="1" dirty="0">
                <a:solidFill>
                  <a:srgbClr val="FFFFFF"/>
                </a:solidFill>
                <a:latin typeface="Inter" pitchFamily="34" charset="0"/>
                <a:ea typeface="Inter" pitchFamily="34" charset="-122"/>
                <a:cs typeface="Inter" pitchFamily="34" charset="-120"/>
              </a:rPr>
              <a:t>Learn more:</a:t>
            </a:r>
            <a:endParaRPr lang="en-US" sz="1400" dirty="0"/>
          </a:p>
        </p:txBody>
      </p:sp>
      <p:sp>
        <p:nvSpPr>
          <p:cNvPr id="7" name="Text 5"/>
          <p:cNvSpPr/>
          <p:nvPr/>
        </p:nvSpPr>
        <p:spPr>
          <a:xfrm>
            <a:off x="731520" y="4663440"/>
            <a:ext cx="10058400" cy="457200"/>
          </a:xfrm>
          <a:prstGeom prst="rect">
            <a:avLst/>
          </a:prstGeom>
          <a:noFill/>
          <a:ln/>
        </p:spPr>
        <p:txBody>
          <a:bodyPr wrap="square" rtlCol="0" anchor="ctr"/>
          <a:lstStyle/>
          <a:p>
            <a:pPr algn="l" indent="0" marL="0">
              <a:buNone/>
            </a:pPr>
            <a:r>
              <a:rPr lang="en-US" sz="1300" dirty="0">
                <a:solidFill>
                  <a:srgbClr val="DCE2EA"/>
                </a:solidFill>
                <a:latin typeface="Inter" pitchFamily="34" charset="0"/>
                <a:ea typeface="Inter" pitchFamily="34" charset="-122"/>
                <a:cs typeface="Inter" pitchFamily="34" charset="-120"/>
              </a:rPr>
              <a:t>elastic.co/observability    elastic.co/security    elastic.co/elasticsearch/common-schema</a:t>
            </a:r>
            <a:endParaRPr lang="en-US" sz="1300" dirty="0"/>
          </a:p>
        </p:txBody>
      </p:sp>
      <p:sp>
        <p:nvSpPr>
          <p:cNvPr id="8" name="Text 6"/>
          <p:cNvSpPr/>
          <p:nvPr/>
        </p:nvSpPr>
        <p:spPr>
          <a:xfrm>
            <a:off x="731520" y="5029200"/>
            <a:ext cx="10058400" cy="457200"/>
          </a:xfrm>
          <a:prstGeom prst="rect">
            <a:avLst/>
          </a:prstGeom>
          <a:noFill/>
          <a:ln/>
        </p:spPr>
        <p:txBody>
          <a:bodyPr wrap="square" rtlCol="0" anchor="ctr"/>
          <a:lstStyle/>
          <a:p>
            <a:pPr algn="l" indent="0" marL="0">
              <a:buNone/>
            </a:pPr>
            <a:r>
              <a:rPr lang="en-US" sz="1300" dirty="0">
                <a:solidFill>
                  <a:srgbClr val="DCE2EA"/>
                </a:solidFill>
                <a:latin typeface="Inter" pitchFamily="34" charset="0"/>
                <a:ea typeface="Inter" pitchFamily="34" charset="-122"/>
                <a:cs typeface="Inter" pitchFamily="34" charset="-120"/>
              </a:rPr>
              <a:t>elastic.co/guide/en/ecs    elastic.co/elastic-agent    elastic.co/elasticsearch/streams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 &amp; Security: Unified on the Elastic Platform</dc:title>
  <dc:subject>How Observability and Security data work together in Elastic with document and knowledge support</dc:subject>
  <dc:creator>Elastic</dc:creator>
  <cp:lastModifiedBy>Elastic</cp:lastModifiedBy>
  <cp:revision>1</cp:revision>
  <dcterms:created xsi:type="dcterms:W3CDTF">2026-05-05T09:31:12Z</dcterms:created>
  <dcterms:modified xsi:type="dcterms:W3CDTF">2026-05-05T09:31:12Z</dcterms:modified>
</cp:coreProperties>
</file>