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comprehensive analysis of Elastic Agent Builder through the lens of harness engineering. This presentation covers 13 sections over 30 slides, mapping every harness primitive to its Elastic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is structured in five parts. We start with the theory of harness engineering, then examine Elastic Agent Builder's architecture, map every primitive to its Elastic implementation, explore the Workflows and Skills layers, and finish with practical use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Engineering represents a fundamental shift in how we build AI agent systems. The term was coined by Mitchell Hashimoto in early 2026. Within weeks, OpenAI and Anthropic published engineering articles expanding the concept. The harness is every piece of code, configuration, and orchestration logic that is not the model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primitives form the foundation of any production-grade agent harness. They are interconnected: tools need memory for context, validation needs observability for feedback, retries need validation to know when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competing approaches. They are a progression. As agent capability grows, the same team moves through all three, often within a single project. Context engineering makes information available; the harness decides when to surface it, what tools are available, and how failures are handled.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failure modes were documented across OpenAI, Anthropic, Cognition, Stripe, and Datadog. Every failure mode has a harness-level solution, not a model improvement. The key principle: when the agent struggles, treat it as a signal to identify what is missing from the environment, not what is wrong with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OpenAI's internal experiment proves that harness engineering is not theoretical. A 3-person team produced 1M+ lines of production code with zero manually written source code. Every challenge was solved at the harness layer, not by improving the model. Quote from OpenAI: 'Our most difficult challenges now center on designing environments, feedback loops, and control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Elastic Agent Builder is built on four architectural layers. Elasticsearch provides the persistent context foundation. The Tool System gives agents atomic operations. Skills package multi-tool workflows. The multi-surface execution layer delivers the same conversation across Kibana, Chat, Slack, CLI, and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components work together in a layered fashion: Chat is the interaction surface, Agents provide role-based specialisation, Skills package multi-tool workflows into reusable blocks, and Tools are the atomic building blocks. This is the same layered architecture that underpins the entire Elastic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context engineering pipeline is what makes Elastic Agent Builder unique. It is not just RAG; it is a complete query-to-context pipeline that grounds the agent in actual data. Hybrid search combines BM25 keyword matching with semantic vector search for maximum relevance.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design principle is atomicity: each tool has a single responsibility with typed parameters and structured returns. This prevents the LLM from generating free-form queries that could be unpredictable. Tools are discoverable from a central page in Kibana and scoped by RBAC to specific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Elastic implements tool access through a layered security model. RBAC controls which agents can access which tools. Index-level permissions scope data access. API keys provide programmatic access with defined scopes. Every tool execution goes through permission checks before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in Elastic Agent Builder is not just a vector store. It is a first-class Elasticsearch index with full search, RBAC, and audit capabilities. Skills serve as persistent, versioned knowledge packages that survive across sessions — they are the agent's institutional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in Elastic is multi-layered. The most powerful layer is Elastic Workflows: YAML-defined execution blueprints that provide deterministic validation. When an agent needs to perform a critical action, it can delegate to a workflow that enforces exact step-by-step execution with pre-defined success and failure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handling in Elastic follows the harness engineering principle: treat repeated failures as a signal to identify what is missing, not as a reason to retry the same approach. Workflows provide deterministic error paths — when a step fails, the workflow follows a pre-defined route rather than hoping the agent figures it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is not an afterthought; it is built into the platform. Because Agent Builder runs on Elasticsearch, every tool call, agent decision, and conversation trace is stored in the same cluster. This means you can use Elastic Observability (APM, logs, metrics) to monitor your agents with the same tools you use for the rest of your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shows the complete mapping of all five harness engineering primitives to their Elastic implementations. Each primitive has multiple implementation layers in Elastic — the platform provides depth, not just surface-level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Elastic Workflows were announced as a technical preview alongside Agent Builder GA in January 2026. They provide the deterministic execution layer that agent-based systems need for production reliability. The bidirectional integration means you can mix AI reasoning and deterministic steps in a single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agents and workflows work together. An agent can invoke a workflow as a tool for deterministic steps, and a workflow can call an agent as an intelligent reasoning node. This creates a reliability pattern: use agents for judgment and analysis, use workflows for execution and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the mechanism that makes Agent Builder extensible without creating tool bloat. They follow the harness engineering principle of progressive disclosure: the agent sees a short map up front, and deeper sources of truth are pulled in only when needed. The elastic/agent-skills GitHub repository contains the official curated skills catalog.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and A2A are open standards that make Agent Builder interoperable with the broader AI ecosystem. Elastic's commitment to these standards means that tools and agents built on the Elastic platform are not siloed; they can participate in multi-vendor agent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end-to-end workflow demonstrates the full harness in action: alert triggers agent, agent uses skills to coordinate tools, tools query Elasticsearch data, observability provides tracing, workflow executes remediation. The entire process is logged and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use cases benefit from the same harness pattern: deterministic alert detection triggers an agent, the agent uses skills to coordinate tools for investigation, and workflows create auditable cases. The human-in-the-loop approval gate ensures high-stakes decisions are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unified platform advantage is Elastic's key differentiator. Most agent frameworks require you to build your harness by connecting separate systems. Elastic provides the harness as a unified platform. This eliminates the integration tax and reduces the surface area for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best practices come from Elastic's own experience building production agent systems and from the broader harness engineering community. The key theme: invest in the harness, not just the model. A well-engineered harness makes a decent model reliable; a poorly engineered harness makes even the best model unpredictable.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message of this presentation: Elastic Agent Builder is not just another agent framework. It is a harness engineering platform that provides production-grade primitives out of the box. The question is not whether you need harness engineering. The question is whether you want to build it yourself or use a platform that has it built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sources cited in this presentation are available at the URLs listed. The research was conducted in May 2026 using official Elastic documentation, press releases, and industry articles on harness engineering.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with Elastic brand styling.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64DD"/>
          </a:solidFill>
          <a:ln/>
        </p:spPr>
      </p:sp>
      <p:sp>
        <p:nvSpPr>
          <p:cNvPr id="3" name="Text 1"/>
          <p:cNvSpPr/>
          <p:nvPr/>
        </p:nvSpPr>
        <p:spPr>
          <a:xfrm>
            <a:off x="731520" y="1371600"/>
            <a:ext cx="10698480" cy="2286000"/>
          </a:xfrm>
          <a:prstGeom prst="rect">
            <a:avLst/>
          </a:prstGeom>
          <a:noFill/>
          <a:ln/>
        </p:spPr>
        <p:txBody>
          <a:bodyPr wrap="square" rtlCol="0" anchor="ctr"/>
          <a:lstStyle/>
          <a:p>
            <a:pPr algn="ctr" indent="0" marL="0">
              <a:buNone/>
            </a:pPr>
            <a:r>
              <a:rPr lang="en-US" sz="4000" b="1" dirty="0">
                <a:solidFill>
                  <a:srgbClr val="FFFFFF"/>
                </a:solidFill>
                <a:latin typeface="Inter" pitchFamily="34" charset="0"/>
                <a:ea typeface="Inter" pitchFamily="34" charset="-122"/>
                <a:cs typeface="Inter" pitchFamily="34" charset="-120"/>
              </a:rPr>
              <a:t>Elastic Agent Builder</a:t>
            </a:r>
            <a:endParaRPr lang="en-US" sz="4000" dirty="0"/>
          </a:p>
          <a:p>
            <a:pPr algn="ctr" indent="0" marL="0">
              <a:buNone/>
            </a:pPr>
            <a:r>
              <a:rPr lang="en-US" sz="4000" b="1" dirty="0">
                <a:solidFill>
                  <a:srgbClr val="FFFFFF"/>
                </a:solidFill>
                <a:latin typeface="Inter" pitchFamily="34" charset="0"/>
                <a:ea typeface="Inter" pitchFamily="34" charset="-122"/>
                <a:cs typeface="Inter" pitchFamily="34" charset="-120"/>
              </a:rPr>
              <a:t>&amp; Harness Engineering</a:t>
            </a:r>
            <a:endParaRPr lang="en-US" sz="4000" dirty="0"/>
          </a:p>
        </p:txBody>
      </p:sp>
      <p:sp>
        <p:nvSpPr>
          <p:cNvPr id="4" name="Text 2"/>
          <p:cNvSpPr/>
          <p:nvPr/>
        </p:nvSpPr>
        <p:spPr>
          <a:xfrm>
            <a:off x="731520" y="3474720"/>
            <a:ext cx="10698480" cy="731520"/>
          </a:xfrm>
          <a:prstGeom prst="rect">
            <a:avLst/>
          </a:prstGeom>
          <a:noFill/>
          <a:ln/>
        </p:spPr>
        <p:txBody>
          <a:bodyPr wrap="square" rtlCol="0" anchor="ctr"/>
          <a:lstStyle/>
          <a:p>
            <a:pPr algn="ctr" indent="0" marL="0">
              <a:buNone/>
            </a:pPr>
            <a:r>
              <a:rPr lang="en-US" sz="1800" dirty="0">
                <a:solidFill>
                  <a:srgbClr val="48EFCF"/>
                </a:solidFill>
                <a:latin typeface="Inter" pitchFamily="34" charset="0"/>
                <a:ea typeface="Inter" pitchFamily="34" charset="-122"/>
                <a:cs typeface="Inter" pitchFamily="34" charset="-120"/>
              </a:rPr>
              <a:t>Analysis of how Elastic implements production AI agent harness primitives</a:t>
            </a:r>
            <a:endParaRPr lang="en-US" sz="1800" dirty="0"/>
          </a:p>
        </p:txBody>
      </p:sp>
      <p:sp>
        <p:nvSpPr>
          <p:cNvPr id="5" name="Shape 3"/>
          <p:cNvSpPr/>
          <p:nvPr/>
        </p:nvSpPr>
        <p:spPr>
          <a:xfrm>
            <a:off x="5212080" y="4206240"/>
            <a:ext cx="1828800" cy="36576"/>
          </a:xfrm>
          <a:prstGeom prst="rect">
            <a:avLst/>
          </a:prstGeom>
          <a:solidFill>
            <a:srgbClr val="48EFCF"/>
          </a:solidFill>
          <a:ln/>
        </p:spPr>
      </p:sp>
      <p:sp>
        <p:nvSpPr>
          <p:cNvPr id="6" name="Text 4"/>
          <p:cNvSpPr/>
          <p:nvPr/>
        </p:nvSpPr>
        <p:spPr>
          <a:xfrm>
            <a:off x="731520" y="4754880"/>
            <a:ext cx="10698480" cy="548640"/>
          </a:xfrm>
          <a:prstGeom prst="rect">
            <a:avLst/>
          </a:prstGeom>
          <a:noFill/>
          <a:ln/>
        </p:spPr>
        <p:txBody>
          <a:bodyPr wrap="square" rtlCol="0" anchor="ctr"/>
          <a:lstStyle/>
          <a:p>
            <a:pPr algn="ctr" indent="0" marL="0">
              <a:buNone/>
            </a:pPr>
            <a:r>
              <a:rPr lang="en-US" sz="1400" dirty="0">
                <a:solidFill>
                  <a:srgbClr val="DCE2EA"/>
                </a:solidFill>
                <a:latin typeface="Inter" pitchFamily="34" charset="0"/>
                <a:ea typeface="Inter" pitchFamily="34" charset="-122"/>
                <a:cs typeface="Inter" pitchFamily="34" charset="-120"/>
              </a:rPr>
              <a:t>May 2026  |  30 slides  |  10+ architecture diagrams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Agenda</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Part 1: Harness Engineering Fundamentals (Slides 4-8)</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Part 2: Elastic Agent Builder Architecture (Slides 9-13)</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Part 3: Mapping Harness Primitives to Elastic (Slides 14-22)</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Part 4: Elastic Workflows &amp; Skills (Slides 23-26)</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Part 5: Real-World Use Cases &amp; Best Practices (Slides 27-30)</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0B64DD"/>
                </a:solidFill>
                <a:latin typeface="Inter" pitchFamily="34" charset="0"/>
                <a:ea typeface="Inter" pitchFamily="34" charset="-122"/>
                <a:cs typeface="Inter" pitchFamily="34" charset="-120"/>
              </a:rPr>
              <a:t>Part 1: Harness Engineering</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The missing architectural layer for production AI agents</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What is Harness Engineering?</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Harness Engineering is the discipline of designing the execution environment around an autonomous AI agent</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Coined by Mitchell Hashimoto (HashiCorp co-creator) in February 2026</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Core equation: Agent = Model + Harness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The harness defines tools, permissions, memory, validation, retries, and observability</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A decent model with a great harness beats a great model with a bad harness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indent="0" marL="0">
              <a:buNone/>
            </a:pPr>
            <a:r>
              <a:rPr lang="en-US" sz="2800" b="1" dirty="0">
                <a:solidFill>
                  <a:srgbClr val="0B64DD"/>
                </a:solidFill>
                <a:latin typeface="Inter" pitchFamily="34" charset="0"/>
                <a:ea typeface="Inter" pitchFamily="34" charset="-122"/>
                <a:cs typeface="Inter" pitchFamily="34" charset="-120"/>
              </a:rPr>
              <a:t>The Five Core Harness Primitives</a:t>
            </a:r>
            <a:endParaRPr lang="en-US" sz="2800" dirty="0"/>
          </a:p>
        </p:txBody>
      </p:sp>
      <p:sp>
        <p:nvSpPr>
          <p:cNvPr id="3" name="Shape 1"/>
          <p:cNvSpPr/>
          <p:nvPr/>
        </p:nvSpPr>
        <p:spPr>
          <a:xfrm>
            <a:off x="457200" y="868680"/>
            <a:ext cx="1097280" cy="32004"/>
          </a:xfrm>
          <a:prstGeom prst="rect">
            <a:avLst/>
          </a:prstGeom>
          <a:solidFill>
            <a:srgbClr val="48EFCF"/>
          </a:solidFill>
          <a:ln/>
        </p:spPr>
      </p:sp>
      <p:sp>
        <p:nvSpPr>
          <p:cNvPr id="4" name="Shape 2"/>
          <p:cNvSpPr/>
          <p:nvPr/>
        </p:nvSpPr>
        <p:spPr>
          <a:xfrm>
            <a:off x="457200" y="1371600"/>
            <a:ext cx="2103120" cy="4754880"/>
          </a:xfrm>
          <a:prstGeom prst="roundRect">
            <a:avLst>
              <a:gd name="adj" fmla="val 4348"/>
            </a:avLst>
          </a:prstGeom>
          <a:solidFill>
            <a:srgbClr val="F5F7FA"/>
          </a:solidFill>
          <a:ln w="19050">
            <a:solidFill>
              <a:srgbClr val="101C3F"/>
            </a:solidFill>
            <a:prstDash val="solid"/>
          </a:ln>
        </p:spPr>
      </p:sp>
      <p:sp>
        <p:nvSpPr>
          <p:cNvPr id="5" name="Text 3"/>
          <p:cNvSpPr/>
          <p:nvPr/>
        </p:nvSpPr>
        <p:spPr>
          <a:xfrm>
            <a:off x="548640" y="1554480"/>
            <a:ext cx="1920240" cy="1097280"/>
          </a:xfrm>
          <a:prstGeom prst="rect">
            <a:avLst/>
          </a:prstGeom>
          <a:noFill/>
          <a:ln/>
        </p:spPr>
        <p:txBody>
          <a:bodyPr wrap="square" rtlCol="0" anchor="ctr"/>
          <a:lstStyle/>
          <a:p>
            <a:pPr algn="ctr" indent="0" marL="0">
              <a:buNone/>
            </a:pPr>
            <a:r>
              <a:rPr lang="en-US" sz="1400" b="1" dirty="0">
                <a:solidFill>
                  <a:srgbClr val="0B64DD"/>
                </a:solidFill>
                <a:latin typeface="Inter" pitchFamily="34" charset="0"/>
                <a:ea typeface="Inter" pitchFamily="34" charset="-122"/>
                <a:cs typeface="Inter" pitchFamily="34" charset="-120"/>
              </a:rPr>
              <a:t>1</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Tool Access</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&amp; Permissions</a:t>
            </a:r>
            <a:endParaRPr lang="en-US" sz="1400" dirty="0"/>
          </a:p>
        </p:txBody>
      </p:sp>
      <p:sp>
        <p:nvSpPr>
          <p:cNvPr id="6" name="Text 4"/>
          <p:cNvSpPr/>
          <p:nvPr/>
        </p:nvSpPr>
        <p:spPr>
          <a:xfrm>
            <a:off x="548640" y="2743200"/>
            <a:ext cx="1920240" cy="2743200"/>
          </a:xfrm>
          <a:prstGeom prst="rect">
            <a:avLst/>
          </a:prstGeom>
          <a:noFill/>
          <a:ln/>
        </p:spPr>
        <p:txBody>
          <a:bodyPr wrap="square" rtlCol="0" anchor="ctr"/>
          <a:lstStyle/>
          <a:p>
            <a:pPr algn="ctr" indent="0" marL="0">
              <a:buNone/>
            </a:pPr>
            <a:r>
              <a:rPr lang="en-US" sz="1100" dirty="0">
                <a:solidFill>
                  <a:srgbClr val="343741"/>
                </a:solidFill>
                <a:latin typeface="Inter" pitchFamily="34" charset="0"/>
                <a:ea typeface="Inter" pitchFamily="34" charset="-122"/>
                <a:cs typeface="Inter" pitchFamily="34" charset="-120"/>
              </a:rPr>
              <a:t>What tools can</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the agent use?</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How are</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permissions</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enforced?</a:t>
            </a:r>
            <a:endParaRPr lang="en-US" sz="1100" dirty="0"/>
          </a:p>
        </p:txBody>
      </p:sp>
      <p:sp>
        <p:nvSpPr>
          <p:cNvPr id="7" name="Shape 5"/>
          <p:cNvSpPr/>
          <p:nvPr/>
        </p:nvSpPr>
        <p:spPr>
          <a:xfrm>
            <a:off x="2697480" y="1371600"/>
            <a:ext cx="2103120" cy="4754880"/>
          </a:xfrm>
          <a:prstGeom prst="roundRect">
            <a:avLst>
              <a:gd name="adj" fmla="val 4348"/>
            </a:avLst>
          </a:prstGeom>
          <a:solidFill>
            <a:srgbClr val="F5F7FA"/>
          </a:solidFill>
          <a:ln w="19050">
            <a:solidFill>
              <a:srgbClr val="101C3F"/>
            </a:solidFill>
            <a:prstDash val="solid"/>
          </a:ln>
        </p:spPr>
      </p:sp>
      <p:sp>
        <p:nvSpPr>
          <p:cNvPr id="8" name="Text 6"/>
          <p:cNvSpPr/>
          <p:nvPr/>
        </p:nvSpPr>
        <p:spPr>
          <a:xfrm>
            <a:off x="2788920" y="1554480"/>
            <a:ext cx="1920240" cy="1097280"/>
          </a:xfrm>
          <a:prstGeom prst="rect">
            <a:avLst/>
          </a:prstGeom>
          <a:noFill/>
          <a:ln/>
        </p:spPr>
        <p:txBody>
          <a:bodyPr wrap="square" rtlCol="0" anchor="ctr"/>
          <a:lstStyle/>
          <a:p>
            <a:pPr algn="ctr" indent="0" marL="0">
              <a:buNone/>
            </a:pPr>
            <a:r>
              <a:rPr lang="en-US" sz="1400" b="1" dirty="0">
                <a:solidFill>
                  <a:srgbClr val="0B64DD"/>
                </a:solidFill>
                <a:latin typeface="Inter" pitchFamily="34" charset="0"/>
                <a:ea typeface="Inter" pitchFamily="34" charset="-122"/>
                <a:cs typeface="Inter" pitchFamily="34" charset="-120"/>
              </a:rPr>
              <a:t>2</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Memory &amp;</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Context Mgmt</a:t>
            </a:r>
            <a:endParaRPr lang="en-US" sz="1400" dirty="0"/>
          </a:p>
        </p:txBody>
      </p:sp>
      <p:sp>
        <p:nvSpPr>
          <p:cNvPr id="9" name="Text 7"/>
          <p:cNvSpPr/>
          <p:nvPr/>
        </p:nvSpPr>
        <p:spPr>
          <a:xfrm>
            <a:off x="2788920" y="2743200"/>
            <a:ext cx="1920240" cy="2743200"/>
          </a:xfrm>
          <a:prstGeom prst="rect">
            <a:avLst/>
          </a:prstGeom>
          <a:noFill/>
          <a:ln/>
        </p:spPr>
        <p:txBody>
          <a:bodyPr wrap="square" rtlCol="0" anchor="ctr"/>
          <a:lstStyle/>
          <a:p>
            <a:pPr algn="ctr" indent="0" marL="0">
              <a:buNone/>
            </a:pPr>
            <a:r>
              <a:rPr lang="en-US" sz="1100" dirty="0">
                <a:solidFill>
                  <a:srgbClr val="343741"/>
                </a:solidFill>
                <a:latin typeface="Inter" pitchFamily="34" charset="0"/>
                <a:ea typeface="Inter" pitchFamily="34" charset="-122"/>
                <a:cs typeface="Inter" pitchFamily="34" charset="-120"/>
              </a:rPr>
              <a:t>How is</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conversation</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history stored?</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Cross-session</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persistence?</a:t>
            </a:r>
            <a:endParaRPr lang="en-US" sz="1100" dirty="0"/>
          </a:p>
        </p:txBody>
      </p:sp>
      <p:sp>
        <p:nvSpPr>
          <p:cNvPr id="10" name="Shape 8"/>
          <p:cNvSpPr/>
          <p:nvPr/>
        </p:nvSpPr>
        <p:spPr>
          <a:xfrm>
            <a:off x="4937760" y="1371600"/>
            <a:ext cx="2103120" cy="4754880"/>
          </a:xfrm>
          <a:prstGeom prst="roundRect">
            <a:avLst>
              <a:gd name="adj" fmla="val 4348"/>
            </a:avLst>
          </a:prstGeom>
          <a:solidFill>
            <a:srgbClr val="F5F7FA"/>
          </a:solidFill>
          <a:ln w="19050">
            <a:solidFill>
              <a:srgbClr val="101C3F"/>
            </a:solidFill>
            <a:prstDash val="solid"/>
          </a:ln>
        </p:spPr>
      </p:sp>
      <p:sp>
        <p:nvSpPr>
          <p:cNvPr id="11" name="Text 9"/>
          <p:cNvSpPr/>
          <p:nvPr/>
        </p:nvSpPr>
        <p:spPr>
          <a:xfrm>
            <a:off x="5029200" y="1554480"/>
            <a:ext cx="1920240" cy="1097280"/>
          </a:xfrm>
          <a:prstGeom prst="rect">
            <a:avLst/>
          </a:prstGeom>
          <a:noFill/>
          <a:ln/>
        </p:spPr>
        <p:txBody>
          <a:bodyPr wrap="square" rtlCol="0" anchor="ctr"/>
          <a:lstStyle/>
          <a:p>
            <a:pPr algn="ctr" indent="0" marL="0">
              <a:buNone/>
            </a:pPr>
            <a:r>
              <a:rPr lang="en-US" sz="1400" b="1" dirty="0">
                <a:solidFill>
                  <a:srgbClr val="0B64DD"/>
                </a:solidFill>
                <a:latin typeface="Inter" pitchFamily="34" charset="0"/>
                <a:ea typeface="Inter" pitchFamily="34" charset="-122"/>
                <a:cs typeface="Inter" pitchFamily="34" charset="-120"/>
              </a:rPr>
              <a:t>3</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Validation &amp;</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Constraints</a:t>
            </a:r>
            <a:endParaRPr lang="en-US" sz="1400" dirty="0"/>
          </a:p>
        </p:txBody>
      </p:sp>
      <p:sp>
        <p:nvSpPr>
          <p:cNvPr id="12" name="Text 10"/>
          <p:cNvSpPr/>
          <p:nvPr/>
        </p:nvSpPr>
        <p:spPr>
          <a:xfrm>
            <a:off x="5029200" y="2743200"/>
            <a:ext cx="1920240" cy="2743200"/>
          </a:xfrm>
          <a:prstGeom prst="rect">
            <a:avLst/>
          </a:prstGeom>
          <a:noFill/>
          <a:ln/>
        </p:spPr>
        <p:txBody>
          <a:bodyPr wrap="square" rtlCol="0" anchor="ctr"/>
          <a:lstStyle/>
          <a:p>
            <a:pPr algn="ctr" indent="0" marL="0">
              <a:buNone/>
            </a:pPr>
            <a:r>
              <a:rPr lang="en-US" sz="1100" dirty="0">
                <a:solidFill>
                  <a:srgbClr val="343741"/>
                </a:solidFill>
                <a:latin typeface="Inter" pitchFamily="34" charset="0"/>
                <a:ea typeface="Inter" pitchFamily="34" charset="-122"/>
                <a:cs typeface="Inter" pitchFamily="34" charset="-120"/>
              </a:rPr>
              <a:t>What boundaries</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exist? How are</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outputs validated?</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Drift prevention?</a:t>
            </a:r>
            <a:endParaRPr lang="en-US" sz="1100" dirty="0"/>
          </a:p>
        </p:txBody>
      </p:sp>
      <p:sp>
        <p:nvSpPr>
          <p:cNvPr id="13" name="Shape 11"/>
          <p:cNvSpPr/>
          <p:nvPr/>
        </p:nvSpPr>
        <p:spPr>
          <a:xfrm>
            <a:off x="7178040" y="1371600"/>
            <a:ext cx="2103120" cy="4754880"/>
          </a:xfrm>
          <a:prstGeom prst="roundRect">
            <a:avLst>
              <a:gd name="adj" fmla="val 4348"/>
            </a:avLst>
          </a:prstGeom>
          <a:solidFill>
            <a:srgbClr val="F5F7FA"/>
          </a:solidFill>
          <a:ln w="19050">
            <a:solidFill>
              <a:srgbClr val="101C3F"/>
            </a:solidFill>
            <a:prstDash val="solid"/>
          </a:ln>
        </p:spPr>
      </p:sp>
      <p:sp>
        <p:nvSpPr>
          <p:cNvPr id="14" name="Text 12"/>
          <p:cNvSpPr/>
          <p:nvPr/>
        </p:nvSpPr>
        <p:spPr>
          <a:xfrm>
            <a:off x="7269480" y="1554480"/>
            <a:ext cx="1920240" cy="1097280"/>
          </a:xfrm>
          <a:prstGeom prst="rect">
            <a:avLst/>
          </a:prstGeom>
          <a:noFill/>
          <a:ln/>
        </p:spPr>
        <p:txBody>
          <a:bodyPr wrap="square" rtlCol="0" anchor="ctr"/>
          <a:lstStyle/>
          <a:p>
            <a:pPr algn="ctr" indent="0" marL="0">
              <a:buNone/>
            </a:pPr>
            <a:r>
              <a:rPr lang="en-US" sz="1400" b="1" dirty="0">
                <a:solidFill>
                  <a:srgbClr val="0B64DD"/>
                </a:solidFill>
                <a:latin typeface="Inter" pitchFamily="34" charset="0"/>
                <a:ea typeface="Inter" pitchFamily="34" charset="-122"/>
                <a:cs typeface="Inter" pitchFamily="34" charset="-120"/>
              </a:rPr>
              <a:t>4</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Retry &amp;</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Error Handling</a:t>
            </a:r>
            <a:endParaRPr lang="en-US" sz="1400" dirty="0"/>
          </a:p>
        </p:txBody>
      </p:sp>
      <p:sp>
        <p:nvSpPr>
          <p:cNvPr id="15" name="Text 13"/>
          <p:cNvSpPr/>
          <p:nvPr/>
        </p:nvSpPr>
        <p:spPr>
          <a:xfrm>
            <a:off x="7269480" y="2743200"/>
            <a:ext cx="1920240" cy="2743200"/>
          </a:xfrm>
          <a:prstGeom prst="rect">
            <a:avLst/>
          </a:prstGeom>
          <a:noFill/>
          <a:ln/>
        </p:spPr>
        <p:txBody>
          <a:bodyPr wrap="square" rtlCol="0" anchor="ctr"/>
          <a:lstStyle/>
          <a:p>
            <a:pPr algn="ctr" indent="0" marL="0">
              <a:buNone/>
            </a:pPr>
            <a:r>
              <a:rPr lang="en-US" sz="1100" dirty="0">
                <a:solidFill>
                  <a:srgbClr val="343741"/>
                </a:solidFill>
                <a:latin typeface="Inter" pitchFamily="34" charset="0"/>
                <a:ea typeface="Inter" pitchFamily="34" charset="-122"/>
                <a:cs typeface="Inter" pitchFamily="34" charset="-120"/>
              </a:rPr>
              <a:t>How are failures</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detected? What</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retry strategies</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exist?</a:t>
            </a:r>
            <a:endParaRPr lang="en-US" sz="1100" dirty="0"/>
          </a:p>
        </p:txBody>
      </p:sp>
      <p:sp>
        <p:nvSpPr>
          <p:cNvPr id="16" name="Shape 14"/>
          <p:cNvSpPr/>
          <p:nvPr/>
        </p:nvSpPr>
        <p:spPr>
          <a:xfrm>
            <a:off x="9418320" y="1371600"/>
            <a:ext cx="2103120" cy="4754880"/>
          </a:xfrm>
          <a:prstGeom prst="roundRect">
            <a:avLst>
              <a:gd name="adj" fmla="val 4348"/>
            </a:avLst>
          </a:prstGeom>
          <a:solidFill>
            <a:srgbClr val="F5F7FA"/>
          </a:solidFill>
          <a:ln w="19050">
            <a:solidFill>
              <a:srgbClr val="101C3F"/>
            </a:solidFill>
            <a:prstDash val="solid"/>
          </a:ln>
        </p:spPr>
      </p:sp>
      <p:sp>
        <p:nvSpPr>
          <p:cNvPr id="17" name="Text 15"/>
          <p:cNvSpPr/>
          <p:nvPr/>
        </p:nvSpPr>
        <p:spPr>
          <a:xfrm>
            <a:off x="9509760" y="1554480"/>
            <a:ext cx="1920240" cy="1097280"/>
          </a:xfrm>
          <a:prstGeom prst="rect">
            <a:avLst/>
          </a:prstGeom>
          <a:noFill/>
          <a:ln/>
        </p:spPr>
        <p:txBody>
          <a:bodyPr wrap="square" rtlCol="0" anchor="ctr"/>
          <a:lstStyle/>
          <a:p>
            <a:pPr algn="ctr" indent="0" marL="0">
              <a:buNone/>
            </a:pPr>
            <a:r>
              <a:rPr lang="en-US" sz="1400" b="1" dirty="0">
                <a:solidFill>
                  <a:srgbClr val="0B64DD"/>
                </a:solidFill>
                <a:latin typeface="Inter" pitchFamily="34" charset="0"/>
                <a:ea typeface="Inter" pitchFamily="34" charset="-122"/>
                <a:cs typeface="Inter" pitchFamily="34" charset="-120"/>
              </a:rPr>
              <a:t>5</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Observability</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&amp; Evaluation</a:t>
            </a:r>
            <a:endParaRPr lang="en-US" sz="1400" dirty="0"/>
          </a:p>
        </p:txBody>
      </p:sp>
      <p:sp>
        <p:nvSpPr>
          <p:cNvPr id="18" name="Text 16"/>
          <p:cNvSpPr/>
          <p:nvPr/>
        </p:nvSpPr>
        <p:spPr>
          <a:xfrm>
            <a:off x="9509760" y="2743200"/>
            <a:ext cx="1920240" cy="2743200"/>
          </a:xfrm>
          <a:prstGeom prst="rect">
            <a:avLst/>
          </a:prstGeom>
          <a:noFill/>
          <a:ln/>
        </p:spPr>
        <p:txBody>
          <a:bodyPr wrap="square" rtlCol="0" anchor="ctr"/>
          <a:lstStyle/>
          <a:p>
            <a:pPr algn="ctr" indent="0" marL="0">
              <a:buNone/>
            </a:pPr>
            <a:r>
              <a:rPr lang="en-US" sz="1100" dirty="0">
                <a:solidFill>
                  <a:srgbClr val="343741"/>
                </a:solidFill>
                <a:latin typeface="Inter" pitchFamily="34" charset="0"/>
                <a:ea typeface="Inter" pitchFamily="34" charset="-122"/>
                <a:cs typeface="Inter" pitchFamily="34" charset="-120"/>
              </a:rPr>
              <a:t>How is agent</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behavior</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monitored?</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What metrics</a:t>
            </a:r>
            <a:endParaRPr lang="en-US" sz="1100" dirty="0"/>
          </a:p>
          <a:p>
            <a:pPr algn="ctr" indent="0" marL="0">
              <a:buNone/>
            </a:pPr>
            <a:r>
              <a:rPr lang="en-US" sz="1100" dirty="0">
                <a:solidFill>
                  <a:srgbClr val="343741"/>
                </a:solidFill>
                <a:latin typeface="Inter" pitchFamily="34" charset="0"/>
                <a:ea typeface="Inter" pitchFamily="34" charset="-122"/>
                <a:cs typeface="Inter" pitchFamily="34" charset="-120"/>
              </a:rPr>
              <a:t>are tracked?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Harness Eng vs. Prompt Eng vs. Context Eng</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Shape 2"/>
          <p:cNvSpPr/>
          <p:nvPr/>
        </p:nvSpPr>
        <p:spPr>
          <a:xfrm>
            <a:off x="5989320" y="1463040"/>
            <a:ext cx="18288" cy="4754880"/>
          </a:xfrm>
          <a:prstGeom prst="rect">
            <a:avLst/>
          </a:prstGeom>
          <a:solidFill>
            <a:srgbClr val="0B64DD"/>
          </a:solidFill>
          <a:ln/>
        </p:spPr>
      </p:sp>
      <p:sp>
        <p:nvSpPr>
          <p:cNvPr id="5" name="Text 3"/>
          <p:cNvSpPr/>
          <p:nvPr/>
        </p:nvSpPr>
        <p:spPr>
          <a:xfrm>
            <a:off x="731520" y="1463040"/>
            <a:ext cx="5029200" cy="640080"/>
          </a:xfrm>
          <a:prstGeom prst="rect">
            <a:avLst/>
          </a:prstGeom>
          <a:noFill/>
          <a:ln/>
        </p:spPr>
        <p:txBody>
          <a:bodyPr wrap="square" rtlCol="0" anchor="ctr"/>
          <a:lstStyle/>
          <a:p>
            <a:pPr indent="0" marL="0">
              <a:buNone/>
            </a:pPr>
            <a:r>
              <a:rPr lang="en-US" sz="2200" b="1" dirty="0">
                <a:solidFill>
                  <a:srgbClr val="48EFCF"/>
                </a:solidFill>
                <a:latin typeface="Inter" pitchFamily="34" charset="0"/>
                <a:ea typeface="Inter" pitchFamily="34" charset="-122"/>
                <a:cs typeface="Inter" pitchFamily="34" charset="-120"/>
              </a:rPr>
              <a:t>Three Distinct Layers</a:t>
            </a:r>
            <a:endParaRPr lang="en-US" sz="2200" dirty="0"/>
          </a:p>
        </p:txBody>
      </p:sp>
      <p:sp>
        <p:nvSpPr>
          <p:cNvPr id="6" name="Text 4"/>
          <p:cNvSpPr/>
          <p:nvPr/>
        </p:nvSpPr>
        <p:spPr>
          <a:xfrm>
            <a:off x="731520" y="2194560"/>
            <a:ext cx="5029200" cy="4023360"/>
          </a:xfrm>
          <a:prstGeom prst="rect">
            <a:avLst/>
          </a:prstGeom>
          <a:noFill/>
          <a:ln/>
        </p:spPr>
        <p:txBody>
          <a:bodyPr wrap="square" rtlCol="0" anchor="t"/>
          <a:lstStyle/>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Prompt Engineering: What you say to the model (single exchange)</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Context Engineering: What the model can see (context window)</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Harness Engineering: The world the agent operates in (hours of autonomous execution)</a:t>
            </a:r>
            <a:endParaRPr lang="en-US" sz="1600" dirty="0"/>
          </a:p>
        </p:txBody>
      </p:sp>
      <p:sp>
        <p:nvSpPr>
          <p:cNvPr id="7" name="Text 5"/>
          <p:cNvSpPr/>
          <p:nvPr/>
        </p:nvSpPr>
        <p:spPr>
          <a:xfrm>
            <a:off x="6309360" y="1463040"/>
            <a:ext cx="5029200" cy="640080"/>
          </a:xfrm>
          <a:prstGeom prst="rect">
            <a:avLst/>
          </a:prstGeom>
          <a:noFill/>
          <a:ln/>
        </p:spPr>
        <p:txBody>
          <a:bodyPr wrap="square" rtlCol="0" anchor="ctr"/>
          <a:lstStyle/>
          <a:p>
            <a:pPr indent="0" marL="0">
              <a:buNone/>
            </a:pPr>
            <a:r>
              <a:rPr lang="en-US" sz="2200" b="1" dirty="0">
                <a:solidFill>
                  <a:srgbClr val="48EFCF"/>
                </a:solidFill>
                <a:latin typeface="Inter" pitchFamily="34" charset="0"/>
                <a:ea typeface="Inter" pitchFamily="34" charset="-122"/>
                <a:cs typeface="Inter" pitchFamily="34" charset="-120"/>
              </a:rPr>
              <a:t>The Mindset Shift</a:t>
            </a:r>
            <a:endParaRPr lang="en-US" sz="2200" dirty="0"/>
          </a:p>
        </p:txBody>
      </p:sp>
      <p:sp>
        <p:nvSpPr>
          <p:cNvPr id="8" name="Text 6"/>
          <p:cNvSpPr/>
          <p:nvPr/>
        </p:nvSpPr>
        <p:spPr>
          <a:xfrm>
            <a:off x="6309360" y="2194560"/>
            <a:ext cx="5029200" cy="4023360"/>
          </a:xfrm>
          <a:prstGeom prst="rect">
            <a:avLst/>
          </a:prstGeom>
          <a:noFill/>
          <a:ln/>
        </p:spPr>
        <p:txBody>
          <a:bodyPr wrap="square" rtlCol="0" anchor="t"/>
          <a:lstStyle/>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Prompt: Can the model answer this?</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Context: Does the model have the right information?</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Harness: Can I make this agent behave reliably inside a real system?</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You stop saying 'this model is dumb' and start saying 'my system allowed this failure'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Common Failure Modes &amp; Harness Solutions</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Context Anxiety: Agents rush completion as the context window fills (fix: 1M-token context capped at 200K tokens, context reset strategies)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Premature Completion: Agents claim work is done without verification (fix: separate Generator from Evaluator, GAN-inspired multi-agent architecture)</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Architectural Drift: Reproducing bad patterns found in the repo (fix: strict layered architecture, custom linters, background cleanup agents)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Loop Trapping: Endless micro-edit cycles (fix: detect looping patterns, escalate or change strategy)</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Self-Evaluation Bias: Agents rate their own output too highly (fix: separate evaluator with no shared context, runtime testing tools)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OpenAI Codex Experiment: 1M Lines, Zero Manual Code</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3-person team, 5 months, empty repo to production: 1M+ lines of code, 1,500 merged PRs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Problem 1 (No shared understanding): AGENTS.md as a MAP (~100 lines) pointing to structured docs/; linters verify cross-links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Problem 2 (No runtime observability): Chrome DevTools Protocol, LogQL, PromQL; 800ms startup threshold as 'done' signal</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Problem 3 (Architectural drift): Strict layered architecture (Types, Config, Repo, Service, Runtime, UI) enforced by custom linters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Problem 4 (Continuous drift): Background agents scan for deviations, auto-submit refactoring PRs, most merged within a minute</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0B64DD"/>
                </a:solidFill>
                <a:latin typeface="Inter" pitchFamily="34" charset="0"/>
                <a:ea typeface="Inter" pitchFamily="34" charset="-122"/>
                <a:cs typeface="Inter" pitchFamily="34" charset="-120"/>
              </a:rPr>
              <a:t>Part 2: Elastic Agent Builder</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Architecture, components, and the context engineering foundation</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indent="0" marL="0">
              <a:buNone/>
            </a:pPr>
            <a:r>
              <a:rPr lang="en-US" sz="2600" b="1" dirty="0">
                <a:solidFill>
                  <a:srgbClr val="0B64DD"/>
                </a:solidFill>
                <a:latin typeface="Inter" pitchFamily="34" charset="0"/>
                <a:ea typeface="Inter" pitchFamily="34" charset="-122"/>
                <a:cs typeface="Inter" pitchFamily="34" charset="-120"/>
              </a:rPr>
              <a:t>Elastic Agent Builder: High-Level Architecture</a:t>
            </a:r>
            <a:endParaRPr lang="en-US" sz="2600" dirty="0"/>
          </a:p>
        </p:txBody>
      </p:sp>
      <p:sp>
        <p:nvSpPr>
          <p:cNvPr id="3" name="Shape 1"/>
          <p:cNvSpPr/>
          <p:nvPr/>
        </p:nvSpPr>
        <p:spPr>
          <a:xfrm>
            <a:off x="457200" y="868680"/>
            <a:ext cx="1097280" cy="32004"/>
          </a:xfrm>
          <a:prstGeom prst="rect">
            <a:avLst/>
          </a:prstGeom>
          <a:solidFill>
            <a:srgbClr val="48EFCF"/>
          </a:solidFill>
          <a:ln/>
        </p:spPr>
      </p:sp>
      <p:sp>
        <p:nvSpPr>
          <p:cNvPr id="4" name="Shape 2"/>
          <p:cNvSpPr/>
          <p:nvPr/>
        </p:nvSpPr>
        <p:spPr>
          <a:xfrm>
            <a:off x="274320" y="1188720"/>
            <a:ext cx="11612880" cy="1097280"/>
          </a:xfrm>
          <a:prstGeom prst="roundRect">
            <a:avLst>
              <a:gd name="adj" fmla="val 8333"/>
            </a:avLst>
          </a:prstGeom>
          <a:solidFill>
            <a:srgbClr val="0B64DD"/>
          </a:solidFill>
          <a:ln/>
        </p:spPr>
      </p:sp>
      <p:sp>
        <p:nvSpPr>
          <p:cNvPr id="5" name="Text 3"/>
          <p:cNvSpPr/>
          <p:nvPr/>
        </p:nvSpPr>
        <p:spPr>
          <a:xfrm>
            <a:off x="548640" y="1280160"/>
            <a:ext cx="3657600" cy="365760"/>
          </a:xfrm>
          <a:prstGeom prst="rect">
            <a:avLst/>
          </a:prstGeom>
          <a:noFill/>
          <a:ln/>
        </p:spPr>
        <p:txBody>
          <a:bodyPr wrap="square" rtlCol="0" anchor="ctr"/>
          <a:lstStyle/>
          <a:p>
            <a:pPr indent="0" marL="0">
              <a:buNone/>
            </a:pPr>
            <a:r>
              <a:rPr lang="en-US" sz="1600" b="1" dirty="0">
                <a:solidFill>
                  <a:srgbClr val="FFFFFF"/>
                </a:solidFill>
                <a:latin typeface="Inter" pitchFamily="34" charset="0"/>
                <a:ea typeface="Inter" pitchFamily="34" charset="-122"/>
                <a:cs typeface="Inter" pitchFamily="34" charset="-120"/>
              </a:rPr>
              <a:t>Layer 4: Multi-Surface Execution</a:t>
            </a:r>
            <a:endParaRPr lang="en-US" sz="1600" dirty="0"/>
          </a:p>
        </p:txBody>
      </p:sp>
      <p:sp>
        <p:nvSpPr>
          <p:cNvPr id="6" name="Text 4"/>
          <p:cNvSpPr/>
          <p:nvPr/>
        </p:nvSpPr>
        <p:spPr>
          <a:xfrm>
            <a:off x="548640" y="1691640"/>
            <a:ext cx="10972800" cy="457200"/>
          </a:xfrm>
          <a:prstGeom prst="rect">
            <a:avLst/>
          </a:prstGeom>
          <a:noFill/>
          <a:ln/>
        </p:spPr>
        <p:txBody>
          <a:bodyPr wrap="square" rtlCol="0" anchor="ctr"/>
          <a:lstStyle/>
          <a:p>
            <a:pPr indent="0" marL="0">
              <a:buNone/>
            </a:pPr>
            <a:r>
              <a:rPr lang="en-US" sz="1200" dirty="0">
                <a:solidFill>
                  <a:srgbClr val="DCE2EA"/>
                </a:solidFill>
                <a:latin typeface="Inter" pitchFamily="34" charset="0"/>
                <a:ea typeface="Inter" pitchFamily="34" charset="-122"/>
                <a:cs typeface="Inter" pitchFamily="34" charset="-120"/>
              </a:rPr>
              <a:t>Kibana UI  |  Chat  |  Slack/Teams  |  CLI  |  Mobile  —  Unified context, no handoff, no re-auth</a:t>
            </a:r>
            <a:endParaRPr lang="en-US" sz="1200" dirty="0"/>
          </a:p>
        </p:txBody>
      </p:sp>
      <p:sp>
        <p:nvSpPr>
          <p:cNvPr id="7" name="Shape 5"/>
          <p:cNvSpPr/>
          <p:nvPr/>
        </p:nvSpPr>
        <p:spPr>
          <a:xfrm>
            <a:off x="274320" y="2468880"/>
            <a:ext cx="11612880" cy="1097280"/>
          </a:xfrm>
          <a:prstGeom prst="roundRect">
            <a:avLst>
              <a:gd name="adj" fmla="val 8333"/>
            </a:avLst>
          </a:prstGeom>
          <a:solidFill>
            <a:srgbClr val="F5F7FA"/>
          </a:solidFill>
          <a:ln w="19050">
            <a:solidFill>
              <a:srgbClr val="101C3F"/>
            </a:solidFill>
            <a:prstDash val="solid"/>
          </a:ln>
        </p:spPr>
      </p:sp>
      <p:sp>
        <p:nvSpPr>
          <p:cNvPr id="8" name="Text 6"/>
          <p:cNvSpPr/>
          <p:nvPr/>
        </p:nvSpPr>
        <p:spPr>
          <a:xfrm>
            <a:off x="548640" y="2560320"/>
            <a:ext cx="3657600" cy="365760"/>
          </a:xfrm>
          <a:prstGeom prst="rect">
            <a:avLst/>
          </a:prstGeom>
          <a:noFill/>
          <a:ln/>
        </p:spPr>
        <p:txBody>
          <a:bodyPr wrap="square" rtlCol="0" anchor="ctr"/>
          <a:lstStyle/>
          <a:p>
            <a:pPr indent="0" marL="0">
              <a:buNone/>
            </a:pPr>
            <a:r>
              <a:rPr lang="en-US" sz="1600" b="1" dirty="0">
                <a:solidFill>
                  <a:srgbClr val="0B64DD"/>
                </a:solidFill>
                <a:latin typeface="Inter" pitchFamily="34" charset="0"/>
                <a:ea typeface="Inter" pitchFamily="34" charset="-122"/>
                <a:cs typeface="Inter" pitchFamily="34" charset="-120"/>
              </a:rPr>
              <a:t>Layer 3: Skill System</a:t>
            </a:r>
            <a:endParaRPr lang="en-US" sz="1600" dirty="0"/>
          </a:p>
        </p:txBody>
      </p:sp>
      <p:sp>
        <p:nvSpPr>
          <p:cNvPr id="9" name="Text 7"/>
          <p:cNvSpPr/>
          <p:nvPr/>
        </p:nvSpPr>
        <p:spPr>
          <a:xfrm>
            <a:off x="548640" y="2971800"/>
            <a:ext cx="10972800" cy="45720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Reusable capability blocks  |  Domain-specific workflows  |  Progressive disclosure  |  Shareable across agents</a:t>
            </a:r>
            <a:endParaRPr lang="en-US" sz="1200" dirty="0"/>
          </a:p>
        </p:txBody>
      </p:sp>
      <p:sp>
        <p:nvSpPr>
          <p:cNvPr id="10" name="Shape 8"/>
          <p:cNvSpPr/>
          <p:nvPr/>
        </p:nvSpPr>
        <p:spPr>
          <a:xfrm>
            <a:off x="274320" y="3749040"/>
            <a:ext cx="11612880" cy="1097280"/>
          </a:xfrm>
          <a:prstGeom prst="roundRect">
            <a:avLst>
              <a:gd name="adj" fmla="val 8333"/>
            </a:avLst>
          </a:prstGeom>
          <a:solidFill>
            <a:srgbClr val="F5F7FA"/>
          </a:solidFill>
          <a:ln w="19050">
            <a:solidFill>
              <a:srgbClr val="101C3F"/>
            </a:solidFill>
            <a:prstDash val="solid"/>
          </a:ln>
        </p:spPr>
      </p:sp>
      <p:sp>
        <p:nvSpPr>
          <p:cNvPr id="11" name="Text 9"/>
          <p:cNvSpPr/>
          <p:nvPr/>
        </p:nvSpPr>
        <p:spPr>
          <a:xfrm>
            <a:off x="548640" y="3840480"/>
            <a:ext cx="3657600" cy="365760"/>
          </a:xfrm>
          <a:prstGeom prst="rect">
            <a:avLst/>
          </a:prstGeom>
          <a:noFill/>
          <a:ln/>
        </p:spPr>
        <p:txBody>
          <a:bodyPr wrap="square" rtlCol="0" anchor="ctr"/>
          <a:lstStyle/>
          <a:p>
            <a:pPr indent="0" marL="0">
              <a:buNone/>
            </a:pPr>
            <a:r>
              <a:rPr lang="en-US" sz="1600" b="1" dirty="0">
                <a:solidFill>
                  <a:srgbClr val="0B64DD"/>
                </a:solidFill>
                <a:latin typeface="Inter" pitchFamily="34" charset="0"/>
                <a:ea typeface="Inter" pitchFamily="34" charset="-122"/>
                <a:cs typeface="Inter" pitchFamily="34" charset="-120"/>
              </a:rPr>
              <a:t>Layer 2: Tool System</a:t>
            </a:r>
            <a:endParaRPr lang="en-US" sz="1600" dirty="0"/>
          </a:p>
        </p:txBody>
      </p:sp>
      <p:sp>
        <p:nvSpPr>
          <p:cNvPr id="12" name="Text 10"/>
          <p:cNvSpPr/>
          <p:nvPr/>
        </p:nvSpPr>
        <p:spPr>
          <a:xfrm>
            <a:off x="548640" y="4251960"/>
            <a:ext cx="10972800" cy="45720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Built-in tools  |  Custom (ES|QL, Index Search)  |  MCP connectors  |  Workflow tools  |  Atomic, typed, structured</a:t>
            </a:r>
            <a:endParaRPr lang="en-US" sz="1200" dirty="0"/>
          </a:p>
        </p:txBody>
      </p:sp>
      <p:sp>
        <p:nvSpPr>
          <p:cNvPr id="13" name="Shape 11"/>
          <p:cNvSpPr/>
          <p:nvPr/>
        </p:nvSpPr>
        <p:spPr>
          <a:xfrm>
            <a:off x="274320" y="5029200"/>
            <a:ext cx="11612880" cy="1371600"/>
          </a:xfrm>
          <a:prstGeom prst="roundRect">
            <a:avLst>
              <a:gd name="adj" fmla="val 6667"/>
            </a:avLst>
          </a:prstGeom>
          <a:solidFill>
            <a:srgbClr val="F5F7FA"/>
          </a:solidFill>
          <a:ln w="19050">
            <a:solidFill>
              <a:srgbClr val="101C3F"/>
            </a:solidFill>
            <a:prstDash val="solid"/>
          </a:ln>
        </p:spPr>
      </p:sp>
      <p:sp>
        <p:nvSpPr>
          <p:cNvPr id="14" name="Text 12"/>
          <p:cNvSpPr/>
          <p:nvPr/>
        </p:nvSpPr>
        <p:spPr>
          <a:xfrm>
            <a:off x="548640" y="5120640"/>
            <a:ext cx="3657600" cy="365760"/>
          </a:xfrm>
          <a:prstGeom prst="rect">
            <a:avLst/>
          </a:prstGeom>
          <a:noFill/>
          <a:ln/>
        </p:spPr>
        <p:txBody>
          <a:bodyPr wrap="square" rtlCol="0" anchor="ctr"/>
          <a:lstStyle/>
          <a:p>
            <a:pPr indent="0" marL="0">
              <a:buNone/>
            </a:pPr>
            <a:r>
              <a:rPr lang="en-US" sz="1600" b="1" dirty="0">
                <a:solidFill>
                  <a:srgbClr val="0B64DD"/>
                </a:solidFill>
                <a:latin typeface="Inter" pitchFamily="34" charset="0"/>
                <a:ea typeface="Inter" pitchFamily="34" charset="-122"/>
                <a:cs typeface="Inter" pitchFamily="34" charset="-120"/>
              </a:rPr>
              <a:t>Layer 1: Elasticsearch Foundation</a:t>
            </a:r>
            <a:endParaRPr lang="en-US" sz="1600" dirty="0"/>
          </a:p>
        </p:txBody>
      </p:sp>
      <p:sp>
        <p:nvSpPr>
          <p:cNvPr id="15" name="Text 13"/>
          <p:cNvSpPr/>
          <p:nvPr/>
        </p:nvSpPr>
        <p:spPr>
          <a:xfrm>
            <a:off x="548640" y="5532120"/>
            <a:ext cx="10972800" cy="73152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Persistent context layer  |  Hybrid search (BM25 + semantic)  |  RAG without separate pipeline  |  Long-horizon conversation storage  |  RBAC and data governance built-in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Four Key Components of Agent Builder</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Agent Chat: Conversational interface for natural language interaction with Elasticsearch data. Users ask questions in plain English.</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Agents: Specialised AI assistants configured with specific skills, tools, and LLM providers. Each agent has a defined role and access scope.</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Skills: Reusable domain expertise packages that bundle instructions, tools, and context. Activated by the agent based on the task at hand.</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Tools: Atomic operations the agent can perform — search, ES|QL queries, alert management, index operations, MCP integrations, workflows.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indent="0" marL="0">
              <a:buNone/>
            </a:pPr>
            <a:r>
              <a:rPr lang="en-US" sz="2600" b="1" dirty="0">
                <a:solidFill>
                  <a:srgbClr val="0B64DD"/>
                </a:solidFill>
                <a:latin typeface="Inter" pitchFamily="34" charset="0"/>
                <a:ea typeface="Inter" pitchFamily="34" charset="-122"/>
                <a:cs typeface="Inter" pitchFamily="34" charset="-120"/>
              </a:rPr>
              <a:t>Context Engineering Pipeline</a:t>
            </a:r>
            <a:endParaRPr lang="en-US" sz="2600" dirty="0"/>
          </a:p>
        </p:txBody>
      </p:sp>
      <p:sp>
        <p:nvSpPr>
          <p:cNvPr id="3" name="Shape 1"/>
          <p:cNvSpPr/>
          <p:nvPr/>
        </p:nvSpPr>
        <p:spPr>
          <a:xfrm>
            <a:off x="457200" y="868680"/>
            <a:ext cx="1097280" cy="32004"/>
          </a:xfrm>
          <a:prstGeom prst="rect">
            <a:avLst/>
          </a:prstGeom>
          <a:solidFill>
            <a:srgbClr val="48EFCF"/>
          </a:solidFill>
          <a:ln/>
        </p:spPr>
      </p:sp>
      <p:sp>
        <p:nvSpPr>
          <p:cNvPr id="4" name="Shape 2"/>
          <p:cNvSpPr/>
          <p:nvPr/>
        </p:nvSpPr>
        <p:spPr>
          <a:xfrm>
            <a:off x="274320" y="1280160"/>
            <a:ext cx="1828800" cy="1097280"/>
          </a:xfrm>
          <a:prstGeom prst="roundRect">
            <a:avLst>
              <a:gd name="adj" fmla="val 8333"/>
            </a:avLst>
          </a:prstGeom>
          <a:solidFill>
            <a:srgbClr val="0B64DD"/>
          </a:solidFill>
          <a:ln/>
        </p:spPr>
      </p:sp>
      <p:sp>
        <p:nvSpPr>
          <p:cNvPr id="5" name="Text 3"/>
          <p:cNvSpPr/>
          <p:nvPr/>
        </p:nvSpPr>
        <p:spPr>
          <a:xfrm>
            <a:off x="274320" y="1463040"/>
            <a:ext cx="1828800" cy="731520"/>
          </a:xfrm>
          <a:prstGeom prst="rect">
            <a:avLst/>
          </a:prstGeom>
          <a:noFill/>
          <a:ln/>
        </p:spPr>
        <p:txBody>
          <a:bodyPr wrap="square" rtlCol="0" anchor="ctr"/>
          <a:lstStyle/>
          <a:p>
            <a:pPr algn="ctr" indent="0" marL="0">
              <a:buNone/>
            </a:pPr>
            <a:r>
              <a:rPr lang="en-US" sz="1400" b="1" dirty="0">
                <a:solidFill>
                  <a:srgbClr val="FFFFFF"/>
                </a:solidFill>
                <a:latin typeface="Inter" pitchFamily="34" charset="0"/>
                <a:ea typeface="Inter" pitchFamily="34" charset="-122"/>
                <a:cs typeface="Inter" pitchFamily="34" charset="-120"/>
              </a:rPr>
              <a:t>User</a:t>
            </a:r>
            <a:endParaRPr lang="en-US" sz="1400" dirty="0"/>
          </a:p>
          <a:p>
            <a:pPr algn="ctr" indent="0" marL="0">
              <a:buNone/>
            </a:pPr>
            <a:r>
              <a:rPr lang="en-US" sz="1400" b="1" dirty="0">
                <a:solidFill>
                  <a:srgbClr val="FFFFFF"/>
                </a:solidFill>
                <a:latin typeface="Inter" pitchFamily="34" charset="0"/>
                <a:ea typeface="Inter" pitchFamily="34" charset="-122"/>
                <a:cs typeface="Inter" pitchFamily="34" charset="-120"/>
              </a:rPr>
              <a:t>Query</a:t>
            </a:r>
            <a:endParaRPr lang="en-US" sz="1400" dirty="0"/>
          </a:p>
        </p:txBody>
      </p:sp>
      <p:sp>
        <p:nvSpPr>
          <p:cNvPr id="6" name="Text 4"/>
          <p:cNvSpPr/>
          <p:nvPr/>
        </p:nvSpPr>
        <p:spPr>
          <a:xfrm>
            <a:off x="2286000" y="1554480"/>
            <a:ext cx="457200" cy="548640"/>
          </a:xfrm>
          <a:prstGeom prst="rect">
            <a:avLst/>
          </a:prstGeom>
          <a:noFill/>
          <a:ln/>
        </p:spPr>
        <p:txBody>
          <a:bodyPr wrap="square" rtlCol="0" anchor="ctr"/>
          <a:lstStyle/>
          <a:p>
            <a:pPr algn="ctr" indent="0" marL="0">
              <a:buNone/>
            </a:pPr>
            <a:r>
              <a:rPr lang="en-US" sz="2400" dirty="0">
                <a:solidFill>
                  <a:srgbClr val="48EFCF"/>
                </a:solidFill>
                <a:latin typeface="Inter" pitchFamily="34" charset="0"/>
                <a:ea typeface="Inter" pitchFamily="34" charset="-122"/>
                <a:cs typeface="Inter" pitchFamily="34" charset="-120"/>
              </a:rPr>
              <a:t>→</a:t>
            </a:r>
            <a:endParaRPr lang="en-US" sz="2400" dirty="0"/>
          </a:p>
        </p:txBody>
      </p:sp>
      <p:sp>
        <p:nvSpPr>
          <p:cNvPr id="7" name="Shape 5"/>
          <p:cNvSpPr/>
          <p:nvPr/>
        </p:nvSpPr>
        <p:spPr>
          <a:xfrm>
            <a:off x="2743200" y="1280160"/>
            <a:ext cx="1828800" cy="1097280"/>
          </a:xfrm>
          <a:prstGeom prst="roundRect">
            <a:avLst>
              <a:gd name="adj" fmla="val 8333"/>
            </a:avLst>
          </a:prstGeom>
          <a:solidFill>
            <a:srgbClr val="F5F7FA"/>
          </a:solidFill>
          <a:ln w="19050">
            <a:solidFill>
              <a:srgbClr val="101C3F"/>
            </a:solidFill>
            <a:prstDash val="solid"/>
          </a:ln>
        </p:spPr>
      </p:sp>
      <p:sp>
        <p:nvSpPr>
          <p:cNvPr id="8" name="Text 6"/>
          <p:cNvSpPr/>
          <p:nvPr/>
        </p:nvSpPr>
        <p:spPr>
          <a:xfrm>
            <a:off x="2743200" y="1463040"/>
            <a:ext cx="1828800" cy="731520"/>
          </a:xfrm>
          <a:prstGeom prst="rect">
            <a:avLst/>
          </a:prstGeom>
          <a:noFill/>
          <a:ln/>
        </p:spPr>
        <p:txBody>
          <a:bodyPr wrap="square" rtlCol="0" anchor="ctr"/>
          <a:lstStyle/>
          <a:p>
            <a:pPr algn="ctr" indent="0" marL="0">
              <a:buNone/>
            </a:pPr>
            <a:r>
              <a:rPr lang="en-US" sz="1400" b="1" dirty="0">
                <a:solidFill>
                  <a:srgbClr val="0B64DD"/>
                </a:solidFill>
                <a:latin typeface="Inter" pitchFamily="34" charset="0"/>
                <a:ea typeface="Inter" pitchFamily="34" charset="-122"/>
                <a:cs typeface="Inter" pitchFamily="34" charset="-120"/>
              </a:rPr>
              <a:t>Intent</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Understanding</a:t>
            </a:r>
            <a:endParaRPr lang="en-US" sz="1400" dirty="0"/>
          </a:p>
        </p:txBody>
      </p:sp>
      <p:sp>
        <p:nvSpPr>
          <p:cNvPr id="9" name="Text 7"/>
          <p:cNvSpPr/>
          <p:nvPr/>
        </p:nvSpPr>
        <p:spPr>
          <a:xfrm>
            <a:off x="4754880" y="1554480"/>
            <a:ext cx="457200" cy="548640"/>
          </a:xfrm>
          <a:prstGeom prst="rect">
            <a:avLst/>
          </a:prstGeom>
          <a:noFill/>
          <a:ln/>
        </p:spPr>
        <p:txBody>
          <a:bodyPr wrap="square" rtlCol="0" anchor="ctr"/>
          <a:lstStyle/>
          <a:p>
            <a:pPr algn="ctr" indent="0" marL="0">
              <a:buNone/>
            </a:pPr>
            <a:r>
              <a:rPr lang="en-US" sz="2400" dirty="0">
                <a:solidFill>
                  <a:srgbClr val="48EFCF"/>
                </a:solidFill>
                <a:latin typeface="Inter" pitchFamily="34" charset="0"/>
                <a:ea typeface="Inter" pitchFamily="34" charset="-122"/>
                <a:cs typeface="Inter" pitchFamily="34" charset="-120"/>
              </a:rPr>
              <a:t>→</a:t>
            </a:r>
            <a:endParaRPr lang="en-US" sz="2400" dirty="0"/>
          </a:p>
        </p:txBody>
      </p:sp>
      <p:sp>
        <p:nvSpPr>
          <p:cNvPr id="10" name="Shape 8"/>
          <p:cNvSpPr/>
          <p:nvPr/>
        </p:nvSpPr>
        <p:spPr>
          <a:xfrm>
            <a:off x="5212080" y="1280160"/>
            <a:ext cx="1828800" cy="1097280"/>
          </a:xfrm>
          <a:prstGeom prst="roundRect">
            <a:avLst>
              <a:gd name="adj" fmla="val 8333"/>
            </a:avLst>
          </a:prstGeom>
          <a:solidFill>
            <a:srgbClr val="F5F7FA"/>
          </a:solidFill>
          <a:ln w="19050">
            <a:solidFill>
              <a:srgbClr val="101C3F"/>
            </a:solidFill>
            <a:prstDash val="solid"/>
          </a:ln>
        </p:spPr>
      </p:sp>
      <p:sp>
        <p:nvSpPr>
          <p:cNvPr id="11" name="Text 9"/>
          <p:cNvSpPr/>
          <p:nvPr/>
        </p:nvSpPr>
        <p:spPr>
          <a:xfrm>
            <a:off x="5212080" y="1463040"/>
            <a:ext cx="1828800" cy="731520"/>
          </a:xfrm>
          <a:prstGeom prst="rect">
            <a:avLst/>
          </a:prstGeom>
          <a:noFill/>
          <a:ln/>
        </p:spPr>
        <p:txBody>
          <a:bodyPr wrap="square" rtlCol="0" anchor="ctr"/>
          <a:lstStyle/>
          <a:p>
            <a:pPr algn="ctr" indent="0" marL="0">
              <a:buNone/>
            </a:pPr>
            <a:r>
              <a:rPr lang="en-US" sz="1400" b="1" dirty="0">
                <a:solidFill>
                  <a:srgbClr val="0B64DD"/>
                </a:solidFill>
                <a:latin typeface="Inter" pitchFamily="34" charset="0"/>
                <a:ea typeface="Inter" pitchFamily="34" charset="-122"/>
                <a:cs typeface="Inter" pitchFamily="34" charset="-120"/>
              </a:rPr>
              <a:t>Index</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Selection</a:t>
            </a:r>
            <a:endParaRPr lang="en-US" sz="1400" dirty="0"/>
          </a:p>
        </p:txBody>
      </p:sp>
      <p:sp>
        <p:nvSpPr>
          <p:cNvPr id="12" name="Text 10"/>
          <p:cNvSpPr/>
          <p:nvPr/>
        </p:nvSpPr>
        <p:spPr>
          <a:xfrm>
            <a:off x="7223760" y="1554480"/>
            <a:ext cx="457200" cy="548640"/>
          </a:xfrm>
          <a:prstGeom prst="rect">
            <a:avLst/>
          </a:prstGeom>
          <a:noFill/>
          <a:ln/>
        </p:spPr>
        <p:txBody>
          <a:bodyPr wrap="square" rtlCol="0" anchor="ctr"/>
          <a:lstStyle/>
          <a:p>
            <a:pPr algn="ctr" indent="0" marL="0">
              <a:buNone/>
            </a:pPr>
            <a:r>
              <a:rPr lang="en-US" sz="2400" dirty="0">
                <a:solidFill>
                  <a:srgbClr val="48EFCF"/>
                </a:solidFill>
                <a:latin typeface="Inter" pitchFamily="34" charset="0"/>
                <a:ea typeface="Inter" pitchFamily="34" charset="-122"/>
                <a:cs typeface="Inter" pitchFamily="34" charset="-120"/>
              </a:rPr>
              <a:t>→</a:t>
            </a:r>
            <a:endParaRPr lang="en-US" sz="2400" dirty="0"/>
          </a:p>
        </p:txBody>
      </p:sp>
      <p:sp>
        <p:nvSpPr>
          <p:cNvPr id="13" name="Shape 11"/>
          <p:cNvSpPr/>
          <p:nvPr/>
        </p:nvSpPr>
        <p:spPr>
          <a:xfrm>
            <a:off x="7680960" y="1280160"/>
            <a:ext cx="1828800" cy="1097280"/>
          </a:xfrm>
          <a:prstGeom prst="roundRect">
            <a:avLst>
              <a:gd name="adj" fmla="val 8333"/>
            </a:avLst>
          </a:prstGeom>
          <a:solidFill>
            <a:srgbClr val="F5F7FA"/>
          </a:solidFill>
          <a:ln w="19050">
            <a:solidFill>
              <a:srgbClr val="101C3F"/>
            </a:solidFill>
            <a:prstDash val="solid"/>
          </a:ln>
        </p:spPr>
      </p:sp>
      <p:sp>
        <p:nvSpPr>
          <p:cNvPr id="14" name="Text 12"/>
          <p:cNvSpPr/>
          <p:nvPr/>
        </p:nvSpPr>
        <p:spPr>
          <a:xfrm>
            <a:off x="7680960" y="1463040"/>
            <a:ext cx="1828800" cy="731520"/>
          </a:xfrm>
          <a:prstGeom prst="rect">
            <a:avLst/>
          </a:prstGeom>
          <a:noFill/>
          <a:ln/>
        </p:spPr>
        <p:txBody>
          <a:bodyPr wrap="square" rtlCol="0" anchor="ctr"/>
          <a:lstStyle/>
          <a:p>
            <a:pPr algn="ctr" indent="0" marL="0">
              <a:buNone/>
            </a:pPr>
            <a:r>
              <a:rPr lang="en-US" sz="1400" b="1" dirty="0">
                <a:solidFill>
                  <a:srgbClr val="0B64DD"/>
                </a:solidFill>
                <a:latin typeface="Inter" pitchFamily="34" charset="0"/>
                <a:ea typeface="Inter" pitchFamily="34" charset="-122"/>
                <a:cs typeface="Inter" pitchFamily="34" charset="-120"/>
              </a:rPr>
              <a:t>ES|QL</a:t>
            </a:r>
            <a:endParaRPr lang="en-US" sz="1400" dirty="0"/>
          </a:p>
          <a:p>
            <a:pPr algn="ctr" indent="0" marL="0">
              <a:buNone/>
            </a:pPr>
            <a:r>
              <a:rPr lang="en-US" sz="1400" b="1" dirty="0">
                <a:solidFill>
                  <a:srgbClr val="0B64DD"/>
                </a:solidFill>
                <a:latin typeface="Inter" pitchFamily="34" charset="0"/>
                <a:ea typeface="Inter" pitchFamily="34" charset="-122"/>
                <a:cs typeface="Inter" pitchFamily="34" charset="-120"/>
              </a:rPr>
              <a:t>Generation</a:t>
            </a:r>
            <a:endParaRPr lang="en-US" sz="1400" dirty="0"/>
          </a:p>
        </p:txBody>
      </p:sp>
      <p:sp>
        <p:nvSpPr>
          <p:cNvPr id="15" name="Text 13"/>
          <p:cNvSpPr/>
          <p:nvPr/>
        </p:nvSpPr>
        <p:spPr>
          <a:xfrm>
            <a:off x="9692640" y="1554480"/>
            <a:ext cx="457200" cy="548640"/>
          </a:xfrm>
          <a:prstGeom prst="rect">
            <a:avLst/>
          </a:prstGeom>
          <a:noFill/>
          <a:ln/>
        </p:spPr>
        <p:txBody>
          <a:bodyPr wrap="square" rtlCol="0" anchor="ctr"/>
          <a:lstStyle/>
          <a:p>
            <a:pPr algn="ctr" indent="0" marL="0">
              <a:buNone/>
            </a:pPr>
            <a:r>
              <a:rPr lang="en-US" sz="2400" dirty="0">
                <a:solidFill>
                  <a:srgbClr val="48EFCF"/>
                </a:solidFill>
                <a:latin typeface="Inter" pitchFamily="34" charset="0"/>
                <a:ea typeface="Inter" pitchFamily="34" charset="-122"/>
                <a:cs typeface="Inter" pitchFamily="34" charset="-120"/>
              </a:rPr>
              <a:t>→</a:t>
            </a:r>
            <a:endParaRPr lang="en-US" sz="2400" dirty="0"/>
          </a:p>
        </p:txBody>
      </p:sp>
      <p:sp>
        <p:nvSpPr>
          <p:cNvPr id="16" name="Shape 14"/>
          <p:cNvSpPr/>
          <p:nvPr/>
        </p:nvSpPr>
        <p:spPr>
          <a:xfrm>
            <a:off x="10149840" y="1280160"/>
            <a:ext cx="1828800" cy="1097280"/>
          </a:xfrm>
          <a:prstGeom prst="roundRect">
            <a:avLst>
              <a:gd name="adj" fmla="val 8333"/>
            </a:avLst>
          </a:prstGeom>
          <a:solidFill>
            <a:srgbClr val="48EFCF"/>
          </a:solidFill>
          <a:ln/>
        </p:spPr>
      </p:sp>
      <p:sp>
        <p:nvSpPr>
          <p:cNvPr id="17" name="Text 15"/>
          <p:cNvSpPr/>
          <p:nvPr/>
        </p:nvSpPr>
        <p:spPr>
          <a:xfrm>
            <a:off x="10149840" y="1463040"/>
            <a:ext cx="1828800" cy="731520"/>
          </a:xfrm>
          <a:prstGeom prst="rect">
            <a:avLst/>
          </a:prstGeom>
          <a:noFill/>
          <a:ln/>
        </p:spPr>
        <p:txBody>
          <a:bodyPr wrap="square" rtlCol="0" anchor="ctr"/>
          <a:lstStyle/>
          <a:p>
            <a:pPr algn="ctr" indent="0" marL="0">
              <a:buNone/>
            </a:pPr>
            <a:r>
              <a:rPr lang="en-US" sz="1400" b="1" dirty="0">
                <a:solidFill>
                  <a:srgbClr val="1C1E23"/>
                </a:solidFill>
                <a:latin typeface="Inter" pitchFamily="34" charset="0"/>
                <a:ea typeface="Inter" pitchFamily="34" charset="-122"/>
                <a:cs typeface="Inter" pitchFamily="34" charset="-120"/>
              </a:rPr>
              <a:t>LLM</a:t>
            </a:r>
            <a:endParaRPr lang="en-US" sz="1400" dirty="0"/>
          </a:p>
          <a:p>
            <a:pPr algn="ctr" indent="0" marL="0">
              <a:buNone/>
            </a:pPr>
            <a:r>
              <a:rPr lang="en-US" sz="1400" b="1" dirty="0">
                <a:solidFill>
                  <a:srgbClr val="1C1E23"/>
                </a:solidFill>
                <a:latin typeface="Inter" pitchFamily="34" charset="0"/>
                <a:ea typeface="Inter" pitchFamily="34" charset="-122"/>
                <a:cs typeface="Inter" pitchFamily="34" charset="-120"/>
              </a:rPr>
              <a:t>Context</a:t>
            </a:r>
            <a:endParaRPr lang="en-US" sz="1400" dirty="0"/>
          </a:p>
        </p:txBody>
      </p:sp>
      <p:sp>
        <p:nvSpPr>
          <p:cNvPr id="18" name="Shape 16"/>
          <p:cNvSpPr/>
          <p:nvPr/>
        </p:nvSpPr>
        <p:spPr>
          <a:xfrm>
            <a:off x="1371600" y="3200400"/>
            <a:ext cx="9418320" cy="2743200"/>
          </a:xfrm>
          <a:prstGeom prst="roundRect">
            <a:avLst>
              <a:gd name="adj" fmla="val 3333"/>
            </a:avLst>
          </a:prstGeom>
          <a:solidFill>
            <a:srgbClr val="F5F7FA"/>
          </a:solidFill>
          <a:ln w="19050">
            <a:solidFill>
              <a:srgbClr val="101C3F"/>
            </a:solidFill>
            <a:prstDash val="solid"/>
          </a:ln>
        </p:spPr>
      </p:sp>
      <p:sp>
        <p:nvSpPr>
          <p:cNvPr id="19" name="Text 17"/>
          <p:cNvSpPr/>
          <p:nvPr/>
        </p:nvSpPr>
        <p:spPr>
          <a:xfrm>
            <a:off x="1554480" y="3383280"/>
            <a:ext cx="3657600" cy="365760"/>
          </a:xfrm>
          <a:prstGeom prst="rect">
            <a:avLst/>
          </a:prstGeom>
          <a:noFill/>
          <a:ln/>
        </p:spPr>
        <p:txBody>
          <a:bodyPr wrap="square" rtlCol="0" anchor="ctr"/>
          <a:lstStyle/>
          <a:p>
            <a:pPr indent="0" marL="0">
              <a:buNone/>
            </a:pPr>
            <a:r>
              <a:rPr lang="en-US" sz="1600" b="1" dirty="0">
                <a:solidFill>
                  <a:srgbClr val="0B64DD"/>
                </a:solidFill>
                <a:latin typeface="Inter" pitchFamily="34" charset="0"/>
                <a:ea typeface="Inter" pitchFamily="34" charset="-122"/>
                <a:cs typeface="Inter" pitchFamily="34" charset="-120"/>
              </a:rPr>
              <a:t>Hybrid Search Engine</a:t>
            </a:r>
            <a:endParaRPr lang="en-US" sz="1600" dirty="0"/>
          </a:p>
        </p:txBody>
      </p:sp>
      <p:sp>
        <p:nvSpPr>
          <p:cNvPr id="20" name="Text 18"/>
          <p:cNvSpPr/>
          <p:nvPr/>
        </p:nvSpPr>
        <p:spPr>
          <a:xfrm>
            <a:off x="1554480" y="3840480"/>
            <a:ext cx="8686800" cy="27432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BM25 Keyword Search: Exact term matching for precision</a:t>
            </a:r>
            <a:endParaRPr lang="en-US" sz="1200" dirty="0"/>
          </a:p>
        </p:txBody>
      </p:sp>
      <p:sp>
        <p:nvSpPr>
          <p:cNvPr id="21" name="Text 19"/>
          <p:cNvSpPr/>
          <p:nvPr/>
        </p:nvSpPr>
        <p:spPr>
          <a:xfrm>
            <a:off x="1554480" y="4206240"/>
            <a:ext cx="8686800" cy="27432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Vector / ELSER Semantic Search: Concept matching for recall</a:t>
            </a:r>
            <a:endParaRPr lang="en-US" sz="1200" dirty="0"/>
          </a:p>
        </p:txBody>
      </p:sp>
      <p:sp>
        <p:nvSpPr>
          <p:cNvPr id="22" name="Text 20"/>
          <p:cNvSpPr/>
          <p:nvPr/>
        </p:nvSpPr>
        <p:spPr>
          <a:xfrm>
            <a:off x="1554480" y="4572000"/>
            <a:ext cx="8686800" cy="27432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Relevance Tuning: Combines both signals for optimal ranking</a:t>
            </a:r>
            <a:endParaRPr lang="en-US" sz="1200" dirty="0"/>
          </a:p>
        </p:txBody>
      </p:sp>
      <p:sp>
        <p:nvSpPr>
          <p:cNvPr id="23" name="Text 21"/>
          <p:cNvSpPr/>
          <p:nvPr/>
        </p:nvSpPr>
        <p:spPr>
          <a:xfrm>
            <a:off x="1554480" y="5029200"/>
            <a:ext cx="8686800" cy="457200"/>
          </a:xfrm>
          <a:prstGeom prst="rect">
            <a:avLst/>
          </a:prstGeom>
          <a:noFill/>
          <a:ln/>
        </p:spPr>
        <p:txBody>
          <a:bodyPr wrap="square" rtlCol="0" anchor="ctr"/>
          <a:lstStyle/>
          <a:p>
            <a:pPr indent="0" marL="0">
              <a:buNone/>
            </a:pPr>
            <a:r>
              <a:rPr lang="en-US" sz="1300" b="1" dirty="0">
                <a:solidFill>
                  <a:srgbClr val="0B64DD"/>
                </a:solidFill>
                <a:latin typeface="Inter" pitchFamily="34" charset="0"/>
                <a:ea typeface="Inter" pitchFamily="34" charset="-122"/>
                <a:cs typeface="Inter" pitchFamily="34" charset="-120"/>
              </a:rPr>
              <a:t>Result: Agent is grounded in actual data, not imagination. No separate vector DB needed. No RAG pipeline to build.</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Tool Types in Elastic Agent Builder</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Built-in Tools: Pre-configured, read-only tools for core Elasticsearch operations. Always available, no setup required.</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ES|QL Tools: Parameterised queries with typed inputs. Prevents LLM from generating free-form, unvalidated queries.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Index Search Tools: Domain-specific data access. Scoped to specific indices with RBAC enforcement.</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MCP Tools: External tool integration via Model Context Protocol. Connect any MCP server as a tool source.</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Workflow Tools: Complex multi-step orchestration exposed as callable tools. Deterministic execution with audit trails.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0B64DD"/>
                </a:solidFill>
                <a:latin typeface="Inter" pitchFamily="34" charset="0"/>
                <a:ea typeface="Inter" pitchFamily="34" charset="-122"/>
                <a:cs typeface="Inter" pitchFamily="34" charset="-120"/>
              </a:rPr>
              <a:t>Part 3: Mapping Harness Primitives</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How each harness primitive is implemented in Elastic Agent Builder</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indent="0" marL="0">
              <a:buNone/>
            </a:pPr>
            <a:r>
              <a:rPr lang="en-US" sz="2600" b="1" dirty="0">
                <a:solidFill>
                  <a:srgbClr val="0B64DD"/>
                </a:solidFill>
                <a:latin typeface="Inter" pitchFamily="34" charset="0"/>
                <a:ea typeface="Inter" pitchFamily="34" charset="-122"/>
                <a:cs typeface="Inter" pitchFamily="34" charset="-120"/>
              </a:rPr>
              <a:t>Tool Access &amp; Permissions in Elastic</a:t>
            </a:r>
            <a:endParaRPr lang="en-US" sz="2600" dirty="0"/>
          </a:p>
        </p:txBody>
      </p:sp>
      <p:sp>
        <p:nvSpPr>
          <p:cNvPr id="3" name="Shape 1"/>
          <p:cNvSpPr/>
          <p:nvPr/>
        </p:nvSpPr>
        <p:spPr>
          <a:xfrm>
            <a:off x="457200" y="868680"/>
            <a:ext cx="1097280" cy="32004"/>
          </a:xfrm>
          <a:prstGeom prst="rect">
            <a:avLst/>
          </a:prstGeom>
          <a:solidFill>
            <a:srgbClr val="48EFCF"/>
          </a:solidFill>
          <a:ln/>
        </p:spPr>
      </p:sp>
      <p:sp>
        <p:nvSpPr>
          <p:cNvPr id="4" name="Shape 2"/>
          <p:cNvSpPr/>
          <p:nvPr/>
        </p:nvSpPr>
        <p:spPr>
          <a:xfrm>
            <a:off x="274320" y="1188720"/>
            <a:ext cx="3657600" cy="5029200"/>
          </a:xfrm>
          <a:prstGeom prst="roundRect">
            <a:avLst>
              <a:gd name="adj" fmla="val 2500"/>
            </a:avLst>
          </a:prstGeom>
          <a:solidFill>
            <a:srgbClr val="F5F7FA"/>
          </a:solidFill>
          <a:ln w="19050">
            <a:solidFill>
              <a:srgbClr val="101C3F"/>
            </a:solidFill>
            <a:prstDash val="solid"/>
          </a:ln>
        </p:spPr>
      </p:sp>
      <p:sp>
        <p:nvSpPr>
          <p:cNvPr id="5" name="Text 3"/>
          <p:cNvSpPr/>
          <p:nvPr/>
        </p:nvSpPr>
        <p:spPr>
          <a:xfrm>
            <a:off x="457200" y="1371600"/>
            <a:ext cx="3291840" cy="365760"/>
          </a:xfrm>
          <a:prstGeom prst="rect">
            <a:avLst/>
          </a:prstGeom>
          <a:noFill/>
          <a:ln/>
        </p:spPr>
        <p:txBody>
          <a:bodyPr wrap="square" rtlCol="0" anchor="ctr"/>
          <a:lstStyle/>
          <a:p>
            <a:pPr algn="ctr" indent="0" marL="0">
              <a:buNone/>
            </a:pPr>
            <a:r>
              <a:rPr lang="en-US" sz="1600" b="1" dirty="0">
                <a:solidFill>
                  <a:srgbClr val="0B64DD"/>
                </a:solidFill>
                <a:latin typeface="Inter" pitchFamily="34" charset="0"/>
                <a:ea typeface="Inter" pitchFamily="34" charset="-122"/>
                <a:cs typeface="Inter" pitchFamily="34" charset="-120"/>
              </a:rPr>
              <a:t>Security Layers</a:t>
            </a:r>
            <a:endParaRPr lang="en-US" sz="1600" dirty="0"/>
          </a:p>
        </p:txBody>
      </p:sp>
      <p:sp>
        <p:nvSpPr>
          <p:cNvPr id="6" name="Shape 4"/>
          <p:cNvSpPr/>
          <p:nvPr/>
        </p:nvSpPr>
        <p:spPr>
          <a:xfrm>
            <a:off x="548640" y="1920240"/>
            <a:ext cx="3108960" cy="731520"/>
          </a:xfrm>
          <a:prstGeom prst="roundRect">
            <a:avLst>
              <a:gd name="adj" fmla="val 10000"/>
            </a:avLst>
          </a:prstGeom>
          <a:solidFill>
            <a:srgbClr val="0B64DD"/>
          </a:solidFill>
          <a:ln/>
        </p:spPr>
      </p:sp>
      <p:sp>
        <p:nvSpPr>
          <p:cNvPr id="7" name="Text 5"/>
          <p:cNvSpPr/>
          <p:nvPr/>
        </p:nvSpPr>
        <p:spPr>
          <a:xfrm>
            <a:off x="548640" y="2011680"/>
            <a:ext cx="3108960" cy="548640"/>
          </a:xfrm>
          <a:prstGeom prst="rect">
            <a:avLst/>
          </a:prstGeom>
          <a:noFill/>
          <a:ln/>
        </p:spPr>
        <p:txBody>
          <a:bodyPr wrap="square" rtlCol="0" anchor="ctr"/>
          <a:lstStyle/>
          <a:p>
            <a:pPr algn="ctr" indent="0" marL="0">
              <a:buNone/>
            </a:pPr>
            <a:r>
              <a:rPr lang="en-US" sz="1200" b="1" dirty="0">
                <a:solidFill>
                  <a:srgbClr val="FFFFFF"/>
                </a:solidFill>
                <a:latin typeface="Inter" pitchFamily="34" charset="0"/>
                <a:ea typeface="Inter" pitchFamily="34" charset="-122"/>
                <a:cs typeface="Inter" pitchFamily="34" charset="-120"/>
              </a:rPr>
              <a:t>Authentication</a:t>
            </a:r>
            <a:endParaRPr lang="en-US" sz="1200" dirty="0"/>
          </a:p>
          <a:p>
            <a:pPr algn="ctr" indent="0" marL="0">
              <a:buNone/>
            </a:pPr>
            <a:r>
              <a:rPr lang="en-US" sz="1200" b="1" dirty="0">
                <a:solidFill>
                  <a:srgbClr val="FFFFFF"/>
                </a:solidFill>
                <a:latin typeface="Inter" pitchFamily="34" charset="0"/>
                <a:ea typeface="Inter" pitchFamily="34" charset="-122"/>
                <a:cs typeface="Inter" pitchFamily="34" charset="-120"/>
              </a:rPr>
              <a:t>SSO, API Keys</a:t>
            </a:r>
            <a:endParaRPr lang="en-US" sz="1200" dirty="0"/>
          </a:p>
        </p:txBody>
      </p:sp>
      <p:sp>
        <p:nvSpPr>
          <p:cNvPr id="8" name="Shape 6"/>
          <p:cNvSpPr/>
          <p:nvPr/>
        </p:nvSpPr>
        <p:spPr>
          <a:xfrm>
            <a:off x="548640" y="2834640"/>
            <a:ext cx="3108960" cy="731520"/>
          </a:xfrm>
          <a:prstGeom prst="roundRect">
            <a:avLst>
              <a:gd name="adj" fmla="val 10000"/>
            </a:avLst>
          </a:prstGeom>
          <a:solidFill>
            <a:srgbClr val="F5F7FA"/>
          </a:solidFill>
          <a:ln w="12700">
            <a:solidFill>
              <a:srgbClr val="101C3F"/>
            </a:solidFill>
            <a:prstDash val="solid"/>
          </a:ln>
        </p:spPr>
      </p:sp>
      <p:sp>
        <p:nvSpPr>
          <p:cNvPr id="9" name="Text 7"/>
          <p:cNvSpPr/>
          <p:nvPr/>
        </p:nvSpPr>
        <p:spPr>
          <a:xfrm>
            <a:off x="548640" y="2926080"/>
            <a:ext cx="3108960" cy="548640"/>
          </a:xfrm>
          <a:prstGeom prst="rect">
            <a:avLst/>
          </a:prstGeom>
          <a:noFill/>
          <a:ln/>
        </p:spPr>
        <p:txBody>
          <a:bodyPr wrap="square" rtlCol="0" anchor="ctr"/>
          <a:lstStyle/>
          <a:p>
            <a:pPr algn="ctr" indent="0" marL="0">
              <a:buNone/>
            </a:pPr>
            <a:r>
              <a:rPr lang="en-US" sz="1200" b="1" dirty="0">
                <a:solidFill>
                  <a:srgbClr val="0B64DD"/>
                </a:solidFill>
                <a:latin typeface="Inter" pitchFamily="34" charset="0"/>
                <a:ea typeface="Inter" pitchFamily="34" charset="-122"/>
                <a:cs typeface="Inter" pitchFamily="34" charset="-120"/>
              </a:rPr>
              <a:t>RBAC</a:t>
            </a:r>
            <a:endParaRPr lang="en-US" sz="1200" dirty="0"/>
          </a:p>
          <a:p>
            <a:pPr algn="ctr" indent="0" marL="0">
              <a:buNone/>
            </a:pPr>
            <a:r>
              <a:rPr lang="en-US" sz="1200" b="1" dirty="0">
                <a:solidFill>
                  <a:srgbClr val="0B64DD"/>
                </a:solidFill>
                <a:latin typeface="Inter" pitchFamily="34" charset="0"/>
                <a:ea typeface="Inter" pitchFamily="34" charset="-122"/>
                <a:cs typeface="Inter" pitchFamily="34" charset="-120"/>
              </a:rPr>
              <a:t>Role-Based Access</a:t>
            </a:r>
            <a:endParaRPr lang="en-US" sz="1200" dirty="0"/>
          </a:p>
        </p:txBody>
      </p:sp>
      <p:sp>
        <p:nvSpPr>
          <p:cNvPr id="10" name="Shape 8"/>
          <p:cNvSpPr/>
          <p:nvPr/>
        </p:nvSpPr>
        <p:spPr>
          <a:xfrm>
            <a:off x="548640" y="3749040"/>
            <a:ext cx="3108960" cy="731520"/>
          </a:xfrm>
          <a:prstGeom prst="roundRect">
            <a:avLst>
              <a:gd name="adj" fmla="val 10000"/>
            </a:avLst>
          </a:prstGeom>
          <a:solidFill>
            <a:srgbClr val="F5F7FA"/>
          </a:solidFill>
          <a:ln w="12700">
            <a:solidFill>
              <a:srgbClr val="101C3F"/>
            </a:solidFill>
            <a:prstDash val="solid"/>
          </a:ln>
        </p:spPr>
      </p:sp>
      <p:sp>
        <p:nvSpPr>
          <p:cNvPr id="11" name="Text 9"/>
          <p:cNvSpPr/>
          <p:nvPr/>
        </p:nvSpPr>
        <p:spPr>
          <a:xfrm>
            <a:off x="548640" y="3840480"/>
            <a:ext cx="3108960" cy="548640"/>
          </a:xfrm>
          <a:prstGeom prst="rect">
            <a:avLst/>
          </a:prstGeom>
          <a:noFill/>
          <a:ln/>
        </p:spPr>
        <p:txBody>
          <a:bodyPr wrap="square" rtlCol="0" anchor="ctr"/>
          <a:lstStyle/>
          <a:p>
            <a:pPr algn="ctr" indent="0" marL="0">
              <a:buNone/>
            </a:pPr>
            <a:r>
              <a:rPr lang="en-US" sz="1200" b="1" dirty="0">
                <a:solidFill>
                  <a:srgbClr val="0B64DD"/>
                </a:solidFill>
                <a:latin typeface="Inter" pitchFamily="34" charset="0"/>
                <a:ea typeface="Inter" pitchFamily="34" charset="-122"/>
                <a:cs typeface="Inter" pitchFamily="34" charset="-120"/>
              </a:rPr>
              <a:t>Index-Level</a:t>
            </a:r>
            <a:endParaRPr lang="en-US" sz="1200" dirty="0"/>
          </a:p>
          <a:p>
            <a:pPr algn="ctr" indent="0" marL="0">
              <a:buNone/>
            </a:pPr>
            <a:r>
              <a:rPr lang="en-US" sz="1200" b="1" dirty="0">
                <a:solidFill>
                  <a:srgbClr val="0B64DD"/>
                </a:solidFill>
                <a:latin typeface="Inter" pitchFamily="34" charset="0"/>
                <a:ea typeface="Inter" pitchFamily="34" charset="-122"/>
                <a:cs typeface="Inter" pitchFamily="34" charset="-120"/>
              </a:rPr>
              <a:t>Permissions</a:t>
            </a:r>
            <a:endParaRPr lang="en-US" sz="1200" dirty="0"/>
          </a:p>
        </p:txBody>
      </p:sp>
      <p:sp>
        <p:nvSpPr>
          <p:cNvPr id="12" name="Shape 10"/>
          <p:cNvSpPr/>
          <p:nvPr/>
        </p:nvSpPr>
        <p:spPr>
          <a:xfrm>
            <a:off x="548640" y="4663440"/>
            <a:ext cx="3108960" cy="731520"/>
          </a:xfrm>
          <a:prstGeom prst="roundRect">
            <a:avLst>
              <a:gd name="adj" fmla="val 10000"/>
            </a:avLst>
          </a:prstGeom>
          <a:solidFill>
            <a:srgbClr val="F5F7FA"/>
          </a:solidFill>
          <a:ln w="12700">
            <a:solidFill>
              <a:srgbClr val="101C3F"/>
            </a:solidFill>
            <a:prstDash val="solid"/>
          </a:ln>
        </p:spPr>
      </p:sp>
      <p:sp>
        <p:nvSpPr>
          <p:cNvPr id="13" name="Text 11"/>
          <p:cNvSpPr/>
          <p:nvPr/>
        </p:nvSpPr>
        <p:spPr>
          <a:xfrm>
            <a:off x="548640" y="4754880"/>
            <a:ext cx="3108960" cy="548640"/>
          </a:xfrm>
          <a:prstGeom prst="rect">
            <a:avLst/>
          </a:prstGeom>
          <a:noFill/>
          <a:ln/>
        </p:spPr>
        <p:txBody>
          <a:bodyPr wrap="square" rtlCol="0" anchor="ctr"/>
          <a:lstStyle/>
          <a:p>
            <a:pPr algn="ctr" indent="0" marL="0">
              <a:buNone/>
            </a:pPr>
            <a:r>
              <a:rPr lang="en-US" sz="1200" b="1" dirty="0">
                <a:solidFill>
                  <a:srgbClr val="0B64DD"/>
                </a:solidFill>
                <a:latin typeface="Inter" pitchFamily="34" charset="0"/>
                <a:ea typeface="Inter" pitchFamily="34" charset="-122"/>
                <a:cs typeface="Inter" pitchFamily="34" charset="-120"/>
              </a:rPr>
              <a:t>Field &amp; Document</a:t>
            </a:r>
            <a:endParaRPr lang="en-US" sz="1200" dirty="0"/>
          </a:p>
          <a:p>
            <a:pPr algn="ctr" indent="0" marL="0">
              <a:buNone/>
            </a:pPr>
            <a:r>
              <a:rPr lang="en-US" sz="1200" b="1" dirty="0">
                <a:solidFill>
                  <a:srgbClr val="0B64DD"/>
                </a:solidFill>
                <a:latin typeface="Inter" pitchFamily="34" charset="0"/>
                <a:ea typeface="Inter" pitchFamily="34" charset="-122"/>
                <a:cs typeface="Inter" pitchFamily="34" charset="-120"/>
              </a:rPr>
              <a:t>Level Security</a:t>
            </a:r>
            <a:endParaRPr lang="en-US" sz="1200" dirty="0"/>
          </a:p>
        </p:txBody>
      </p:sp>
      <p:sp>
        <p:nvSpPr>
          <p:cNvPr id="14" name="Shape 12"/>
          <p:cNvSpPr/>
          <p:nvPr/>
        </p:nvSpPr>
        <p:spPr>
          <a:xfrm>
            <a:off x="4206240" y="1188720"/>
            <a:ext cx="7680960" cy="2286000"/>
          </a:xfrm>
          <a:prstGeom prst="roundRect">
            <a:avLst>
              <a:gd name="adj" fmla="val 4000"/>
            </a:avLst>
          </a:prstGeom>
          <a:solidFill>
            <a:srgbClr val="F5F7FA"/>
          </a:solidFill>
          <a:ln w="19050">
            <a:solidFill>
              <a:srgbClr val="101C3F"/>
            </a:solidFill>
            <a:prstDash val="solid"/>
          </a:ln>
        </p:spPr>
      </p:sp>
      <p:sp>
        <p:nvSpPr>
          <p:cNvPr id="15" name="Text 13"/>
          <p:cNvSpPr/>
          <p:nvPr/>
        </p:nvSpPr>
        <p:spPr>
          <a:xfrm>
            <a:off x="4389120" y="1371600"/>
            <a:ext cx="2743200" cy="365760"/>
          </a:xfrm>
          <a:prstGeom prst="rect">
            <a:avLst/>
          </a:prstGeom>
          <a:noFill/>
          <a:ln/>
        </p:spPr>
        <p:txBody>
          <a:bodyPr wrap="square" rtlCol="0" anchor="ctr"/>
          <a:lstStyle/>
          <a:p>
            <a:pPr indent="0" marL="0">
              <a:buNone/>
            </a:pPr>
            <a:r>
              <a:rPr lang="en-US" sz="1600" b="1" dirty="0">
                <a:solidFill>
                  <a:srgbClr val="0B64DD"/>
                </a:solidFill>
                <a:latin typeface="Inter" pitchFamily="34" charset="0"/>
                <a:ea typeface="Inter" pitchFamily="34" charset="-122"/>
                <a:cs typeface="Inter" pitchFamily="34" charset="-120"/>
              </a:rPr>
              <a:t>Tool Execution Flow</a:t>
            </a:r>
            <a:endParaRPr lang="en-US" sz="1600" dirty="0"/>
          </a:p>
        </p:txBody>
      </p:sp>
      <p:sp>
        <p:nvSpPr>
          <p:cNvPr id="16" name="Text 14"/>
          <p:cNvSpPr/>
          <p:nvPr/>
        </p:nvSpPr>
        <p:spPr>
          <a:xfrm>
            <a:off x="4389120" y="1920240"/>
            <a:ext cx="7132320" cy="365760"/>
          </a:xfrm>
          <a:prstGeom prst="rect">
            <a:avLst/>
          </a:prstGeom>
          <a:noFill/>
          <a:ln/>
        </p:spPr>
        <p:txBody>
          <a:bodyPr wrap="square" rtlCol="0" anchor="ctr"/>
          <a:lstStyle/>
          <a:p>
            <a:pPr indent="0" marL="0">
              <a:buNone/>
            </a:pPr>
            <a:r>
              <a:rPr lang="en-US" sz="1200" b="1" dirty="0">
                <a:solidFill>
                  <a:srgbClr val="343741"/>
                </a:solidFill>
                <a:latin typeface="Inter" pitchFamily="34" charset="0"/>
                <a:ea typeface="Inter" pitchFamily="34" charset="-122"/>
                <a:cs typeface="Inter" pitchFamily="34" charset="-120"/>
              </a:rPr>
              <a:t>Agent Decision → Tool Selection → Permission Check → Validation → Execution → Result</a:t>
            </a:r>
            <a:endParaRPr lang="en-US" sz="1200" dirty="0"/>
          </a:p>
        </p:txBody>
      </p:sp>
      <p:sp>
        <p:nvSpPr>
          <p:cNvPr id="17" name="Text 15"/>
          <p:cNvSpPr/>
          <p:nvPr/>
        </p:nvSpPr>
        <p:spPr>
          <a:xfrm>
            <a:off x="4389120" y="2468880"/>
            <a:ext cx="7132320" cy="274320"/>
          </a:xfrm>
          <a:prstGeom prst="rect">
            <a:avLst/>
          </a:prstGeom>
          <a:noFill/>
          <a:ln/>
        </p:spPr>
        <p:txBody>
          <a:bodyPr wrap="square" rtlCol="0" anchor="ctr"/>
          <a:lstStyle/>
          <a:p>
            <a:pPr indent="0" marL="0">
              <a:buNone/>
            </a:pPr>
            <a:r>
              <a:rPr lang="en-US" sz="1100" dirty="0">
                <a:solidFill>
                  <a:srgbClr val="343741"/>
                </a:solidFill>
                <a:latin typeface="Inter" pitchFamily="34" charset="0"/>
                <a:ea typeface="Inter" pitchFamily="34" charset="-122"/>
                <a:cs typeface="Inter" pitchFamily="34" charset="-120"/>
              </a:rPr>
              <a:t>Pre-execution: RBAC check, query validation, scope verification</a:t>
            </a:r>
            <a:endParaRPr lang="en-US" sz="1100" dirty="0"/>
          </a:p>
        </p:txBody>
      </p:sp>
      <p:sp>
        <p:nvSpPr>
          <p:cNvPr id="18" name="Text 16"/>
          <p:cNvSpPr/>
          <p:nvPr/>
        </p:nvSpPr>
        <p:spPr>
          <a:xfrm>
            <a:off x="4389120" y="2743200"/>
            <a:ext cx="7132320" cy="274320"/>
          </a:xfrm>
          <a:prstGeom prst="rect">
            <a:avLst/>
          </a:prstGeom>
          <a:noFill/>
          <a:ln/>
        </p:spPr>
        <p:txBody>
          <a:bodyPr wrap="square" rtlCol="0" anchor="ctr"/>
          <a:lstStyle/>
          <a:p>
            <a:pPr indent="0" marL="0">
              <a:buNone/>
            </a:pPr>
            <a:r>
              <a:rPr lang="en-US" sz="1100" dirty="0">
                <a:solidFill>
                  <a:srgbClr val="343741"/>
                </a:solidFill>
                <a:latin typeface="Inter" pitchFamily="34" charset="0"/>
                <a:ea typeface="Inter" pitchFamily="34" charset="-122"/>
                <a:cs typeface="Inter" pitchFamily="34" charset="-120"/>
              </a:rPr>
              <a:t>During execution: Resource limits, timeout enforcement</a:t>
            </a:r>
            <a:endParaRPr lang="en-US" sz="1100" dirty="0"/>
          </a:p>
        </p:txBody>
      </p:sp>
      <p:sp>
        <p:nvSpPr>
          <p:cNvPr id="19" name="Text 17"/>
          <p:cNvSpPr/>
          <p:nvPr/>
        </p:nvSpPr>
        <p:spPr>
          <a:xfrm>
            <a:off x="4389120" y="3017520"/>
            <a:ext cx="7132320" cy="274320"/>
          </a:xfrm>
          <a:prstGeom prst="rect">
            <a:avLst/>
          </a:prstGeom>
          <a:noFill/>
          <a:ln/>
        </p:spPr>
        <p:txBody>
          <a:bodyPr wrap="square" rtlCol="0" anchor="ctr"/>
          <a:lstStyle/>
          <a:p>
            <a:pPr indent="0" marL="0">
              <a:buNone/>
            </a:pPr>
            <a:r>
              <a:rPr lang="en-US" sz="1100" dirty="0">
                <a:solidFill>
                  <a:srgbClr val="343741"/>
                </a:solidFill>
                <a:latin typeface="Inter" pitchFamily="34" charset="0"/>
                <a:ea typeface="Inter" pitchFamily="34" charset="-122"/>
                <a:cs typeface="Inter" pitchFamily="34" charset="-120"/>
              </a:rPr>
              <a:t>Post-execution: Output validation, consistency checks, audit logging</a:t>
            </a:r>
            <a:endParaRPr lang="en-US" sz="1100" dirty="0"/>
          </a:p>
        </p:txBody>
      </p:sp>
      <p:sp>
        <p:nvSpPr>
          <p:cNvPr id="20" name="Shape 18"/>
          <p:cNvSpPr/>
          <p:nvPr/>
        </p:nvSpPr>
        <p:spPr>
          <a:xfrm>
            <a:off x="4206240" y="3749040"/>
            <a:ext cx="7680960" cy="2468880"/>
          </a:xfrm>
          <a:prstGeom prst="roundRect">
            <a:avLst>
              <a:gd name="adj" fmla="val 3704"/>
            </a:avLst>
          </a:prstGeom>
          <a:solidFill>
            <a:srgbClr val="F5F7FA"/>
          </a:solidFill>
          <a:ln w="19050">
            <a:solidFill>
              <a:srgbClr val="101C3F"/>
            </a:solidFill>
            <a:prstDash val="solid"/>
          </a:ln>
        </p:spPr>
      </p:sp>
      <p:sp>
        <p:nvSpPr>
          <p:cNvPr id="21" name="Text 19"/>
          <p:cNvSpPr/>
          <p:nvPr/>
        </p:nvSpPr>
        <p:spPr>
          <a:xfrm>
            <a:off x="4389120" y="3931920"/>
            <a:ext cx="2743200" cy="365760"/>
          </a:xfrm>
          <a:prstGeom prst="rect">
            <a:avLst/>
          </a:prstGeom>
          <a:noFill/>
          <a:ln/>
        </p:spPr>
        <p:txBody>
          <a:bodyPr wrap="square" rtlCol="0" anchor="ctr"/>
          <a:lstStyle/>
          <a:p>
            <a:pPr indent="0" marL="0">
              <a:buNone/>
            </a:pPr>
            <a:r>
              <a:rPr lang="en-US" sz="1600" b="1" dirty="0">
                <a:solidFill>
                  <a:srgbClr val="0B64DD"/>
                </a:solidFill>
                <a:latin typeface="Inter" pitchFamily="34" charset="0"/>
                <a:ea typeface="Inter" pitchFamily="34" charset="-122"/>
                <a:cs typeface="Inter" pitchFamily="34" charset="-120"/>
              </a:rPr>
              <a:t>Tool Categories</a:t>
            </a:r>
            <a:endParaRPr lang="en-US" sz="1600" dirty="0"/>
          </a:p>
        </p:txBody>
      </p:sp>
      <p:sp>
        <p:nvSpPr>
          <p:cNvPr id="22" name="Text 20"/>
          <p:cNvSpPr/>
          <p:nvPr/>
        </p:nvSpPr>
        <p:spPr>
          <a:xfrm>
            <a:off x="4389120" y="4389120"/>
            <a:ext cx="7132320" cy="27432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Built-in: Pre-configured, read-only, core capabilities (always available)</a:t>
            </a:r>
            <a:endParaRPr lang="en-US" sz="1200" dirty="0"/>
          </a:p>
        </p:txBody>
      </p:sp>
      <p:sp>
        <p:nvSpPr>
          <p:cNvPr id="23" name="Text 21"/>
          <p:cNvSpPr/>
          <p:nvPr/>
        </p:nvSpPr>
        <p:spPr>
          <a:xfrm>
            <a:off x="4389120" y="4754880"/>
            <a:ext cx="7132320" cy="27432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Custom ES|QL: Parameterised queries with typed inputs (no free-form LLM)</a:t>
            </a:r>
            <a:endParaRPr lang="en-US" sz="1200" dirty="0"/>
          </a:p>
        </p:txBody>
      </p:sp>
      <p:sp>
        <p:nvSpPr>
          <p:cNvPr id="24" name="Text 22"/>
          <p:cNvSpPr/>
          <p:nvPr/>
        </p:nvSpPr>
        <p:spPr>
          <a:xfrm>
            <a:off x="4389120" y="5120640"/>
            <a:ext cx="7132320" cy="27432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Custom Index Search: Domain-specific scoped data access</a:t>
            </a:r>
            <a:endParaRPr lang="en-US" sz="1200" dirty="0"/>
          </a:p>
        </p:txBody>
      </p:sp>
      <p:sp>
        <p:nvSpPr>
          <p:cNvPr id="25" name="Text 23"/>
          <p:cNvSpPr/>
          <p:nvPr/>
        </p:nvSpPr>
        <p:spPr>
          <a:xfrm>
            <a:off x="4389120" y="5486400"/>
            <a:ext cx="7132320" cy="27432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MCP Connectors: External tools via Model Context Protocol</a:t>
            </a:r>
            <a:endParaRPr lang="en-US" sz="1200" dirty="0"/>
          </a:p>
        </p:txBody>
      </p:sp>
      <p:sp>
        <p:nvSpPr>
          <p:cNvPr id="26" name="Text 24"/>
          <p:cNvSpPr/>
          <p:nvPr/>
        </p:nvSpPr>
        <p:spPr>
          <a:xfrm>
            <a:off x="4389120" y="5852160"/>
            <a:ext cx="7132320" cy="27432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Workflow Tools: Complex multi-step orchestration as callable tools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Primitive 2: Memory &amp; State Management</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Conversation Storage: All agent interactions are persisted in Elasticsearch indices. Full history searchable and auditable.</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Agent Memory Structure: Conversations, tool executions, and decisions stored with timestamps and trace IDs.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Cross-Session Persistence: Agents resume conversations with full context. No re-authentication needed between sessions.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Skills as Persistent Knowledge: Skills are versioned, shareable knowledge packages that survive across sessions and agents.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Context Window Management: Hybrid of compaction (summarisation) and context reset (fresh instance with structured handoff).</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Primitive 3: Validation &amp; Constraints</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Pre-Execution Validation: RBAC permission checks, query validation, scope verification before any tool runs.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During-Execution Constraints: Resource limits, timeout enforcement, rate limiting on API calls.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Post-Execution Validation: Output consistency checks, format verification, audit logging of all decisions.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Architectural Constraints: Index pattern scoping, namespace isolation, field-level security enforcement.</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Elastic Workflows for Deterministic Validation: YAML-defined workflows with conditional logic (if/else), event-driven triggers, and predictable responses.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Primitive 4: Error Handling &amp; Retry</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Tool Execution Errors: Invalid queries caught before execution, with descriptive error messages returned to the agent for self-correction.</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LLM Provider Failures: Automatic retry with exponential backoff for rate limits and timeouts. Multiple provider fallback when configured.</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Data Access Errors: Index-not-found and mapping-mismatch errors surfaced with actionable suggestions for the agent.</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Workflow Execution Errors: Deterministic error paths in YAML workflows. Failed steps can trigger notifications, escalate to humans, or roll back.</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Retry Intelligence: The harness prevents loop trapping by detecting repeated failures and escalating rather than retrying blindly.</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Primitive 5: Observability &amp; Evaluation</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Token Usage Tracking: Per-agent, per-session, per-tool token consumption with cost attribution.</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Latency Monitoring: End-to-end tracing from user query through agent reasoning to tool execution and response.</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Tool Execution Logs: Every tool call is logged with parameters, results, timestamps, and trace IDs in Elasticsearch.</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Integration with Elastic Observability: APM traces, infrastructure metrics, and log correlation for full-stack visibility.</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Evaluation Mechanisms: Output quality assessment, relevance scoring, user feedback collection, and A/B testing capabilities.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indent="0" marL="0">
              <a:buNone/>
            </a:pPr>
            <a:r>
              <a:rPr lang="en-US" sz="2400" b="1" dirty="0">
                <a:solidFill>
                  <a:srgbClr val="0B64DD"/>
                </a:solidFill>
                <a:latin typeface="Inter" pitchFamily="34" charset="0"/>
                <a:ea typeface="Inter" pitchFamily="34" charset="-122"/>
                <a:cs typeface="Inter" pitchFamily="34" charset="-120"/>
              </a:rPr>
              <a:t>Harness Primitive → Elastic Implementation Matrix</a:t>
            </a:r>
            <a:endParaRPr lang="en-US" sz="2400" dirty="0"/>
          </a:p>
        </p:txBody>
      </p:sp>
      <p:sp>
        <p:nvSpPr>
          <p:cNvPr id="3" name="Shape 1"/>
          <p:cNvSpPr/>
          <p:nvPr/>
        </p:nvSpPr>
        <p:spPr>
          <a:xfrm>
            <a:off x="457200" y="868680"/>
            <a:ext cx="1097280" cy="32004"/>
          </a:xfrm>
          <a:prstGeom prst="rect">
            <a:avLst/>
          </a:prstGeom>
          <a:solidFill>
            <a:srgbClr val="48EFCF"/>
          </a:solidFill>
          <a:ln/>
        </p:spPr>
      </p:sp>
      <p:sp>
        <p:nvSpPr>
          <p:cNvPr id="4" name="Shape 2"/>
          <p:cNvSpPr/>
          <p:nvPr/>
        </p:nvSpPr>
        <p:spPr>
          <a:xfrm>
            <a:off x="274320" y="1188720"/>
            <a:ext cx="11612880" cy="548640"/>
          </a:xfrm>
          <a:prstGeom prst="rect">
            <a:avLst/>
          </a:prstGeom>
          <a:solidFill>
            <a:srgbClr val="0B64DD"/>
          </a:solidFill>
          <a:ln/>
        </p:spPr>
      </p:sp>
      <p:sp>
        <p:nvSpPr>
          <p:cNvPr id="5" name="Text 3"/>
          <p:cNvSpPr/>
          <p:nvPr/>
        </p:nvSpPr>
        <p:spPr>
          <a:xfrm>
            <a:off x="457200" y="1234440"/>
            <a:ext cx="2743200" cy="457200"/>
          </a:xfrm>
          <a:prstGeom prst="rect">
            <a:avLst/>
          </a:prstGeom>
          <a:noFill/>
          <a:ln/>
        </p:spPr>
        <p:txBody>
          <a:bodyPr wrap="square" rtlCol="0" anchor="ctr"/>
          <a:lstStyle/>
          <a:p>
            <a:pPr indent="0" marL="0">
              <a:buNone/>
            </a:pPr>
            <a:r>
              <a:rPr lang="en-US" sz="1300" b="1" dirty="0">
                <a:solidFill>
                  <a:srgbClr val="FFFFFF"/>
                </a:solidFill>
                <a:latin typeface="Inter" pitchFamily="34" charset="0"/>
                <a:ea typeface="Inter" pitchFamily="34" charset="-122"/>
                <a:cs typeface="Inter" pitchFamily="34" charset="-120"/>
              </a:rPr>
              <a:t>Harness Primitive</a:t>
            </a:r>
            <a:endParaRPr lang="en-US" sz="1300" dirty="0"/>
          </a:p>
        </p:txBody>
      </p:sp>
      <p:sp>
        <p:nvSpPr>
          <p:cNvPr id="6" name="Text 4"/>
          <p:cNvSpPr/>
          <p:nvPr/>
        </p:nvSpPr>
        <p:spPr>
          <a:xfrm>
            <a:off x="4114800" y="1234440"/>
            <a:ext cx="7315200" cy="457200"/>
          </a:xfrm>
          <a:prstGeom prst="rect">
            <a:avLst/>
          </a:prstGeom>
          <a:noFill/>
          <a:ln/>
        </p:spPr>
        <p:txBody>
          <a:bodyPr wrap="square" rtlCol="0" anchor="ctr"/>
          <a:lstStyle/>
          <a:p>
            <a:pPr indent="0" marL="0">
              <a:buNone/>
            </a:pPr>
            <a:r>
              <a:rPr lang="en-US" sz="1300" b="1" dirty="0">
                <a:solidFill>
                  <a:srgbClr val="FFFFFF"/>
                </a:solidFill>
                <a:latin typeface="Inter" pitchFamily="34" charset="0"/>
                <a:ea typeface="Inter" pitchFamily="34" charset="-122"/>
                <a:cs typeface="Inter" pitchFamily="34" charset="-120"/>
              </a:rPr>
              <a:t>Elastic Implementation</a:t>
            </a:r>
            <a:endParaRPr lang="en-US" sz="1300" dirty="0"/>
          </a:p>
        </p:txBody>
      </p:sp>
      <p:sp>
        <p:nvSpPr>
          <p:cNvPr id="7" name="Shape 5"/>
          <p:cNvSpPr/>
          <p:nvPr/>
        </p:nvSpPr>
        <p:spPr>
          <a:xfrm>
            <a:off x="274320" y="1737360"/>
            <a:ext cx="11612880" cy="777240"/>
          </a:xfrm>
          <a:prstGeom prst="rect">
            <a:avLst/>
          </a:prstGeom>
          <a:solidFill>
            <a:srgbClr val="F5F7FA"/>
          </a:solidFill>
          <a:ln/>
        </p:spPr>
      </p:sp>
      <p:sp>
        <p:nvSpPr>
          <p:cNvPr id="8" name="Text 6"/>
          <p:cNvSpPr/>
          <p:nvPr/>
        </p:nvSpPr>
        <p:spPr>
          <a:xfrm>
            <a:off x="457200" y="1828800"/>
            <a:ext cx="3200400" cy="594360"/>
          </a:xfrm>
          <a:prstGeom prst="rect">
            <a:avLst/>
          </a:prstGeom>
          <a:noFill/>
          <a:ln/>
        </p:spPr>
        <p:txBody>
          <a:bodyPr wrap="square" rtlCol="0" anchor="ctr"/>
          <a:lstStyle/>
          <a:p>
            <a:pPr indent="0" marL="0">
              <a:buNone/>
            </a:pPr>
            <a:r>
              <a:rPr lang="en-US" sz="1200" b="1" dirty="0">
                <a:solidFill>
                  <a:srgbClr val="0B64DD"/>
                </a:solidFill>
                <a:latin typeface="Inter" pitchFamily="34" charset="0"/>
                <a:ea typeface="Inter" pitchFamily="34" charset="-122"/>
                <a:cs typeface="Inter" pitchFamily="34" charset="-120"/>
              </a:rPr>
              <a:t>Tool Access &amp; Permissions</a:t>
            </a:r>
            <a:endParaRPr lang="en-US" sz="1200" dirty="0"/>
          </a:p>
        </p:txBody>
      </p:sp>
      <p:sp>
        <p:nvSpPr>
          <p:cNvPr id="9" name="Text 7"/>
          <p:cNvSpPr/>
          <p:nvPr/>
        </p:nvSpPr>
        <p:spPr>
          <a:xfrm>
            <a:off x="4114800" y="1828800"/>
            <a:ext cx="7315200" cy="59436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RBAC + Index-level permissions + API key scoping + Pre-execution validation + MCP connector governance</a:t>
            </a:r>
            <a:endParaRPr lang="en-US" sz="1200" dirty="0"/>
          </a:p>
        </p:txBody>
      </p:sp>
      <p:sp>
        <p:nvSpPr>
          <p:cNvPr id="10" name="Shape 8"/>
          <p:cNvSpPr/>
          <p:nvPr/>
        </p:nvSpPr>
        <p:spPr>
          <a:xfrm>
            <a:off x="274320" y="2514600"/>
            <a:ext cx="11612880" cy="777240"/>
          </a:xfrm>
          <a:prstGeom prst="rect">
            <a:avLst/>
          </a:prstGeom>
          <a:solidFill>
            <a:srgbClr val="FFFFFF"/>
          </a:solidFill>
          <a:ln/>
        </p:spPr>
      </p:sp>
      <p:sp>
        <p:nvSpPr>
          <p:cNvPr id="11" name="Text 9"/>
          <p:cNvSpPr/>
          <p:nvPr/>
        </p:nvSpPr>
        <p:spPr>
          <a:xfrm>
            <a:off x="457200" y="2606040"/>
            <a:ext cx="3200400" cy="594360"/>
          </a:xfrm>
          <a:prstGeom prst="rect">
            <a:avLst/>
          </a:prstGeom>
          <a:noFill/>
          <a:ln/>
        </p:spPr>
        <p:txBody>
          <a:bodyPr wrap="square" rtlCol="0" anchor="ctr"/>
          <a:lstStyle/>
          <a:p>
            <a:pPr indent="0" marL="0">
              <a:buNone/>
            </a:pPr>
            <a:r>
              <a:rPr lang="en-US" sz="1200" b="1" dirty="0">
                <a:solidFill>
                  <a:srgbClr val="0B64DD"/>
                </a:solidFill>
                <a:latin typeface="Inter" pitchFamily="34" charset="0"/>
                <a:ea typeface="Inter" pitchFamily="34" charset="-122"/>
                <a:cs typeface="Inter" pitchFamily="34" charset="-120"/>
              </a:rPr>
              <a:t>Memory &amp; Context Mgmt</a:t>
            </a:r>
            <a:endParaRPr lang="en-US" sz="1200" dirty="0"/>
          </a:p>
        </p:txBody>
      </p:sp>
      <p:sp>
        <p:nvSpPr>
          <p:cNvPr id="12" name="Text 10"/>
          <p:cNvSpPr/>
          <p:nvPr/>
        </p:nvSpPr>
        <p:spPr>
          <a:xfrm>
            <a:off x="4114800" y="2606040"/>
            <a:ext cx="7315200" cy="59436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Conversation storage in ES + Skills as persistent knowledge + Context compaction + Cross-session state</a:t>
            </a:r>
            <a:endParaRPr lang="en-US" sz="1200" dirty="0"/>
          </a:p>
        </p:txBody>
      </p:sp>
      <p:sp>
        <p:nvSpPr>
          <p:cNvPr id="13" name="Shape 11"/>
          <p:cNvSpPr/>
          <p:nvPr/>
        </p:nvSpPr>
        <p:spPr>
          <a:xfrm>
            <a:off x="274320" y="3291840"/>
            <a:ext cx="11612880" cy="777240"/>
          </a:xfrm>
          <a:prstGeom prst="rect">
            <a:avLst/>
          </a:prstGeom>
          <a:solidFill>
            <a:srgbClr val="F5F7FA"/>
          </a:solidFill>
          <a:ln/>
        </p:spPr>
      </p:sp>
      <p:sp>
        <p:nvSpPr>
          <p:cNvPr id="14" name="Text 12"/>
          <p:cNvSpPr/>
          <p:nvPr/>
        </p:nvSpPr>
        <p:spPr>
          <a:xfrm>
            <a:off x="457200" y="3383280"/>
            <a:ext cx="3200400" cy="594360"/>
          </a:xfrm>
          <a:prstGeom prst="rect">
            <a:avLst/>
          </a:prstGeom>
          <a:noFill/>
          <a:ln/>
        </p:spPr>
        <p:txBody>
          <a:bodyPr wrap="square" rtlCol="0" anchor="ctr"/>
          <a:lstStyle/>
          <a:p>
            <a:pPr indent="0" marL="0">
              <a:buNone/>
            </a:pPr>
            <a:r>
              <a:rPr lang="en-US" sz="1200" b="1" dirty="0">
                <a:solidFill>
                  <a:srgbClr val="0B64DD"/>
                </a:solidFill>
                <a:latin typeface="Inter" pitchFamily="34" charset="0"/>
                <a:ea typeface="Inter" pitchFamily="34" charset="-122"/>
                <a:cs typeface="Inter" pitchFamily="34" charset="-120"/>
              </a:rPr>
              <a:t>Validation &amp; Constraints</a:t>
            </a:r>
            <a:endParaRPr lang="en-US" sz="1200" dirty="0"/>
          </a:p>
        </p:txBody>
      </p:sp>
      <p:sp>
        <p:nvSpPr>
          <p:cNvPr id="15" name="Text 13"/>
          <p:cNvSpPr/>
          <p:nvPr/>
        </p:nvSpPr>
        <p:spPr>
          <a:xfrm>
            <a:off x="4114800" y="3383280"/>
            <a:ext cx="7315200" cy="59436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Workflows YAML definitions + Conditional logic (if/else) + Pre/post-execution checks + Index scoping</a:t>
            </a:r>
            <a:endParaRPr lang="en-US" sz="1200" dirty="0"/>
          </a:p>
        </p:txBody>
      </p:sp>
      <p:sp>
        <p:nvSpPr>
          <p:cNvPr id="16" name="Shape 14"/>
          <p:cNvSpPr/>
          <p:nvPr/>
        </p:nvSpPr>
        <p:spPr>
          <a:xfrm>
            <a:off x="274320" y="4069080"/>
            <a:ext cx="11612880" cy="777240"/>
          </a:xfrm>
          <a:prstGeom prst="rect">
            <a:avLst/>
          </a:prstGeom>
          <a:solidFill>
            <a:srgbClr val="FFFFFF"/>
          </a:solidFill>
          <a:ln/>
        </p:spPr>
      </p:sp>
      <p:sp>
        <p:nvSpPr>
          <p:cNvPr id="17" name="Text 15"/>
          <p:cNvSpPr/>
          <p:nvPr/>
        </p:nvSpPr>
        <p:spPr>
          <a:xfrm>
            <a:off x="457200" y="4160520"/>
            <a:ext cx="3200400" cy="594360"/>
          </a:xfrm>
          <a:prstGeom prst="rect">
            <a:avLst/>
          </a:prstGeom>
          <a:noFill/>
          <a:ln/>
        </p:spPr>
        <p:txBody>
          <a:bodyPr wrap="square" rtlCol="0" anchor="ctr"/>
          <a:lstStyle/>
          <a:p>
            <a:pPr indent="0" marL="0">
              <a:buNone/>
            </a:pPr>
            <a:r>
              <a:rPr lang="en-US" sz="1200" b="1" dirty="0">
                <a:solidFill>
                  <a:srgbClr val="0B64DD"/>
                </a:solidFill>
                <a:latin typeface="Inter" pitchFamily="34" charset="0"/>
                <a:ea typeface="Inter" pitchFamily="34" charset="-122"/>
                <a:cs typeface="Inter" pitchFamily="34" charset="-120"/>
              </a:rPr>
              <a:t>Retry &amp; Error Handling</a:t>
            </a:r>
            <a:endParaRPr lang="en-US" sz="1200" dirty="0"/>
          </a:p>
        </p:txBody>
      </p:sp>
      <p:sp>
        <p:nvSpPr>
          <p:cNvPr id="18" name="Text 16"/>
          <p:cNvSpPr/>
          <p:nvPr/>
        </p:nvSpPr>
        <p:spPr>
          <a:xfrm>
            <a:off x="4114800" y="4160520"/>
            <a:ext cx="7315200" cy="59436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Exponential backoff + Provider fallback + Workflow error paths + Loop detection + Human escalation</a:t>
            </a:r>
            <a:endParaRPr lang="en-US" sz="1200" dirty="0"/>
          </a:p>
        </p:txBody>
      </p:sp>
      <p:sp>
        <p:nvSpPr>
          <p:cNvPr id="19" name="Shape 17"/>
          <p:cNvSpPr/>
          <p:nvPr/>
        </p:nvSpPr>
        <p:spPr>
          <a:xfrm>
            <a:off x="274320" y="4846320"/>
            <a:ext cx="11612880" cy="777240"/>
          </a:xfrm>
          <a:prstGeom prst="rect">
            <a:avLst/>
          </a:prstGeom>
          <a:solidFill>
            <a:srgbClr val="F5F7FA"/>
          </a:solidFill>
          <a:ln/>
        </p:spPr>
      </p:sp>
      <p:sp>
        <p:nvSpPr>
          <p:cNvPr id="20" name="Text 18"/>
          <p:cNvSpPr/>
          <p:nvPr/>
        </p:nvSpPr>
        <p:spPr>
          <a:xfrm>
            <a:off x="457200" y="4937760"/>
            <a:ext cx="3200400" cy="594360"/>
          </a:xfrm>
          <a:prstGeom prst="rect">
            <a:avLst/>
          </a:prstGeom>
          <a:noFill/>
          <a:ln/>
        </p:spPr>
        <p:txBody>
          <a:bodyPr wrap="square" rtlCol="0" anchor="ctr"/>
          <a:lstStyle/>
          <a:p>
            <a:pPr indent="0" marL="0">
              <a:buNone/>
            </a:pPr>
            <a:r>
              <a:rPr lang="en-US" sz="1200" b="1" dirty="0">
                <a:solidFill>
                  <a:srgbClr val="0B64DD"/>
                </a:solidFill>
                <a:latin typeface="Inter" pitchFamily="34" charset="0"/>
                <a:ea typeface="Inter" pitchFamily="34" charset="-122"/>
                <a:cs typeface="Inter" pitchFamily="34" charset="-120"/>
              </a:rPr>
              <a:t>Observability &amp; Evaluation</a:t>
            </a:r>
            <a:endParaRPr lang="en-US" sz="1200" dirty="0"/>
          </a:p>
        </p:txBody>
      </p:sp>
      <p:sp>
        <p:nvSpPr>
          <p:cNvPr id="21" name="Text 19"/>
          <p:cNvSpPr/>
          <p:nvPr/>
        </p:nvSpPr>
        <p:spPr>
          <a:xfrm>
            <a:off x="4114800" y="4937760"/>
            <a:ext cx="7315200" cy="59436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APM traces + Token tracking + Tool execution logs + Elastic Observability integration + Relevance scoring</a:t>
            </a:r>
            <a:endParaRPr lang="en-US" sz="1200" dirty="0"/>
          </a:p>
        </p:txBody>
      </p:sp>
      <p:sp>
        <p:nvSpPr>
          <p:cNvPr id="22" name="Shape 20"/>
          <p:cNvSpPr/>
          <p:nvPr/>
        </p:nvSpPr>
        <p:spPr>
          <a:xfrm>
            <a:off x="274320" y="5852160"/>
            <a:ext cx="11612880" cy="548640"/>
          </a:xfrm>
          <a:prstGeom prst="rect">
            <a:avLst/>
          </a:prstGeom>
          <a:solidFill>
            <a:srgbClr val="48EFCF"/>
          </a:solidFill>
          <a:ln/>
        </p:spPr>
      </p:sp>
      <p:sp>
        <p:nvSpPr>
          <p:cNvPr id="23" name="Text 21"/>
          <p:cNvSpPr/>
          <p:nvPr/>
        </p:nvSpPr>
        <p:spPr>
          <a:xfrm>
            <a:off x="457200" y="5897880"/>
            <a:ext cx="10972800" cy="457200"/>
          </a:xfrm>
          <a:prstGeom prst="rect">
            <a:avLst/>
          </a:prstGeom>
          <a:noFill/>
          <a:ln/>
        </p:spPr>
        <p:txBody>
          <a:bodyPr wrap="square" rtlCol="0" anchor="ctr"/>
          <a:lstStyle/>
          <a:p>
            <a:pPr algn="ctr" indent="0" marL="0">
              <a:buNone/>
            </a:pPr>
            <a:r>
              <a:rPr lang="en-US" sz="1200" b="1" dirty="0">
                <a:solidFill>
                  <a:srgbClr val="1C1E23"/>
                </a:solidFill>
                <a:latin typeface="Inter" pitchFamily="34" charset="0"/>
                <a:ea typeface="Inter" pitchFamily="34" charset="-122"/>
                <a:cs typeface="Inter" pitchFamily="34" charset="-120"/>
              </a:rPr>
              <a:t>Elastic provides depth, not just surface-level coverage. Every primitive has multiple implementation layers.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0B64DD"/>
                </a:solidFill>
                <a:latin typeface="Inter" pitchFamily="34" charset="0"/>
                <a:ea typeface="Inter" pitchFamily="34" charset="-122"/>
                <a:cs typeface="Inter" pitchFamily="34" charset="-120"/>
              </a:rPr>
              <a:t>Part 4: Elastic Workflows &amp; Skills</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Deterministic execution and reusable domain expertise</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Elastic Workflows: The Orchestration Harness</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YAML-defined automation sequences that provide deterministic, auditable execution — the reliability layer for agent operations.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Composable step types: Search, Transform, Call Agent, External API, Conditional (if/else), and more.</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Event-driven triggers: Workflows can fire on alerts, schedule, or be invoked by agents as tool calls.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Bidirectional integration: Workflows call agents as intelligent reasoning nodes; agents invoke workflows for deterministic execution.</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Key differentiator: AI reasoning for judgment calls + deterministic workflow steps for reliable execution = production-grade reliability.</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indent="0" marL="0">
              <a:buNone/>
            </a:pPr>
            <a:r>
              <a:rPr lang="en-US" sz="2400" b="1" dirty="0">
                <a:solidFill>
                  <a:srgbClr val="0B64DD"/>
                </a:solidFill>
                <a:latin typeface="Inter" pitchFamily="34" charset="0"/>
                <a:ea typeface="Inter" pitchFamily="34" charset="-122"/>
                <a:cs typeface="Inter" pitchFamily="34" charset="-120"/>
              </a:rPr>
              <a:t>Agent ↔ Workflow Bidirectional Integration</a:t>
            </a:r>
            <a:endParaRPr lang="en-US" sz="2400" dirty="0"/>
          </a:p>
        </p:txBody>
      </p:sp>
      <p:sp>
        <p:nvSpPr>
          <p:cNvPr id="3" name="Shape 1"/>
          <p:cNvSpPr/>
          <p:nvPr/>
        </p:nvSpPr>
        <p:spPr>
          <a:xfrm>
            <a:off x="457200" y="868680"/>
            <a:ext cx="1097280" cy="32004"/>
          </a:xfrm>
          <a:prstGeom prst="rect">
            <a:avLst/>
          </a:prstGeom>
          <a:solidFill>
            <a:srgbClr val="48EFCF"/>
          </a:solidFill>
          <a:ln/>
        </p:spPr>
      </p:sp>
      <p:sp>
        <p:nvSpPr>
          <p:cNvPr id="4" name="Shape 2"/>
          <p:cNvSpPr/>
          <p:nvPr/>
        </p:nvSpPr>
        <p:spPr>
          <a:xfrm>
            <a:off x="457200" y="1371600"/>
            <a:ext cx="5029200" cy="4572000"/>
          </a:xfrm>
          <a:prstGeom prst="roundRect">
            <a:avLst>
              <a:gd name="adj" fmla="val 2000"/>
            </a:avLst>
          </a:prstGeom>
          <a:solidFill>
            <a:srgbClr val="F5F7FA"/>
          </a:solidFill>
          <a:ln w="19050">
            <a:solidFill>
              <a:srgbClr val="101C3F"/>
            </a:solidFill>
            <a:prstDash val="solid"/>
          </a:ln>
        </p:spPr>
      </p:sp>
      <p:sp>
        <p:nvSpPr>
          <p:cNvPr id="5" name="Text 3"/>
          <p:cNvSpPr/>
          <p:nvPr/>
        </p:nvSpPr>
        <p:spPr>
          <a:xfrm>
            <a:off x="640080" y="1554480"/>
            <a:ext cx="4572000" cy="365760"/>
          </a:xfrm>
          <a:prstGeom prst="rect">
            <a:avLst/>
          </a:prstGeom>
          <a:noFill/>
          <a:ln/>
        </p:spPr>
        <p:txBody>
          <a:bodyPr wrap="square" rtlCol="0" anchor="ctr"/>
          <a:lstStyle/>
          <a:p>
            <a:pPr algn="ctr" indent="0" marL="0">
              <a:buNone/>
            </a:pPr>
            <a:r>
              <a:rPr lang="en-US" sz="1800" b="1" dirty="0">
                <a:solidFill>
                  <a:srgbClr val="0B64DD"/>
                </a:solidFill>
                <a:latin typeface="Inter" pitchFamily="34" charset="0"/>
                <a:ea typeface="Inter" pitchFamily="34" charset="-122"/>
                <a:cs typeface="Inter" pitchFamily="34" charset="-120"/>
              </a:rPr>
              <a:t>AI Agent</a:t>
            </a:r>
            <a:endParaRPr lang="en-US" sz="1800" dirty="0"/>
          </a:p>
        </p:txBody>
      </p:sp>
      <p:sp>
        <p:nvSpPr>
          <p:cNvPr id="6" name="Text 4"/>
          <p:cNvSpPr/>
          <p:nvPr/>
        </p:nvSpPr>
        <p:spPr>
          <a:xfrm>
            <a:off x="640080" y="2103120"/>
            <a:ext cx="4572000" cy="274320"/>
          </a:xfrm>
          <a:prstGeom prst="rect">
            <a:avLst/>
          </a:prstGeom>
          <a:noFill/>
          <a:ln/>
        </p:spPr>
        <p:txBody>
          <a:bodyPr wrap="square" rtlCol="0" anchor="ctr"/>
          <a:lstStyle/>
          <a:p>
            <a:pPr algn="ctr" indent="0" marL="0">
              <a:buNone/>
            </a:pPr>
            <a:r>
              <a:rPr lang="en-US" sz="1300" dirty="0">
                <a:solidFill>
                  <a:srgbClr val="343741"/>
                </a:solidFill>
                <a:latin typeface="Inter" pitchFamily="34" charset="0"/>
                <a:ea typeface="Inter" pitchFamily="34" charset="-122"/>
                <a:cs typeface="Inter" pitchFamily="34" charset="-120"/>
              </a:rPr>
              <a:t>Reasoning &amp; Judgment</a:t>
            </a:r>
            <a:endParaRPr lang="en-US" sz="1300" dirty="0"/>
          </a:p>
        </p:txBody>
      </p:sp>
      <p:sp>
        <p:nvSpPr>
          <p:cNvPr id="7" name="Text 5"/>
          <p:cNvSpPr/>
          <p:nvPr/>
        </p:nvSpPr>
        <p:spPr>
          <a:xfrm>
            <a:off x="731520" y="2560320"/>
            <a:ext cx="4389120" cy="164592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 Understands user intent</a:t>
            </a:r>
            <a:endParaRPr lang="en-US" sz="1200" dirty="0"/>
          </a:p>
          <a:p>
            <a:pPr indent="0" marL="0">
              <a:buNone/>
            </a:pPr>
            <a:r>
              <a:rPr lang="en-US" sz="1200" dirty="0">
                <a:solidFill>
                  <a:srgbClr val="343741"/>
                </a:solidFill>
                <a:latin typeface="Inter" pitchFamily="34" charset="0"/>
                <a:ea typeface="Inter" pitchFamily="34" charset="-122"/>
                <a:cs typeface="Inter" pitchFamily="34" charset="-120"/>
              </a:rPr>
              <a:t>• Analyses complex situations</a:t>
            </a:r>
            <a:endParaRPr lang="en-US" sz="1200" dirty="0"/>
          </a:p>
          <a:p>
            <a:pPr indent="0" marL="0">
              <a:buNone/>
            </a:pPr>
            <a:r>
              <a:rPr lang="en-US" sz="1200" dirty="0">
                <a:solidFill>
                  <a:srgbClr val="343741"/>
                </a:solidFill>
                <a:latin typeface="Inter" pitchFamily="34" charset="0"/>
                <a:ea typeface="Inter" pitchFamily="34" charset="-122"/>
                <a:cs typeface="Inter" pitchFamily="34" charset="-120"/>
              </a:rPr>
              <a:t>• Makes judgment calls</a:t>
            </a:r>
            <a:endParaRPr lang="en-US" sz="1200" dirty="0"/>
          </a:p>
          <a:p>
            <a:pPr indent="0" marL="0">
              <a:buNone/>
            </a:pPr>
            <a:r>
              <a:rPr lang="en-US" sz="1200" dirty="0">
                <a:solidFill>
                  <a:srgbClr val="343741"/>
                </a:solidFill>
                <a:latin typeface="Inter" pitchFamily="34" charset="0"/>
                <a:ea typeface="Inter" pitchFamily="34" charset="-122"/>
                <a:cs typeface="Inter" pitchFamily="34" charset="-120"/>
              </a:rPr>
              <a:t>• Selects appropriate tools</a:t>
            </a:r>
            <a:endParaRPr lang="en-US" sz="1200" dirty="0"/>
          </a:p>
          <a:p>
            <a:pPr indent="0" marL="0">
              <a:buNone/>
            </a:pPr>
            <a:r>
              <a:rPr lang="en-US" sz="1200" dirty="0">
                <a:solidFill>
                  <a:srgbClr val="343741"/>
                </a:solidFill>
                <a:latin typeface="Inter" pitchFamily="34" charset="0"/>
                <a:ea typeface="Inter" pitchFamily="34" charset="-122"/>
                <a:cs typeface="Inter" pitchFamily="34" charset="-120"/>
              </a:rPr>
              <a:t>• Decides when to escalate</a:t>
            </a:r>
            <a:endParaRPr lang="en-US" sz="1200" dirty="0"/>
          </a:p>
        </p:txBody>
      </p:sp>
      <p:sp>
        <p:nvSpPr>
          <p:cNvPr id="8" name="Text 6"/>
          <p:cNvSpPr/>
          <p:nvPr/>
        </p:nvSpPr>
        <p:spPr>
          <a:xfrm>
            <a:off x="731520" y="4572000"/>
            <a:ext cx="4389120" cy="457200"/>
          </a:xfrm>
          <a:prstGeom prst="rect">
            <a:avLst/>
          </a:prstGeom>
          <a:noFill/>
          <a:ln/>
        </p:spPr>
        <p:txBody>
          <a:bodyPr wrap="square" rtlCol="0" anchor="ctr"/>
          <a:lstStyle/>
          <a:p>
            <a:pPr algn="ctr" indent="0" marL="0">
              <a:buNone/>
            </a:pPr>
            <a:r>
              <a:rPr lang="en-US" sz="1100" i="1" dirty="0">
                <a:solidFill>
                  <a:srgbClr val="F04E98"/>
                </a:solidFill>
                <a:latin typeface="Inter" pitchFamily="34" charset="0"/>
                <a:ea typeface="Inter" pitchFamily="34" charset="-122"/>
                <a:cs typeface="Inter" pitchFamily="34" charset="-120"/>
              </a:rPr>
              <a:t>Human-in-the-loop approval</a:t>
            </a:r>
            <a:endParaRPr lang="en-US" sz="1100" dirty="0"/>
          </a:p>
          <a:p>
            <a:pPr algn="ctr" indent="0" marL="0">
              <a:buNone/>
            </a:pPr>
            <a:r>
              <a:rPr lang="en-US" sz="1100" i="1" dirty="0">
                <a:solidFill>
                  <a:srgbClr val="F04E98"/>
                </a:solidFill>
                <a:latin typeface="Inter" pitchFamily="34" charset="0"/>
                <a:ea typeface="Inter" pitchFamily="34" charset="-122"/>
                <a:cs typeface="Inter" pitchFamily="34" charset="-120"/>
              </a:rPr>
              <a:t>for destructive operations</a:t>
            </a:r>
            <a:endParaRPr lang="en-US" sz="1100" dirty="0"/>
          </a:p>
        </p:txBody>
      </p:sp>
      <p:sp>
        <p:nvSpPr>
          <p:cNvPr id="9" name="Shape 7"/>
          <p:cNvSpPr/>
          <p:nvPr/>
        </p:nvSpPr>
        <p:spPr>
          <a:xfrm>
            <a:off x="5760720" y="1828800"/>
            <a:ext cx="914400" cy="914400"/>
          </a:xfrm>
          <a:prstGeom prst="roundRect">
            <a:avLst>
              <a:gd name="adj" fmla="val 10000"/>
            </a:avLst>
          </a:prstGeom>
          <a:solidFill>
            <a:srgbClr val="48EFCF"/>
          </a:solidFill>
          <a:ln/>
        </p:spPr>
      </p:sp>
      <p:sp>
        <p:nvSpPr>
          <p:cNvPr id="10" name="Text 8"/>
          <p:cNvSpPr/>
          <p:nvPr/>
        </p:nvSpPr>
        <p:spPr>
          <a:xfrm>
            <a:off x="5760720" y="1920240"/>
            <a:ext cx="914400" cy="731520"/>
          </a:xfrm>
          <a:prstGeom prst="rect">
            <a:avLst/>
          </a:prstGeom>
          <a:noFill/>
          <a:ln/>
        </p:spPr>
        <p:txBody>
          <a:bodyPr wrap="square" rtlCol="0" anchor="ctr"/>
          <a:lstStyle/>
          <a:p>
            <a:pPr algn="ctr" indent="0" marL="0">
              <a:buNone/>
            </a:pPr>
            <a:r>
              <a:rPr lang="en-US" sz="2800" b="1" dirty="0">
                <a:solidFill>
                  <a:srgbClr val="1C1E23"/>
                </a:solidFill>
                <a:latin typeface="Inter" pitchFamily="34" charset="0"/>
                <a:ea typeface="Inter" pitchFamily="34" charset="-122"/>
                <a:cs typeface="Inter" pitchFamily="34" charset="-120"/>
              </a:rPr>
              <a:t>↔</a:t>
            </a:r>
            <a:endParaRPr lang="en-US" sz="2800" dirty="0"/>
          </a:p>
        </p:txBody>
      </p:sp>
      <p:sp>
        <p:nvSpPr>
          <p:cNvPr id="11" name="Shape 9"/>
          <p:cNvSpPr/>
          <p:nvPr/>
        </p:nvSpPr>
        <p:spPr>
          <a:xfrm>
            <a:off x="6858000" y="1371600"/>
            <a:ext cx="5029200" cy="4572000"/>
          </a:xfrm>
          <a:prstGeom prst="roundRect">
            <a:avLst>
              <a:gd name="adj" fmla="val 2000"/>
            </a:avLst>
          </a:prstGeom>
          <a:solidFill>
            <a:srgbClr val="F5F7FA"/>
          </a:solidFill>
          <a:ln w="19050">
            <a:solidFill>
              <a:srgbClr val="101C3F"/>
            </a:solidFill>
            <a:prstDash val="solid"/>
          </a:ln>
        </p:spPr>
      </p:sp>
      <p:sp>
        <p:nvSpPr>
          <p:cNvPr id="12" name="Text 10"/>
          <p:cNvSpPr/>
          <p:nvPr/>
        </p:nvSpPr>
        <p:spPr>
          <a:xfrm>
            <a:off x="7040880" y="1554480"/>
            <a:ext cx="4572000" cy="365760"/>
          </a:xfrm>
          <a:prstGeom prst="rect">
            <a:avLst/>
          </a:prstGeom>
          <a:noFill/>
          <a:ln/>
        </p:spPr>
        <p:txBody>
          <a:bodyPr wrap="square" rtlCol="0" anchor="ctr"/>
          <a:lstStyle/>
          <a:p>
            <a:pPr algn="ctr" indent="0" marL="0">
              <a:buNone/>
            </a:pPr>
            <a:r>
              <a:rPr lang="en-US" sz="1800" b="1" dirty="0">
                <a:solidFill>
                  <a:srgbClr val="0B64DD"/>
                </a:solidFill>
                <a:latin typeface="Inter" pitchFamily="34" charset="0"/>
                <a:ea typeface="Inter" pitchFamily="34" charset="-122"/>
                <a:cs typeface="Inter" pitchFamily="34" charset="-120"/>
              </a:rPr>
              <a:t>Elastic Workflow</a:t>
            </a:r>
            <a:endParaRPr lang="en-US" sz="1800" dirty="0"/>
          </a:p>
        </p:txBody>
      </p:sp>
      <p:sp>
        <p:nvSpPr>
          <p:cNvPr id="13" name="Text 11"/>
          <p:cNvSpPr/>
          <p:nvPr/>
        </p:nvSpPr>
        <p:spPr>
          <a:xfrm>
            <a:off x="7040880" y="2103120"/>
            <a:ext cx="4572000" cy="274320"/>
          </a:xfrm>
          <a:prstGeom prst="rect">
            <a:avLst/>
          </a:prstGeom>
          <a:noFill/>
          <a:ln/>
        </p:spPr>
        <p:txBody>
          <a:bodyPr wrap="square" rtlCol="0" anchor="ctr"/>
          <a:lstStyle/>
          <a:p>
            <a:pPr algn="ctr" indent="0" marL="0">
              <a:buNone/>
            </a:pPr>
            <a:r>
              <a:rPr lang="en-US" sz="1300" dirty="0">
                <a:solidFill>
                  <a:srgbClr val="343741"/>
                </a:solidFill>
                <a:latin typeface="Inter" pitchFamily="34" charset="0"/>
                <a:ea typeface="Inter" pitchFamily="34" charset="-122"/>
                <a:cs typeface="Inter" pitchFamily="34" charset="-120"/>
              </a:rPr>
              <a:t>Deterministic Execution</a:t>
            </a:r>
            <a:endParaRPr lang="en-US" sz="1300" dirty="0"/>
          </a:p>
        </p:txBody>
      </p:sp>
      <p:sp>
        <p:nvSpPr>
          <p:cNvPr id="14" name="Text 12"/>
          <p:cNvSpPr/>
          <p:nvPr/>
        </p:nvSpPr>
        <p:spPr>
          <a:xfrm>
            <a:off x="7132320" y="2560320"/>
            <a:ext cx="4389120" cy="1645920"/>
          </a:xfrm>
          <a:prstGeom prst="rect">
            <a:avLst/>
          </a:prstGeom>
          <a:noFill/>
          <a:ln/>
        </p:spPr>
        <p:txBody>
          <a:bodyPr wrap="square" rtlCol="0" anchor="ctr"/>
          <a:lstStyle/>
          <a:p>
            <a:pPr indent="0" marL="0">
              <a:buNone/>
            </a:pPr>
            <a:r>
              <a:rPr lang="en-US" sz="1200" dirty="0">
                <a:solidFill>
                  <a:srgbClr val="343741"/>
                </a:solidFill>
                <a:latin typeface="Inter" pitchFamily="34" charset="0"/>
                <a:ea typeface="Inter" pitchFamily="34" charset="-122"/>
                <a:cs typeface="Inter" pitchFamily="34" charset="-120"/>
              </a:rPr>
              <a:t>• YAML-defined steps</a:t>
            </a:r>
            <a:endParaRPr lang="en-US" sz="1200" dirty="0"/>
          </a:p>
          <a:p>
            <a:pPr indent="0" marL="0">
              <a:buNone/>
            </a:pPr>
            <a:r>
              <a:rPr lang="en-US" sz="1200" dirty="0">
                <a:solidFill>
                  <a:srgbClr val="343741"/>
                </a:solidFill>
                <a:latin typeface="Inter" pitchFamily="34" charset="0"/>
                <a:ea typeface="Inter" pitchFamily="34" charset="-122"/>
                <a:cs typeface="Inter" pitchFamily="34" charset="-120"/>
              </a:rPr>
              <a:t>• Conditional branching (if/else)</a:t>
            </a:r>
            <a:endParaRPr lang="en-US" sz="1200" dirty="0"/>
          </a:p>
          <a:p>
            <a:pPr indent="0" marL="0">
              <a:buNone/>
            </a:pPr>
            <a:r>
              <a:rPr lang="en-US" sz="1200" dirty="0">
                <a:solidFill>
                  <a:srgbClr val="343741"/>
                </a:solidFill>
                <a:latin typeface="Inter" pitchFamily="34" charset="0"/>
                <a:ea typeface="Inter" pitchFamily="34" charset="-122"/>
                <a:cs typeface="Inter" pitchFamily="34" charset="-120"/>
              </a:rPr>
              <a:t>• Event-driven triggers</a:t>
            </a:r>
            <a:endParaRPr lang="en-US" sz="1200" dirty="0"/>
          </a:p>
          <a:p>
            <a:pPr indent="0" marL="0">
              <a:buNone/>
            </a:pPr>
            <a:r>
              <a:rPr lang="en-US" sz="1200" dirty="0">
                <a:solidFill>
                  <a:srgbClr val="343741"/>
                </a:solidFill>
                <a:latin typeface="Inter" pitchFamily="34" charset="0"/>
                <a:ea typeface="Inter" pitchFamily="34" charset="-122"/>
                <a:cs typeface="Inter" pitchFamily="34" charset="-120"/>
              </a:rPr>
              <a:t>• Guaranteed execution order</a:t>
            </a:r>
            <a:endParaRPr lang="en-US" sz="1200" dirty="0"/>
          </a:p>
          <a:p>
            <a:pPr indent="0" marL="0">
              <a:buNone/>
            </a:pPr>
            <a:r>
              <a:rPr lang="en-US" sz="1200" dirty="0">
                <a:solidFill>
                  <a:srgbClr val="343741"/>
                </a:solidFill>
                <a:latin typeface="Inter" pitchFamily="34" charset="0"/>
                <a:ea typeface="Inter" pitchFamily="34" charset="-122"/>
                <a:cs typeface="Inter" pitchFamily="34" charset="-120"/>
              </a:rPr>
              <a:t>• Audit trail for every step</a:t>
            </a:r>
            <a:endParaRPr lang="en-US" sz="1200" dirty="0"/>
          </a:p>
        </p:txBody>
      </p:sp>
      <p:sp>
        <p:nvSpPr>
          <p:cNvPr id="15" name="Text 13"/>
          <p:cNvSpPr/>
          <p:nvPr/>
        </p:nvSpPr>
        <p:spPr>
          <a:xfrm>
            <a:off x="7132320" y="4572000"/>
            <a:ext cx="4389120" cy="457200"/>
          </a:xfrm>
          <a:prstGeom prst="rect">
            <a:avLst/>
          </a:prstGeom>
          <a:noFill/>
          <a:ln/>
        </p:spPr>
        <p:txBody>
          <a:bodyPr wrap="square" rtlCol="0" anchor="ctr"/>
          <a:lstStyle/>
          <a:p>
            <a:pPr algn="ctr" indent="0" marL="0">
              <a:buNone/>
            </a:pPr>
            <a:r>
              <a:rPr lang="en-US" sz="1100" i="1" dirty="0">
                <a:solidFill>
                  <a:srgbClr val="48EFCF"/>
                </a:solidFill>
                <a:latin typeface="Inter" pitchFamily="34" charset="0"/>
                <a:ea typeface="Inter" pitchFamily="34" charset="-122"/>
                <a:cs typeface="Inter" pitchFamily="34" charset="-120"/>
              </a:rPr>
              <a:t>Predictable, repeatable,</a:t>
            </a:r>
            <a:endParaRPr lang="en-US" sz="1100" dirty="0"/>
          </a:p>
          <a:p>
            <a:pPr algn="ctr" indent="0" marL="0">
              <a:buNone/>
            </a:pPr>
            <a:r>
              <a:rPr lang="en-US" sz="1100" i="1" dirty="0">
                <a:solidFill>
                  <a:srgbClr val="48EFCF"/>
                </a:solidFill>
                <a:latin typeface="Inter" pitchFamily="34" charset="0"/>
                <a:ea typeface="Inter" pitchFamily="34" charset="-122"/>
                <a:cs typeface="Inter" pitchFamily="34" charset="-120"/>
              </a:rPr>
              <a:t>auditable outcomes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Skills: Domain Expertise Packaging</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Skills are reusable capability blocks that package instructions, tools, and context into a single deployable unit.</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Skill Anatomy: Markdown-based domain guidance (instructions), bundled or referenced tools, reference docs and runbooks (context), and activation criteria.</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Built-in Skills: Hybrid search, ES|QL query, SLO management, root cause analysis, incident investigation, alert triage, entity analytics, threat hunting.</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Progressive Disclosure: Skills are loaded on demand. The agent sees only what it needs for the current task, preventing context bloat.</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Shareable across agents and teams. Custom skills can be created and distributed via GitHub (elastic/agent-skills repository).</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MCP &amp; A2A: Standards-Based Interoperability</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Model Context Protocol (MCP): Elastic Agent Builder can act as both an MCP server (exposing tools to external agents like Claude Desktop, Cursor) and an MCP client (importing external tools).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Agent-to-Agent (A2A): Enables multi-agent systems where specialised agents communicate. Elastic agents can discover and invoke each other via standard A2A endpoints.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External Integration: Connect any MCP-compatible server as a tool source. Elasticsearch tools become available to any MCP client.</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Microsoft Integration: Agent Builder integrates with Microsoft Foundry and Microsoft Agent Framework through these open standards.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Key benefit: No vendor lock-in. Tools built for Elastic Agent Builder work with any MCP-compatible agent, and vice versa.</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2286000"/>
            <a:ext cx="10698480" cy="1371600"/>
          </a:xfrm>
          <a:prstGeom prst="rect">
            <a:avLst/>
          </a:prstGeom>
          <a:noFill/>
          <a:ln/>
        </p:spPr>
        <p:txBody>
          <a:bodyPr wrap="square" rtlCol="0" anchor="ctr"/>
          <a:lstStyle/>
          <a:p>
            <a:pPr algn="ctr" indent="0" marL="0">
              <a:buNone/>
            </a:pPr>
            <a:r>
              <a:rPr lang="en-US" sz="3600" b="1" dirty="0">
                <a:solidFill>
                  <a:srgbClr val="0B64DD"/>
                </a:solidFill>
                <a:latin typeface="Inter" pitchFamily="34" charset="0"/>
                <a:ea typeface="Inter" pitchFamily="34" charset="-122"/>
                <a:cs typeface="Inter" pitchFamily="34" charset="-120"/>
              </a:rPr>
              <a:t>Part 5: Real-World Use Cases</a:t>
            </a:r>
            <a:endParaRPr lang="en-US" sz="3600" dirty="0"/>
          </a:p>
        </p:txBody>
      </p:sp>
      <p:sp>
        <p:nvSpPr>
          <p:cNvPr id="3" name="Text 1"/>
          <p:cNvSpPr/>
          <p:nvPr/>
        </p:nvSpPr>
        <p:spPr>
          <a:xfrm>
            <a:off x="731520" y="3840480"/>
            <a:ext cx="10698480" cy="731520"/>
          </a:xfrm>
          <a:prstGeom prst="rect">
            <a:avLst/>
          </a:prstGeom>
          <a:noFill/>
          <a:ln/>
        </p:spPr>
        <p:txBody>
          <a:bodyPr wrap="square" rtlCol="0" anchor="t"/>
          <a:lstStyle/>
          <a:p>
            <a:pPr algn="ctr" indent="0" marL="0">
              <a:buNone/>
            </a:pPr>
            <a:r>
              <a:rPr lang="en-US" sz="2000" dirty="0">
                <a:solidFill>
                  <a:srgbClr val="48EFCF"/>
                </a:solidFill>
                <a:latin typeface="Inter" pitchFamily="34" charset="0"/>
                <a:ea typeface="Inter" pitchFamily="34" charset="-122"/>
                <a:cs typeface="Inter" pitchFamily="34" charset="-120"/>
              </a:rPr>
              <a:t>Observability, Security, and the unified platform advantage</a:t>
            </a:r>
            <a:endParaRPr lang="en-US" sz="2000" dirty="0"/>
          </a:p>
        </p:txBody>
      </p:sp>
      <p:sp>
        <p:nvSpPr>
          <p:cNvPr id="4" name="Shape 2"/>
          <p:cNvSpPr/>
          <p:nvPr/>
        </p:nvSpPr>
        <p:spPr>
          <a:xfrm>
            <a:off x="4572000" y="2103120"/>
            <a:ext cx="3017520" cy="36576"/>
          </a:xfrm>
          <a:prstGeom prst="rect">
            <a:avLst/>
          </a:prstGeom>
          <a:solidFill>
            <a:srgbClr val="0B64DD"/>
          </a:solidFill>
          <a:ln/>
        </p:spPr>
      </p:sp>
      <p:sp>
        <p:nvSpPr>
          <p:cNvPr id="5" name="Shape 3"/>
          <p:cNvSpPr/>
          <p:nvPr/>
        </p:nvSpPr>
        <p:spPr>
          <a:xfrm>
            <a:off x="4572000" y="3749040"/>
            <a:ext cx="3017520" cy="36576"/>
          </a:xfrm>
          <a:prstGeom prst="rect">
            <a:avLst/>
          </a:prstGeom>
          <a:solidFill>
            <a:srgbClr val="0B64DD"/>
          </a:solidFill>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Observability Use Case: Root Cause Analysis</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Scenario: Service latency spike detected by monitoring. Alert fires in Elastic Observability.</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Agent Activation: Observability agent is invoked with alert context. Agent loads Root Cause Analysis skill.</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Investigation: Agent queries APM metrics (ES|QL), searches logs for error patterns, correlates traces for dependency analysis.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Root Cause Found: Database connection pool exhaustion caused by a configuration change. Agent provides confidence-scored findings.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Remediation: Workflow triggered to scale database connection pool. Incident documented. Team notified via Slack. Human approves mitigation.</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Security Use Case: Alert Triage &amp; Threat Hunting</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Scenario: Suspicious login alert fires from an unusual geographic location. Elastic Security detects the anomaly.</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Threat Hunting Agent: Automatically invoked. Loads alert-triage skill. Gathers context: user history, device fingerprint, network data.</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Entity Analysis: Agent analyses risk score across user, device, and IP. Correlates with threat intelligence feeds.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Case Creation: If risk exceeds threshold, workflow creates a security case in Elastic Security. Enriches with contextual data.</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SOC Notification: Case assigned to on-call analyst with full investigation summary. Analyst reviews and approves response actions.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Elastic vs. Traditional Agent Stacks</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Shape 2"/>
          <p:cNvSpPr/>
          <p:nvPr/>
        </p:nvSpPr>
        <p:spPr>
          <a:xfrm>
            <a:off x="5989320" y="1463040"/>
            <a:ext cx="18288" cy="4754880"/>
          </a:xfrm>
          <a:prstGeom prst="rect">
            <a:avLst/>
          </a:prstGeom>
          <a:solidFill>
            <a:srgbClr val="0B64DD"/>
          </a:solidFill>
          <a:ln/>
        </p:spPr>
      </p:sp>
      <p:sp>
        <p:nvSpPr>
          <p:cNvPr id="5" name="Text 3"/>
          <p:cNvSpPr/>
          <p:nvPr/>
        </p:nvSpPr>
        <p:spPr>
          <a:xfrm>
            <a:off x="731520" y="1463040"/>
            <a:ext cx="5029200" cy="640080"/>
          </a:xfrm>
          <a:prstGeom prst="rect">
            <a:avLst/>
          </a:prstGeom>
          <a:noFill/>
          <a:ln/>
        </p:spPr>
        <p:txBody>
          <a:bodyPr wrap="square" rtlCol="0" anchor="ctr"/>
          <a:lstStyle/>
          <a:p>
            <a:pPr indent="0" marL="0">
              <a:buNone/>
            </a:pPr>
            <a:r>
              <a:rPr lang="en-US" sz="2200" b="1" dirty="0">
                <a:solidFill>
                  <a:srgbClr val="48EFCF"/>
                </a:solidFill>
                <a:latin typeface="Inter" pitchFamily="34" charset="0"/>
                <a:ea typeface="Inter" pitchFamily="34" charset="-122"/>
                <a:cs typeface="Inter" pitchFamily="34" charset="-120"/>
              </a:rPr>
              <a:t>Traditional Stack</a:t>
            </a:r>
            <a:endParaRPr lang="en-US" sz="2200" dirty="0"/>
          </a:p>
        </p:txBody>
      </p:sp>
      <p:sp>
        <p:nvSpPr>
          <p:cNvPr id="6" name="Text 4"/>
          <p:cNvSpPr/>
          <p:nvPr/>
        </p:nvSpPr>
        <p:spPr>
          <a:xfrm>
            <a:off x="731520" y="2194560"/>
            <a:ext cx="5029200" cy="4023360"/>
          </a:xfrm>
          <a:prstGeom prst="rect">
            <a:avLst/>
          </a:prstGeom>
          <a:noFill/>
          <a:ln/>
        </p:spPr>
        <p:txBody>
          <a:bodyPr wrap="square" rtlCol="0" anchor="t"/>
          <a:lstStyle/>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Separate vector database (Pinecone, Weaviate)</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Custom RAG pipeline to build and maintain</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External query translator layer</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Security and governance added separately</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Observability bolted on after the fact</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Multiple systems to integrate and monitor</a:t>
            </a:r>
            <a:endParaRPr lang="en-US" sz="1600" dirty="0"/>
          </a:p>
        </p:txBody>
      </p:sp>
      <p:sp>
        <p:nvSpPr>
          <p:cNvPr id="7" name="Text 5"/>
          <p:cNvSpPr/>
          <p:nvPr/>
        </p:nvSpPr>
        <p:spPr>
          <a:xfrm>
            <a:off x="6309360" y="1463040"/>
            <a:ext cx="5029200" cy="640080"/>
          </a:xfrm>
          <a:prstGeom prst="rect">
            <a:avLst/>
          </a:prstGeom>
          <a:noFill/>
          <a:ln/>
        </p:spPr>
        <p:txBody>
          <a:bodyPr wrap="square" rtlCol="0" anchor="ctr"/>
          <a:lstStyle/>
          <a:p>
            <a:pPr indent="0" marL="0">
              <a:buNone/>
            </a:pPr>
            <a:r>
              <a:rPr lang="en-US" sz="2200" b="1" dirty="0">
                <a:solidFill>
                  <a:srgbClr val="48EFCF"/>
                </a:solidFill>
                <a:latin typeface="Inter" pitchFamily="34" charset="0"/>
                <a:ea typeface="Inter" pitchFamily="34" charset="-122"/>
                <a:cs typeface="Inter" pitchFamily="34" charset="-120"/>
              </a:rPr>
              <a:t>Elastic Unified Platform</a:t>
            </a:r>
            <a:endParaRPr lang="en-US" sz="2200" dirty="0"/>
          </a:p>
        </p:txBody>
      </p:sp>
      <p:sp>
        <p:nvSpPr>
          <p:cNvPr id="8" name="Text 6"/>
          <p:cNvSpPr/>
          <p:nvPr/>
        </p:nvSpPr>
        <p:spPr>
          <a:xfrm>
            <a:off x="6309360" y="2194560"/>
            <a:ext cx="5029200" cy="4023360"/>
          </a:xfrm>
          <a:prstGeom prst="rect">
            <a:avLst/>
          </a:prstGeom>
          <a:noFill/>
          <a:ln/>
        </p:spPr>
        <p:txBody>
          <a:bodyPr wrap="square" rtlCol="0" anchor="t"/>
          <a:lstStyle/>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Elasticsearch: data, search, and vectors in one system</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RAG is native, not a separate pipeline</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ES|QL: query language built into the platform</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RBAC, audit, and governance built-in from day one</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APM, logs, metrics all in the same cluster</a:t>
            </a:r>
            <a:endParaRPr lang="en-US" sz="1600" dirty="0"/>
          </a:p>
          <a:p>
            <a:pPr marL="342900" indent="-342900">
              <a:spcAft>
                <a:spcPts val="600"/>
              </a:spcAft>
              <a:buSzPct val="100000"/>
              <a:buChar char="•"/>
            </a:pPr>
            <a:r>
              <a:rPr lang="en-US" sz="1600" dirty="0">
                <a:solidFill>
                  <a:srgbClr val="343741"/>
                </a:solidFill>
                <a:latin typeface="Inter" pitchFamily="34" charset="0"/>
                <a:ea typeface="Inter" pitchFamily="34" charset="-122"/>
                <a:cs typeface="Inter" pitchFamily="34" charset="-120"/>
              </a:rPr>
              <a:t>Single system for data, search, agents, and workflows</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Best Practices for Production Agents</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Start with built-in agents and skills, then customise incrementally. Do not build from scratch.</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Use Workflows for reliability-critical paths. Agents reason; workflows execute deterministically.</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Enforce data access boundaries with RBAC. Every agent should have the minimum permissions it needs.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Implement human-in-the-loop for high-stakes decisions. Destructive operations should require approval.</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Monitor token usage and costs. Track per-agent, per-session, and per-tool consumption.</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Test with realistic data and edge cases. Use evaluation metrics to track agent performance over time.</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Leverage Skills for reusable expertise. Avoid building one-off tools for every task.</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Key Takeaways</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Harness Engineering is the discipline of designing the execution environment around an AI agent. Agent = Model + Harness.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The five core primitives (Tool Access, Memory, Validation, Retry, Observability) are all natively implemented in Elastic Agent Builder.</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Elastic Agent Builder provides a four-layer architecture: Elasticsearch foundation, Tool system, Skill system, Multi-surface execution.</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Elastic Workflows provide the deterministic execution layer — AI reasoning for judgment, YAML-defined steps for reliability.</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Skills package reusable domain expertise. MCP and A2A enable standards-based interoperability with the broader agent ecosystem.</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The unified platform advantage eliminates separate vector databases, RAG pipelines, and query translators — reducing complexity and failure modes.</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65760"/>
            <a:ext cx="10698480" cy="822960"/>
          </a:xfrm>
          <a:prstGeom prst="rect">
            <a:avLst/>
          </a:prstGeom>
          <a:noFill/>
          <a:ln/>
        </p:spPr>
        <p:txBody>
          <a:bodyPr wrap="square" rtlCol="0" anchor="ctr"/>
          <a:lstStyle/>
          <a:p>
            <a:pPr algn="l" indent="0" marL="0">
              <a:buNone/>
            </a:pPr>
            <a:r>
              <a:rPr lang="en-US" sz="3000" b="1" dirty="0">
                <a:solidFill>
                  <a:srgbClr val="0B64DD"/>
                </a:solidFill>
                <a:latin typeface="Inter" pitchFamily="34" charset="0"/>
                <a:ea typeface="Inter" pitchFamily="34" charset="-122"/>
                <a:cs typeface="Inter" pitchFamily="34" charset="-120"/>
              </a:rPr>
              <a:t>References</a:t>
            </a:r>
            <a:endParaRPr lang="en-US" sz="3000" dirty="0"/>
          </a:p>
        </p:txBody>
      </p:sp>
      <p:sp>
        <p:nvSpPr>
          <p:cNvPr id="3" name="Shape 1"/>
          <p:cNvSpPr/>
          <p:nvPr/>
        </p:nvSpPr>
        <p:spPr>
          <a:xfrm>
            <a:off x="731520" y="1188720"/>
            <a:ext cx="1371600" cy="36576"/>
          </a:xfrm>
          <a:prstGeom prst="rect">
            <a:avLst/>
          </a:prstGeom>
          <a:solidFill>
            <a:srgbClr val="0B64DD"/>
          </a:solidFill>
          <a:ln/>
        </p:spPr>
      </p:sp>
      <p:sp>
        <p:nvSpPr>
          <p:cNvPr id="4" name="Text 2"/>
          <p:cNvSpPr/>
          <p:nvPr/>
        </p:nvSpPr>
        <p:spPr>
          <a:xfrm>
            <a:off x="731520" y="1463040"/>
            <a:ext cx="10698480" cy="4754880"/>
          </a:xfrm>
          <a:prstGeom prst="rect">
            <a:avLst/>
          </a:prstGeom>
          <a:noFill/>
          <a:ln/>
        </p:spPr>
        <p:txBody>
          <a:bodyPr wrap="square" rtlCol="0" anchor="t"/>
          <a:lstStyle/>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Elastic Agent Builder Docs: elastic.co/docs/explore-analyze/ai-features/elastic-agent-builder</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Elastic Workflows Blog: elastic.co/blog/elastic-workflows-technical-preview</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Elastic Agent Skills GitHub: github.com/elastic/agent-skills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Harness Engineering (Louis Bouchard): louisbouchard.ai/harness-engineering</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Harness Engineering (Milvus): milvus.io/blog/harness-engineering-ai-agents</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Harness Engineering (Martin Fowler): martinfowler.com/articles/harness-engineering.html</a:t>
            </a:r>
            <a:endParaRPr lang="en-US" sz="1800" dirty="0"/>
          </a:p>
          <a:p>
            <a:pPr marL="342900" indent="-342900">
              <a:spcAft>
                <a:spcPts val="800"/>
              </a:spcAft>
              <a:buSzPct val="100000"/>
              <a:buChar char="•"/>
            </a:pPr>
            <a:r>
              <a:rPr lang="en-US" sz="1800" dirty="0">
                <a:solidFill>
                  <a:srgbClr val="343741"/>
                </a:solidFill>
                <a:latin typeface="Inter" pitchFamily="34" charset="0"/>
                <a:ea typeface="Inter" pitchFamily="34" charset="-122"/>
                <a:cs typeface="Inter" pitchFamily="34" charset="-120"/>
              </a:rPr>
              <a:t>Agent Builder GA Announcement: ir.elastic.co (Jan 2026)</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64DD"/>
          </a:solidFill>
          <a:ln/>
        </p:spPr>
      </p:sp>
      <p:sp>
        <p:nvSpPr>
          <p:cNvPr id="3" name="Text 1"/>
          <p:cNvSpPr/>
          <p:nvPr/>
        </p:nvSpPr>
        <p:spPr>
          <a:xfrm>
            <a:off x="731520" y="1828800"/>
            <a:ext cx="10698480" cy="1371600"/>
          </a:xfrm>
          <a:prstGeom prst="rect">
            <a:avLst/>
          </a:prstGeom>
          <a:noFill/>
          <a:ln/>
        </p:spPr>
        <p:txBody>
          <a:bodyPr wrap="square" rtlCol="0" anchor="ctr"/>
          <a:lstStyle/>
          <a:p>
            <a:pPr algn="ctr" indent="0" marL="0">
              <a:buNone/>
            </a:pPr>
            <a:r>
              <a:rPr lang="en-US" sz="4400" b="1" dirty="0">
                <a:solidFill>
                  <a:srgbClr val="FFFFFF"/>
                </a:solidFill>
                <a:latin typeface="Inter" pitchFamily="34" charset="0"/>
                <a:ea typeface="Inter" pitchFamily="34" charset="-122"/>
                <a:cs typeface="Inter" pitchFamily="34" charset="-120"/>
              </a:rPr>
              <a:t>Thank You</a:t>
            </a:r>
            <a:endParaRPr lang="en-US" sz="4400" dirty="0"/>
          </a:p>
        </p:txBody>
      </p:sp>
      <p:sp>
        <p:nvSpPr>
          <p:cNvPr id="4" name="Shape 2"/>
          <p:cNvSpPr/>
          <p:nvPr/>
        </p:nvSpPr>
        <p:spPr>
          <a:xfrm>
            <a:off x="5212080" y="3291840"/>
            <a:ext cx="1828800" cy="36576"/>
          </a:xfrm>
          <a:prstGeom prst="rect">
            <a:avLst/>
          </a:prstGeom>
          <a:solidFill>
            <a:srgbClr val="48EFCF"/>
          </a:solidFill>
          <a:ln/>
        </p:spPr>
      </p:sp>
      <p:sp>
        <p:nvSpPr>
          <p:cNvPr id="5" name="Text 3"/>
          <p:cNvSpPr/>
          <p:nvPr/>
        </p:nvSpPr>
        <p:spPr>
          <a:xfrm>
            <a:off x="731520" y="3840480"/>
            <a:ext cx="10698480" cy="731520"/>
          </a:xfrm>
          <a:prstGeom prst="rect">
            <a:avLst/>
          </a:prstGeom>
          <a:noFill/>
          <a:ln/>
        </p:spPr>
        <p:txBody>
          <a:bodyPr wrap="square" rtlCol="0" anchor="ctr"/>
          <a:lstStyle/>
          <a:p>
            <a:pPr algn="ctr" indent="0" marL="0">
              <a:buNone/>
            </a:pPr>
            <a:r>
              <a:rPr lang="en-US" sz="1800" dirty="0">
                <a:solidFill>
                  <a:srgbClr val="48EFCF"/>
                </a:solidFill>
                <a:latin typeface="Inter" pitchFamily="34" charset="0"/>
                <a:ea typeface="Inter" pitchFamily="34" charset="-122"/>
                <a:cs typeface="Inter" pitchFamily="34" charset="-120"/>
              </a:rPr>
              <a:t>Elastic Agent Builder: Harness Engineering for Production AI Agents</a:t>
            </a:r>
            <a:endParaRPr lang="en-US" sz="1800" dirty="0"/>
          </a:p>
        </p:txBody>
      </p:sp>
      <p:sp>
        <p:nvSpPr>
          <p:cNvPr id="6" name="Text 4"/>
          <p:cNvSpPr/>
          <p:nvPr/>
        </p:nvSpPr>
        <p:spPr>
          <a:xfrm>
            <a:off x="731520" y="5029200"/>
            <a:ext cx="10698480" cy="548640"/>
          </a:xfrm>
          <a:prstGeom prst="rect">
            <a:avLst/>
          </a:prstGeom>
          <a:noFill/>
          <a:ln/>
        </p:spPr>
        <p:txBody>
          <a:bodyPr wrap="square" rtlCol="0" anchor="ctr"/>
          <a:lstStyle/>
          <a:p>
            <a:pPr algn="ctr" indent="0" marL="0">
              <a:buNone/>
            </a:pPr>
            <a:r>
              <a:rPr lang="en-US" sz="1400" dirty="0">
                <a:solidFill>
                  <a:srgbClr val="DCE2EA"/>
                </a:solidFill>
                <a:latin typeface="Inter" pitchFamily="34" charset="0"/>
                <a:ea typeface="Inter" pitchFamily="34" charset="-122"/>
                <a:cs typeface="Inter" pitchFamily="34" charset="-120"/>
              </a:rPr>
              <a:t>elastic.co  |  github.com/elastic/agent-skills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Elastic Agent Builder &amp; Harness Engineering Analysis</dc:title>
  <dc:subject>How Elastic Agent Builder implements harness engineering primitives for production AI agents</dc:subject>
  <dc:creator>Hermes Agent</dc:creator>
  <cp:lastModifiedBy>Hermes Agent</cp:lastModifiedBy>
  <cp:revision>1</cp:revision>
  <dcterms:created xsi:type="dcterms:W3CDTF">2026-05-04T13:46:28Z</dcterms:created>
  <dcterms:modified xsi:type="dcterms:W3CDTF">2026-05-04T13:46:28Z</dcterms:modified>
</cp:coreProperties>
</file>